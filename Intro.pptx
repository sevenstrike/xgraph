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72" r:id="rId9"/>
    <p:sldId id="273" r:id="rId10"/>
    <p:sldId id="274" r:id="rId11"/>
    <p:sldId id="275" r:id="rId12"/>
    <p:sldId id="276" r:id="rId13"/>
    <p:sldId id="271" r:id="rId14"/>
    <p:sldId id="263" r:id="rId15"/>
    <p:sldId id="264" r:id="rId16"/>
    <p:sldId id="265" r:id="rId17"/>
    <p:sldId id="266" r:id="rId18"/>
    <p:sldId id="267" r:id="rId19"/>
    <p:sldId id="268" r:id="rId20"/>
    <p:sldId id="269" r:id="rId21"/>
    <p:sldId id="270" r:id="rId22"/>
    <p:sldId id="277" r:id="rId23"/>
    <p:sldId id="278" r:id="rId24"/>
    <p:sldId id="279" r:id="rId25"/>
    <p:sldId id="280" r:id="rId26"/>
    <p:sldId id="281" r:id="rId27"/>
    <p:sldId id="282" r:id="rId28"/>
    <p:sldId id="283" r:id="rId29"/>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99"/>
    <a:srgbClr val="FF9966"/>
    <a:srgbClr val="85B945"/>
    <a:srgbClr val="7475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93D81CF-94F2-401A-BA57-92F5A7B2D0C5}" styleName="中度样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03447BB-5D67-496B-8E87-E561075AD55C}" styleName="深色样式 1 - 强调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22" autoAdjust="0"/>
    <p:restoredTop sz="94660"/>
  </p:normalViewPr>
  <p:slideViewPr>
    <p:cSldViewPr snapToGrid="0">
      <p:cViewPr>
        <p:scale>
          <a:sx n="125" d="100"/>
          <a:sy n="125" d="100"/>
        </p:scale>
        <p:origin x="4200" y="-54"/>
      </p:cViewPr>
      <p:guideLst>
        <p:guide orient="horz" pos="3120"/>
        <p:guide pos="2160"/>
      </p:guideLst>
    </p:cSldViewPr>
  </p:slideViewPr>
  <p:notesTextViewPr>
    <p:cViewPr>
      <p:scale>
        <a:sx n="1" d="1"/>
        <a:sy n="1" d="1"/>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834367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25268208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1113946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17111112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Content Placeholder 3"/>
          <p:cNvSpPr>
            <a:spLocks noGrp="1"/>
          </p:cNvSpPr>
          <p:nvPr>
            <p:ph sz="half" idx="2"/>
          </p:nvPr>
        </p:nvSpPr>
        <p:spPr>
          <a:xfrm>
            <a:off x="472381" y="3618442"/>
            <a:ext cx="2901255" cy="532218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Content Placeholder 5"/>
          <p:cNvSpPr>
            <a:spLocks noGrp="1"/>
          </p:cNvSpPr>
          <p:nvPr>
            <p:ph sz="quarter" idx="4"/>
          </p:nvPr>
        </p:nvSpPr>
        <p:spPr>
          <a:xfrm>
            <a:off x="3471863" y="3618442"/>
            <a:ext cx="2915543" cy="532218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3213836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1811716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2543028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1225853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2550950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10675319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2895257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A9D211F4-E731-49CD-ADF4-10D82891BB8C}" type="datetimeFigureOut">
              <a:rPr lang="zh-CN" altLang="en-US" smtClean="0"/>
              <a:t>2025/12/14</a:t>
            </a:fld>
            <a:endParaRPr lang="zh-CN" alt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C18D65AD-327C-4E14-8237-6809411339C1}" type="slidenum">
              <a:rPr lang="zh-CN" altLang="en-US" smtClean="0"/>
              <a:t>‹#›</a:t>
            </a:fld>
            <a:endParaRPr lang="zh-CN" altLang="en-US"/>
          </a:p>
        </p:txBody>
      </p:sp>
    </p:spTree>
    <p:extLst>
      <p:ext uri="{BB962C8B-B14F-4D97-AF65-F5344CB8AC3E}">
        <p14:creationId xmlns:p14="http://schemas.microsoft.com/office/powerpoint/2010/main" val="2364205184"/>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9.emf"/><Relationship Id="rId7" Type="http://schemas.openxmlformats.org/officeDocument/2006/relationships/image" Target="../media/image11.emf"/><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10.emf"/><Relationship Id="rId4" Type="http://schemas.openxmlformats.org/officeDocument/2006/relationships/oleObject" Target="../embeddings/oleObject3.bin"/><Relationship Id="rId9" Type="http://schemas.openxmlformats.org/officeDocument/2006/relationships/image" Target="../media/image12.emf"/></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pic>
        <p:nvPicPr>
          <p:cNvPr id="19" name="图片 18">
            <a:extLst>
              <a:ext uri="{FF2B5EF4-FFF2-40B4-BE49-F238E27FC236}">
                <a16:creationId xmlns:a16="http://schemas.microsoft.com/office/drawing/2014/main" id="{44838580-9E02-F052-C96F-3786E27CAF98}"/>
              </a:ext>
            </a:extLst>
          </p:cNvPr>
          <p:cNvPicPr>
            <a:picLocks noChangeAspect="1"/>
          </p:cNvPicPr>
          <p:nvPr/>
        </p:nvPicPr>
        <p:blipFill>
          <a:blip r:embed="rId2">
            <a:alphaModFix amt="66000"/>
            <a:extLst>
              <a:ext uri="{BEBA8EAE-BF5A-486C-A8C5-ECC9F3942E4B}">
                <a14:imgProps xmlns:a14="http://schemas.microsoft.com/office/drawing/2010/main">
                  <a14:imgLayer r:embed="rId3">
                    <a14:imgEffect>
                      <a14:sharpenSoften amount="-100000"/>
                    </a14:imgEffect>
                    <a14:imgEffect>
                      <a14:saturation sat="29000"/>
                    </a14:imgEffect>
                  </a14:imgLayer>
                </a14:imgProps>
              </a:ext>
              <a:ext uri="{28A0092B-C50C-407E-A947-70E740481C1C}">
                <a14:useLocalDpi xmlns:a14="http://schemas.microsoft.com/office/drawing/2010/main" val="0"/>
              </a:ext>
            </a:extLst>
          </a:blip>
          <a:srcRect l="19277" t="9437" r="41779" b="9437"/>
          <a:stretch>
            <a:fillRect/>
          </a:stretch>
        </p:blipFill>
        <p:spPr>
          <a:xfrm>
            <a:off x="0" y="3"/>
            <a:ext cx="6858000" cy="9906000"/>
          </a:xfrm>
          <a:prstGeom prst="rect">
            <a:avLst/>
          </a:prstGeom>
        </p:spPr>
      </p:pic>
      <p:sp>
        <p:nvSpPr>
          <p:cNvPr id="10" name="文本框 9">
            <a:extLst>
              <a:ext uri="{FF2B5EF4-FFF2-40B4-BE49-F238E27FC236}">
                <a16:creationId xmlns:a16="http://schemas.microsoft.com/office/drawing/2014/main" id="{B06AA99C-8227-7661-808B-2C16839C4CBE}"/>
              </a:ext>
            </a:extLst>
          </p:cNvPr>
          <p:cNvSpPr txBox="1"/>
          <p:nvPr/>
        </p:nvSpPr>
        <p:spPr>
          <a:xfrm>
            <a:off x="1324470" y="2494876"/>
            <a:ext cx="4209067" cy="646331"/>
          </a:xfrm>
          <a:prstGeom prst="rect">
            <a:avLst/>
          </a:prstGeom>
          <a:noFill/>
        </p:spPr>
        <p:txBody>
          <a:bodyPr wrap="square" rtlCol="0">
            <a:spAutoFit/>
          </a:bodyPr>
          <a:lstStyle/>
          <a:p>
            <a:pPr algn="ctr"/>
            <a:r>
              <a:rPr lang="en-US" altLang="zh-CN" sz="3600" spc="300" dirty="0">
                <a:solidFill>
                  <a:schemeClr val="bg1"/>
                </a:solidFill>
                <a:latin typeface="微软雅黑 Light" panose="020B0502040204020203" pitchFamily="34" charset="-122"/>
                <a:ea typeface="微软雅黑 Light" panose="020B0502040204020203" pitchFamily="34" charset="-122"/>
              </a:rPr>
              <a:t>XGraph</a:t>
            </a:r>
            <a:endParaRPr lang="zh-CN" altLang="en-US" sz="3600" spc="300" baseline="100000" dirty="0">
              <a:solidFill>
                <a:schemeClr val="bg1"/>
              </a:solidFill>
              <a:latin typeface="微软雅黑 Light" panose="020B0502040204020203" pitchFamily="34" charset="-122"/>
              <a:ea typeface="微软雅黑 Light" panose="020B0502040204020203" pitchFamily="34" charset="-122"/>
            </a:endParaRPr>
          </a:p>
        </p:txBody>
      </p:sp>
      <p:sp>
        <p:nvSpPr>
          <p:cNvPr id="11" name="文本框 10">
            <a:extLst>
              <a:ext uri="{FF2B5EF4-FFF2-40B4-BE49-F238E27FC236}">
                <a16:creationId xmlns:a16="http://schemas.microsoft.com/office/drawing/2014/main" id="{AE62EC6D-BFE8-BAEF-4D27-37CC31B3844B}"/>
              </a:ext>
            </a:extLst>
          </p:cNvPr>
          <p:cNvSpPr txBox="1"/>
          <p:nvPr/>
        </p:nvSpPr>
        <p:spPr>
          <a:xfrm>
            <a:off x="1324470" y="3356649"/>
            <a:ext cx="4209067" cy="246221"/>
          </a:xfrm>
          <a:prstGeom prst="rect">
            <a:avLst/>
          </a:prstGeom>
          <a:noFill/>
        </p:spPr>
        <p:txBody>
          <a:bodyPr wrap="square" rtlCol="0">
            <a:spAutoFit/>
          </a:bodyPr>
          <a:lstStyle/>
          <a:p>
            <a:pPr algn="ctr"/>
            <a:r>
              <a:rPr lang="zh-CN" altLang="en-US" sz="1000" spc="501" dirty="0">
                <a:solidFill>
                  <a:schemeClr val="bg1">
                    <a:lumMod val="65000"/>
                  </a:schemeClr>
                </a:solidFill>
                <a:latin typeface="微软雅黑 Light" panose="020B0502040204020203" pitchFamily="34" charset="-122"/>
                <a:ea typeface="微软雅黑 Light" panose="020B0502040204020203" pitchFamily="34" charset="-122"/>
              </a:rPr>
              <a:t>节点编辑器框架</a:t>
            </a:r>
          </a:p>
        </p:txBody>
      </p:sp>
      <p:sp>
        <p:nvSpPr>
          <p:cNvPr id="12" name="文本框 11">
            <a:extLst>
              <a:ext uri="{FF2B5EF4-FFF2-40B4-BE49-F238E27FC236}">
                <a16:creationId xmlns:a16="http://schemas.microsoft.com/office/drawing/2014/main" id="{3C888B80-8345-77D9-3311-5943DCFEEEB7}"/>
              </a:ext>
            </a:extLst>
          </p:cNvPr>
          <p:cNvSpPr txBox="1"/>
          <p:nvPr/>
        </p:nvSpPr>
        <p:spPr>
          <a:xfrm>
            <a:off x="4373880" y="2478296"/>
            <a:ext cx="571500" cy="200055"/>
          </a:xfrm>
          <a:prstGeom prst="rect">
            <a:avLst/>
          </a:prstGeom>
          <a:noFill/>
        </p:spPr>
        <p:txBody>
          <a:bodyPr wrap="square" rtlCol="0">
            <a:spAutoFit/>
          </a:bodyPr>
          <a:lstStyle/>
          <a:p>
            <a:pPr algn="ctr"/>
            <a:r>
              <a:rPr lang="en-US" altLang="zh-CN" sz="700" dirty="0">
                <a:solidFill>
                  <a:srgbClr val="FFC000"/>
                </a:solidFill>
                <a:latin typeface="微软雅黑" panose="020B0503020204020204" pitchFamily="34" charset="-122"/>
                <a:ea typeface="微软雅黑" panose="020B0503020204020204" pitchFamily="34" charset="-122"/>
              </a:rPr>
              <a:t>V 1.0</a:t>
            </a:r>
            <a:endParaRPr lang="zh-CN" altLang="en-US" sz="1600" dirty="0">
              <a:solidFill>
                <a:srgbClr val="FFC000"/>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16E16AD9-B4C8-5C65-73A9-D00806E011C6}"/>
              </a:ext>
            </a:extLst>
          </p:cNvPr>
          <p:cNvSpPr txBox="1"/>
          <p:nvPr/>
        </p:nvSpPr>
        <p:spPr>
          <a:xfrm>
            <a:off x="998222" y="9146299"/>
            <a:ext cx="4861559" cy="215444"/>
          </a:xfrm>
          <a:prstGeom prst="rect">
            <a:avLst/>
          </a:prstGeom>
          <a:noFill/>
        </p:spPr>
        <p:txBody>
          <a:bodyPr wrap="square" rtlCol="0">
            <a:spAutoFit/>
          </a:bodyPr>
          <a:lstStyle/>
          <a:p>
            <a:pPr algn="ctr"/>
            <a:r>
              <a:rPr lang="zh-CN" altLang="en-US" sz="800" spc="80" dirty="0">
                <a:solidFill>
                  <a:schemeClr val="tx1">
                    <a:lumMod val="50000"/>
                    <a:lumOff val="50000"/>
                  </a:schemeClr>
                </a:solidFill>
                <a:latin typeface="微软雅黑 Light" panose="020B0502040204020203" pitchFamily="34" charset="-122"/>
                <a:ea typeface="微软雅黑 Light" panose="020B0502040204020203" pitchFamily="34" charset="-122"/>
              </a:rPr>
              <a:t>此插件由 </a:t>
            </a:r>
            <a:r>
              <a:rPr lang="en-US" altLang="zh-CN" sz="800" spc="80" dirty="0">
                <a:solidFill>
                  <a:schemeClr val="tx1">
                    <a:lumMod val="50000"/>
                    <a:lumOff val="50000"/>
                  </a:schemeClr>
                </a:solidFill>
                <a:latin typeface="微软雅黑 Light" panose="020B0502040204020203" pitchFamily="34" charset="-122"/>
                <a:ea typeface="微软雅黑 Light" panose="020B0502040204020203" pitchFamily="34" charset="-122"/>
              </a:rPr>
              <a:t>SevenStrikeMedia </a:t>
            </a:r>
            <a:r>
              <a:rPr lang="zh-CN" altLang="en-US" sz="800" spc="80" dirty="0">
                <a:solidFill>
                  <a:schemeClr val="tx1">
                    <a:lumMod val="50000"/>
                    <a:lumOff val="50000"/>
                  </a:schemeClr>
                </a:solidFill>
                <a:latin typeface="微软雅黑 Light" panose="020B0502040204020203" pitchFamily="34" charset="-122"/>
                <a:ea typeface="微软雅黑 Light" panose="020B0502040204020203" pitchFamily="34" charset="-122"/>
              </a:rPr>
              <a:t>开发并维护</a:t>
            </a:r>
          </a:p>
        </p:txBody>
      </p:sp>
      <p:sp>
        <p:nvSpPr>
          <p:cNvPr id="16" name="文本框 15">
            <a:extLst>
              <a:ext uri="{FF2B5EF4-FFF2-40B4-BE49-F238E27FC236}">
                <a16:creationId xmlns:a16="http://schemas.microsoft.com/office/drawing/2014/main" id="{3BA3ABF9-67BA-982F-A731-440B613EC11F}"/>
              </a:ext>
            </a:extLst>
          </p:cNvPr>
          <p:cNvSpPr txBox="1"/>
          <p:nvPr/>
        </p:nvSpPr>
        <p:spPr>
          <a:xfrm>
            <a:off x="998222" y="6133855"/>
            <a:ext cx="4861559" cy="307777"/>
          </a:xfrm>
          <a:prstGeom prst="rect">
            <a:avLst/>
          </a:prstGeom>
          <a:noFill/>
        </p:spPr>
        <p:txBody>
          <a:bodyPr wrap="square" rtlCol="0">
            <a:spAutoFit/>
          </a:bodyPr>
          <a:lstStyle/>
          <a:p>
            <a:pPr algn="ctr"/>
            <a:r>
              <a:rPr lang="zh-CN" altLang="en-US" sz="1400" b="1" spc="149" dirty="0">
                <a:solidFill>
                  <a:schemeClr val="bg1">
                    <a:lumMod val="85000"/>
                  </a:schemeClr>
                </a:solidFill>
                <a:latin typeface="微软雅黑" panose="020B0503020204020204" pitchFamily="34" charset="-122"/>
                <a:ea typeface="微软雅黑" panose="020B0503020204020204" pitchFamily="34" charset="-122"/>
              </a:rPr>
              <a:t>插件使用手册</a:t>
            </a:r>
          </a:p>
        </p:txBody>
      </p:sp>
      <p:sp>
        <p:nvSpPr>
          <p:cNvPr id="17" name="文本框 16">
            <a:extLst>
              <a:ext uri="{FF2B5EF4-FFF2-40B4-BE49-F238E27FC236}">
                <a16:creationId xmlns:a16="http://schemas.microsoft.com/office/drawing/2014/main" id="{14417AE9-DDDD-5D33-B4BB-577FFBF10859}"/>
              </a:ext>
            </a:extLst>
          </p:cNvPr>
          <p:cNvSpPr txBox="1"/>
          <p:nvPr/>
        </p:nvSpPr>
        <p:spPr>
          <a:xfrm>
            <a:off x="998222" y="9378153"/>
            <a:ext cx="4861559" cy="215444"/>
          </a:xfrm>
          <a:prstGeom prst="rect">
            <a:avLst/>
          </a:prstGeom>
          <a:noFill/>
        </p:spPr>
        <p:txBody>
          <a:bodyPr wrap="square" rtlCol="0">
            <a:spAutoFit/>
          </a:bodyPr>
          <a:lstStyle/>
          <a:p>
            <a:pPr algn="ctr"/>
            <a:r>
              <a:rPr lang="en-US" altLang="zh-CN" sz="800" spc="80" dirty="0">
                <a:solidFill>
                  <a:schemeClr val="tx1">
                    <a:lumMod val="50000"/>
                    <a:lumOff val="50000"/>
                  </a:schemeClr>
                </a:solidFill>
                <a:latin typeface="微软雅黑 Light" panose="020B0502040204020203" pitchFamily="34" charset="-122"/>
                <a:ea typeface="微软雅黑 Light" panose="020B0502040204020203" pitchFamily="34" charset="-122"/>
              </a:rPr>
              <a:t>http;//sevenstrike.com</a:t>
            </a:r>
            <a:endParaRPr lang="zh-CN" altLang="en-US" sz="800" spc="80" dirty="0">
              <a:solidFill>
                <a:schemeClr val="tx1">
                  <a:lumMod val="50000"/>
                  <a:lumOff val="50000"/>
                </a:schemeClr>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1377211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48197C36-DCD4-EA7D-AD1D-F76FCEDA295B}"/>
              </a:ext>
            </a:extLst>
          </p:cNvPr>
          <p:cNvSpPr txBox="1"/>
          <p:nvPr/>
        </p:nvSpPr>
        <p:spPr>
          <a:xfrm>
            <a:off x="248144" y="725834"/>
            <a:ext cx="1428257" cy="253916"/>
          </a:xfrm>
          <a:prstGeom prst="rect">
            <a:avLst/>
          </a:prstGeom>
          <a:noFill/>
        </p:spPr>
        <p:txBody>
          <a:bodyPr wrap="square" rtlCol="0">
            <a:spAutoFit/>
          </a:bodyPr>
          <a:lstStyle/>
          <a:p>
            <a:r>
              <a:rPr lang="en-US" altLang="zh-CN" sz="1000" dirty="0">
                <a:solidFill>
                  <a:schemeClr val="bg1">
                    <a:lumMod val="50000"/>
                  </a:schemeClr>
                </a:solidFill>
                <a:latin typeface="微软雅黑" panose="020B0503020204020204" pitchFamily="34" charset="-122"/>
                <a:ea typeface="微软雅黑" panose="020B0503020204020204" pitchFamily="34" charset="-122"/>
              </a:rPr>
              <a:t>XGraph</a:t>
            </a:r>
            <a:endParaRPr lang="zh-CN" altLang="en-US" sz="10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E36669FC-9E01-4A70-1BD9-6DBE66C2E7EE}"/>
              </a:ext>
            </a:extLst>
          </p:cNvPr>
          <p:cNvSpPr txBox="1"/>
          <p:nvPr/>
        </p:nvSpPr>
        <p:spPr>
          <a:xfrm>
            <a:off x="248144" y="222101"/>
            <a:ext cx="1428257" cy="323165"/>
          </a:xfrm>
          <a:prstGeom prst="rect">
            <a:avLst/>
          </a:prstGeom>
          <a:noFill/>
        </p:spPr>
        <p:txBody>
          <a:bodyPr wrap="square" rtlCol="0">
            <a:spAutoFit/>
          </a:bodyPr>
          <a:lstStyle/>
          <a:p>
            <a:r>
              <a:rPr lang="zh-CN" altLang="en-US" sz="1500" spc="300" dirty="0">
                <a:solidFill>
                  <a:schemeClr val="bg1"/>
                </a:solidFill>
                <a:latin typeface="微软雅黑" panose="020B0503020204020204" pitchFamily="34" charset="-122"/>
                <a:ea typeface="微软雅黑" panose="020B0503020204020204" pitchFamily="34" charset="-122"/>
              </a:rPr>
              <a:t>插件概述</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C118544A-ADBB-3E16-2C54-FF5BD792A91D}"/>
              </a:ext>
            </a:extLst>
          </p:cNvPr>
          <p:cNvSpPr txBox="1"/>
          <p:nvPr/>
        </p:nvSpPr>
        <p:spPr>
          <a:xfrm>
            <a:off x="233758" y="1122788"/>
            <a:ext cx="5981700" cy="1712520"/>
          </a:xfrm>
          <a:prstGeom prst="rect">
            <a:avLst/>
          </a:prstGeom>
          <a:noFill/>
        </p:spPr>
        <p:txBody>
          <a:bodyPr wrap="square" rtlCol="0">
            <a:spAutoFit/>
          </a:bodyPr>
          <a:lstStyle/>
          <a:p>
            <a:pPr indent="457156">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XGraph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是一款基于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Editor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的可视化节点编辑器插件，专为 </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行为树（</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Behavior Tree</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）、状态机（</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State Machine</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）、任务流（</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Task Flow</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等图形化逻辑设计而开发。它采用 </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GraphView</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作为核心框架，结合 </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ScriptableObject </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数据存储</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indent="457156">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提供了一套完整的</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节点编辑、连线、编组、撤销</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重做、主题定制</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等功能，适用于 </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游戏 </a:t>
            </a:r>
            <a:r>
              <a:rPr lang="en-US" altLang="zh-CN" sz="900" b="1" dirty="0">
                <a:solidFill>
                  <a:schemeClr val="accent4">
                    <a:lumMod val="60000"/>
                    <a:lumOff val="40000"/>
                  </a:schemeClr>
                </a:solidFill>
                <a:latin typeface="微软雅黑" panose="020B0503020204020204" pitchFamily="34" charset="-122"/>
                <a:ea typeface="微软雅黑" panose="020B0503020204020204" pitchFamily="34" charset="-122"/>
              </a:rPr>
              <a:t>AI</a:t>
            </a:r>
            <a:r>
              <a:rPr lang="zh-CN" altLang="en-US" sz="900" b="1" dirty="0">
                <a:solidFill>
                  <a:schemeClr val="accent4">
                    <a:lumMod val="60000"/>
                    <a:lumOff val="40000"/>
                  </a:schemeClr>
                </a:solidFill>
                <a:latin typeface="微软雅黑" panose="020B0503020204020204" pitchFamily="34" charset="-122"/>
                <a:ea typeface="微软雅黑" panose="020B0503020204020204" pitchFamily="34" charset="-122"/>
              </a:rPr>
              <a:t>、任务系统、对话系统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等复杂逻辑的可视化编辑。该插件具有 模块化设计，支持 数据与视图分离，并提供了 可扩展的架构，开发者可以轻松自定义节点类型、</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样式以及交互逻辑</a:t>
            </a:r>
          </a:p>
        </p:txBody>
      </p:sp>
      <p:pic>
        <p:nvPicPr>
          <p:cNvPr id="9" name="Picture 1">
            <a:extLst>
              <a:ext uri="{FF2B5EF4-FFF2-40B4-BE49-F238E27FC236}">
                <a16:creationId xmlns:a16="http://schemas.microsoft.com/office/drawing/2014/main" id="{AA4DE8A7-6647-2C6D-DC52-14C7CA42A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3448" y="6240746"/>
            <a:ext cx="1124977" cy="135301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7EC10ED9-93D7-C6BF-A388-09D606CB9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3448" y="7683876"/>
            <a:ext cx="1124977" cy="1353012"/>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10E7A133-F711-2447-5792-683692342360}"/>
              </a:ext>
            </a:extLst>
          </p:cNvPr>
          <p:cNvSpPr txBox="1"/>
          <p:nvPr/>
        </p:nvSpPr>
        <p:spPr>
          <a:xfrm>
            <a:off x="262334" y="6403025"/>
            <a:ext cx="4125913" cy="1106585"/>
          </a:xfrm>
          <a:prstGeom prst="rect">
            <a:avLst/>
          </a:prstGeom>
          <a:noFill/>
        </p:spPr>
        <p:txBody>
          <a:bodyPr wrap="square" rtlCol="0">
            <a:spAutoFit/>
          </a:bodyPr>
          <a:lstStyle/>
          <a:p>
            <a:pPr indent="457156">
              <a:lnSpc>
                <a:spcPct val="15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开源不易，您的支持是持续更新的动力，这个小工具倾注了我无数个深夜的调试与优化，它永远免费，但绝非无成本，如果您觉得这个工具能为您节省时间、解决问题，甚至带来一丝愉悦，请考虑赞助一杯咖啡，让我知道：有人在乎这份付出，而这将成为我熬夜修复</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Bug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、添加新功能的最大动力。开源不是用爱发电，您的认可会让它走得更远</a:t>
            </a:r>
          </a:p>
        </p:txBody>
      </p:sp>
      <p:sp>
        <p:nvSpPr>
          <p:cNvPr id="12" name="文本框 11">
            <a:extLst>
              <a:ext uri="{FF2B5EF4-FFF2-40B4-BE49-F238E27FC236}">
                <a16:creationId xmlns:a16="http://schemas.microsoft.com/office/drawing/2014/main" id="{C2116113-C05E-4163-5F74-4D91CE5D1BC4}"/>
              </a:ext>
            </a:extLst>
          </p:cNvPr>
          <p:cNvSpPr txBox="1"/>
          <p:nvPr/>
        </p:nvSpPr>
        <p:spPr>
          <a:xfrm>
            <a:off x="262334" y="8081440"/>
            <a:ext cx="4125913" cy="691087"/>
          </a:xfrm>
          <a:prstGeom prst="rect">
            <a:avLst/>
          </a:prstGeom>
          <a:noFill/>
        </p:spPr>
        <p:txBody>
          <a:bodyPr wrap="square" rtlCol="0">
            <a:spAutoFit/>
          </a:bodyPr>
          <a:lstStyle/>
          <a:p>
            <a:pPr indent="457156">
              <a:lnSpc>
                <a:spcPct val="15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欢迎加入技术研讨群，在这里可以和我以及大家一起探讨插件的优化以及相关的技术实现思路，同时在做项目时遇到的众多问题以及瓶颈阻碍都可以互相探讨学习</a:t>
            </a:r>
          </a:p>
        </p:txBody>
      </p:sp>
      <p:sp>
        <p:nvSpPr>
          <p:cNvPr id="15" name="文本框 14">
            <a:extLst>
              <a:ext uri="{FF2B5EF4-FFF2-40B4-BE49-F238E27FC236}">
                <a16:creationId xmlns:a16="http://schemas.microsoft.com/office/drawing/2014/main" id="{4B187C42-5692-BFAC-9A96-9EE9E4601E17}"/>
              </a:ext>
            </a:extLst>
          </p:cNvPr>
          <p:cNvSpPr txBox="1"/>
          <p:nvPr/>
        </p:nvSpPr>
        <p:spPr>
          <a:xfrm>
            <a:off x="233758" y="4064130"/>
            <a:ext cx="5981700" cy="570284"/>
          </a:xfrm>
          <a:prstGeom prst="rect">
            <a:avLst/>
          </a:prstGeom>
          <a:noFill/>
        </p:spPr>
        <p:txBody>
          <a:bodyPr wrap="square" rtlCol="0">
            <a:spAutoFit/>
          </a:bodyPr>
          <a:lstStyle/>
          <a:p>
            <a:pPr algn="ctr">
              <a:lnSpc>
                <a:spcPct val="150000"/>
              </a:lnSpc>
            </a:pPr>
            <a:r>
              <a:rPr lang="en-US" altLang="zh-CN" sz="1100" b="1" dirty="0">
                <a:solidFill>
                  <a:schemeClr val="bg1">
                    <a:lumMod val="75000"/>
                  </a:schemeClr>
                </a:solidFill>
                <a:latin typeface="微软雅黑" panose="020B0503020204020204" pitchFamily="34" charset="-122"/>
                <a:ea typeface="微软雅黑" panose="020B0503020204020204" pitchFamily="34" charset="-122"/>
              </a:rPr>
              <a:t>XGraph </a:t>
            </a:r>
            <a:r>
              <a:rPr lang="zh-CN" altLang="en-US" sz="1100" b="1" dirty="0">
                <a:solidFill>
                  <a:schemeClr val="bg1">
                    <a:lumMod val="75000"/>
                  </a:schemeClr>
                </a:solidFill>
                <a:latin typeface="微软雅黑" panose="020B0503020204020204" pitchFamily="34" charset="-122"/>
                <a:ea typeface="微软雅黑" panose="020B0503020204020204" pitchFamily="34" charset="-122"/>
              </a:rPr>
              <a:t>不仅是工具，更是行为逻辑的设计框架</a:t>
            </a:r>
            <a:endParaRPr lang="en-US" altLang="zh-CN" sz="1100" b="1" dirty="0">
              <a:solidFill>
                <a:schemeClr val="bg1">
                  <a:lumMod val="75000"/>
                </a:schemeClr>
              </a:solidFill>
              <a:latin typeface="微软雅黑" panose="020B0503020204020204" pitchFamily="34" charset="-122"/>
              <a:ea typeface="微软雅黑" panose="020B0503020204020204" pitchFamily="34" charset="-122"/>
            </a:endParaRPr>
          </a:p>
          <a:p>
            <a:pPr algn="ctr">
              <a:lnSpc>
                <a:spcPct val="150000"/>
              </a:lnSpc>
            </a:pPr>
            <a:r>
              <a:rPr lang="zh-CN" altLang="en-US" sz="1100" b="1" dirty="0">
                <a:solidFill>
                  <a:schemeClr val="bg1">
                    <a:lumMod val="75000"/>
                  </a:schemeClr>
                </a:solidFill>
                <a:latin typeface="微软雅黑" panose="020B0503020204020204" pitchFamily="34" charset="-122"/>
                <a:ea typeface="微软雅黑" panose="020B0503020204020204" pitchFamily="34" charset="-122"/>
              </a:rPr>
              <a:t>让你能够更专注于创意的实现以及工作流的简化</a:t>
            </a:r>
          </a:p>
        </p:txBody>
      </p:sp>
      <p:cxnSp>
        <p:nvCxnSpPr>
          <p:cNvPr id="16" name="直接连接符 15">
            <a:extLst>
              <a:ext uri="{FF2B5EF4-FFF2-40B4-BE49-F238E27FC236}">
                <a16:creationId xmlns:a16="http://schemas.microsoft.com/office/drawing/2014/main" id="{FEFD2969-1606-570F-9E99-C18B7B435B09}"/>
              </a:ext>
            </a:extLst>
          </p:cNvPr>
          <p:cNvCxnSpPr>
            <a:cxnSpLocks/>
          </p:cNvCxnSpPr>
          <p:nvPr/>
        </p:nvCxnSpPr>
        <p:spPr>
          <a:xfrm>
            <a:off x="383778" y="5905500"/>
            <a:ext cx="5719761" cy="0"/>
          </a:xfrm>
          <a:prstGeom prst="line">
            <a:avLst/>
          </a:prstGeom>
          <a:ln>
            <a:solidFill>
              <a:schemeClr val="accent3">
                <a:alpha val="30000"/>
              </a:schemeClr>
            </a:solidFill>
          </a:ln>
        </p:spPr>
        <p:style>
          <a:lnRef idx="1">
            <a:schemeClr val="accent3"/>
          </a:lnRef>
          <a:fillRef idx="0">
            <a:schemeClr val="accent3"/>
          </a:fillRef>
          <a:effectRef idx="0">
            <a:schemeClr val="accent3"/>
          </a:effectRef>
          <a:fontRef idx="minor">
            <a:schemeClr val="tx1"/>
          </a:fontRef>
        </p:style>
      </p:cxnSp>
      <p:cxnSp>
        <p:nvCxnSpPr>
          <p:cNvPr id="18" name="直接连接符 17">
            <a:extLst>
              <a:ext uri="{FF2B5EF4-FFF2-40B4-BE49-F238E27FC236}">
                <a16:creationId xmlns:a16="http://schemas.microsoft.com/office/drawing/2014/main" id="{35327D20-9D52-A948-B436-B4767E114966}"/>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6592102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378233F6-0CB9-62B0-38A5-55547753211C}"/>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BF7354BF-A89F-FFDE-472D-000193DAF67A}"/>
              </a:ext>
            </a:extLst>
          </p:cNvPr>
          <p:cNvSpPr txBox="1"/>
          <p:nvPr/>
        </p:nvSpPr>
        <p:spPr>
          <a:xfrm>
            <a:off x="248144" y="725834"/>
            <a:ext cx="1428257"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zh-CN" altLang="en-US" dirty="0"/>
              <a:t>核心构成 </a:t>
            </a:r>
            <a:r>
              <a:rPr lang="en-US" altLang="zh-CN" dirty="0"/>
              <a:t>&amp; </a:t>
            </a:r>
            <a:r>
              <a:rPr lang="zh-CN" altLang="en-US" dirty="0"/>
              <a:t>介绍</a:t>
            </a:r>
          </a:p>
        </p:txBody>
      </p:sp>
      <p:sp>
        <p:nvSpPr>
          <p:cNvPr id="6" name="文本框 5">
            <a:extLst>
              <a:ext uri="{FF2B5EF4-FFF2-40B4-BE49-F238E27FC236}">
                <a16:creationId xmlns:a16="http://schemas.microsoft.com/office/drawing/2014/main" id="{7965D1D8-ECE9-FD63-71B9-B4DEA6FAAE95}"/>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2EF794EB-33C0-57D7-4D84-BF3B0C80BE6A}"/>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grpSp>
        <p:nvGrpSpPr>
          <p:cNvPr id="28" name="组合 27">
            <a:extLst>
              <a:ext uri="{FF2B5EF4-FFF2-40B4-BE49-F238E27FC236}">
                <a16:creationId xmlns:a16="http://schemas.microsoft.com/office/drawing/2014/main" id="{5B8704A3-12AD-F508-2D88-392418A69F92}"/>
              </a:ext>
            </a:extLst>
          </p:cNvPr>
          <p:cNvGrpSpPr/>
          <p:nvPr/>
        </p:nvGrpSpPr>
        <p:grpSpPr>
          <a:xfrm>
            <a:off x="711320" y="1193615"/>
            <a:ext cx="5435361" cy="1995413"/>
            <a:chOff x="498078" y="1587124"/>
            <a:chExt cx="5435361" cy="1995413"/>
          </a:xfrm>
        </p:grpSpPr>
        <p:sp>
          <p:nvSpPr>
            <p:cNvPr id="3" name="矩形: 圆角 2">
              <a:extLst>
                <a:ext uri="{FF2B5EF4-FFF2-40B4-BE49-F238E27FC236}">
                  <a16:creationId xmlns:a16="http://schemas.microsoft.com/office/drawing/2014/main" id="{3761A705-4C23-D004-6556-5922E18274D4}"/>
                </a:ext>
              </a:extLst>
            </p:cNvPr>
            <p:cNvSpPr/>
            <p:nvPr/>
          </p:nvSpPr>
          <p:spPr>
            <a:xfrm>
              <a:off x="498078" y="1587124"/>
              <a:ext cx="1568450" cy="614797"/>
            </a:xfrm>
            <a:prstGeom prst="roundRect">
              <a:avLst>
                <a:gd name="adj" fmla="val 6877"/>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Window</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主编辑器</a:t>
              </a:r>
              <a:endParaRPr lang="en-US" altLang="zh-CN" sz="800" dirty="0">
                <a:solidFill>
                  <a:schemeClr val="tx1"/>
                </a:solidFill>
                <a:latin typeface="微软雅黑" panose="020B0503020204020204" pitchFamily="34" charset="-122"/>
                <a:ea typeface="微软雅黑" panose="020B0503020204020204" pitchFamily="34" charset="-122"/>
              </a:endParaRPr>
            </a:p>
          </p:txBody>
        </p:sp>
        <p:sp>
          <p:nvSpPr>
            <p:cNvPr id="4" name="矩形: 圆角 3">
              <a:extLst>
                <a:ext uri="{FF2B5EF4-FFF2-40B4-BE49-F238E27FC236}">
                  <a16:creationId xmlns:a16="http://schemas.microsoft.com/office/drawing/2014/main" id="{5AD0E360-8575-4EEC-965A-4F47104976EE}"/>
                </a:ext>
              </a:extLst>
            </p:cNvPr>
            <p:cNvSpPr/>
            <p:nvPr/>
          </p:nvSpPr>
          <p:spPr>
            <a:xfrm>
              <a:off x="2428239" y="1587124"/>
              <a:ext cx="1568450" cy="614797"/>
            </a:xfrm>
            <a:prstGeom prst="roundRect">
              <a:avLst>
                <a:gd name="adj" fmla="val 6877"/>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GraphView</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节点视图</a:t>
              </a:r>
              <a:endParaRPr lang="en-US" altLang="zh-CN" sz="800" dirty="0">
                <a:solidFill>
                  <a:schemeClr val="tx1"/>
                </a:solidFill>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7FF77725-557B-868F-3CC8-788740642A7B}"/>
                </a:ext>
              </a:extLst>
            </p:cNvPr>
            <p:cNvSpPr/>
            <p:nvPr/>
          </p:nvSpPr>
          <p:spPr>
            <a:xfrm>
              <a:off x="4364989" y="1587124"/>
              <a:ext cx="1568450" cy="614797"/>
            </a:xfrm>
            <a:prstGeom prst="roundRect">
              <a:avLst>
                <a:gd name="adj" fmla="val 6877"/>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InspectorView</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属性面板</a:t>
              </a:r>
              <a:endParaRPr lang="en-US" altLang="zh-CN" sz="800" dirty="0">
                <a:solidFill>
                  <a:schemeClr val="tx1"/>
                </a:solidFill>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A0FF1A8A-F7C0-1953-9BBF-2302D97B60FE}"/>
                </a:ext>
              </a:extLst>
            </p:cNvPr>
            <p:cNvSpPr/>
            <p:nvPr/>
          </p:nvSpPr>
          <p:spPr>
            <a:xfrm>
              <a:off x="4364989" y="2273622"/>
              <a:ext cx="1568450" cy="614797"/>
            </a:xfrm>
            <a:prstGeom prst="roundRect">
              <a:avLst>
                <a:gd name="adj" fmla="val 6877"/>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BlackBoardView</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黑板变量</a:t>
              </a:r>
              <a:endParaRPr lang="en-US" altLang="zh-CN" sz="800" dirty="0">
                <a:solidFill>
                  <a:schemeClr val="tx1"/>
                </a:solidFill>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69D0879F-7E9D-7E51-B148-B718A5FB6399}"/>
                </a:ext>
              </a:extLst>
            </p:cNvPr>
            <p:cNvSpPr/>
            <p:nvPr/>
          </p:nvSpPr>
          <p:spPr>
            <a:xfrm>
              <a:off x="2428239" y="2273622"/>
              <a:ext cx="1568450" cy="614797"/>
            </a:xfrm>
            <a:prstGeom prst="roundRect">
              <a:avLst>
                <a:gd name="adj" fmla="val 6877"/>
              </a:avLst>
            </a:prstGeom>
            <a:solidFill>
              <a:schemeClr val="bg1">
                <a:lumMod val="85000"/>
              </a:schemeClr>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OptionsPanel</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选项面板</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4801254D-9467-726A-D15B-CA1A20180CFB}"/>
                </a:ext>
              </a:extLst>
            </p:cNvPr>
            <p:cNvSpPr/>
            <p:nvPr/>
          </p:nvSpPr>
          <p:spPr>
            <a:xfrm>
              <a:off x="498078" y="2278384"/>
              <a:ext cx="1568450" cy="614797"/>
            </a:xfrm>
            <a:prstGeom prst="roundRect">
              <a:avLst>
                <a:gd name="adj" fmla="val 6877"/>
              </a:avLst>
            </a:prstGeom>
            <a:solidFill>
              <a:srgbClr val="FF9966"/>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xNode</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行为视觉节点</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EE60B063-A978-A40A-0099-9B7A28C6BDE8}"/>
                </a:ext>
              </a:extLst>
            </p:cNvPr>
            <p:cNvSpPr/>
            <p:nvPr/>
          </p:nvSpPr>
          <p:spPr>
            <a:xfrm>
              <a:off x="498078" y="2967740"/>
              <a:ext cx="1568450" cy="614797"/>
            </a:xfrm>
            <a:prstGeom prst="roundRect">
              <a:avLst>
                <a:gd name="adj" fmla="val 6877"/>
              </a:avLst>
            </a:prstGeom>
            <a:solidFill>
              <a:srgbClr val="FF9966"/>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xAction</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行为数据节点</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50E2A6B6-D47C-6796-8F97-3417D8475F73}"/>
                </a:ext>
              </a:extLst>
            </p:cNvPr>
            <p:cNvSpPr/>
            <p:nvPr/>
          </p:nvSpPr>
          <p:spPr>
            <a:xfrm>
              <a:off x="2428239" y="2967740"/>
              <a:ext cx="1568450" cy="614797"/>
            </a:xfrm>
            <a:prstGeom prst="roundRect">
              <a:avLst>
                <a:gd name="adj" fmla="val 6877"/>
              </a:avLst>
            </a:prstGeom>
            <a:solidFill>
              <a:srgbClr val="FF9999"/>
            </a:solidFill>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SearchBox</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搜索列表工具</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
          <p:nvSpPr>
            <p:cNvPr id="23" name="矩形: 圆角 22">
              <a:extLst>
                <a:ext uri="{FF2B5EF4-FFF2-40B4-BE49-F238E27FC236}">
                  <a16:creationId xmlns:a16="http://schemas.microsoft.com/office/drawing/2014/main" id="{2070C208-9670-86DB-873B-FF97155CEC75}"/>
                </a:ext>
              </a:extLst>
            </p:cNvPr>
            <p:cNvSpPr/>
            <p:nvPr/>
          </p:nvSpPr>
          <p:spPr>
            <a:xfrm>
              <a:off x="4364989" y="2967740"/>
              <a:ext cx="1568450" cy="614797"/>
            </a:xfrm>
            <a:prstGeom prst="roundRect">
              <a:avLst>
                <a:gd name="adj" fmla="val 6877"/>
              </a:avLst>
            </a:prstGeom>
            <a:solidFill>
              <a:srgbClr val="85B945"/>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xActionAsset</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行为数据资源</a:t>
              </a:r>
              <a:endParaRPr lang="en-US" altLang="zh-CN" sz="800" dirty="0">
                <a:solidFill>
                  <a:schemeClr val="tx1"/>
                </a:solidFill>
                <a:latin typeface="微软雅黑" panose="020B0503020204020204" pitchFamily="34" charset="-122"/>
                <a:ea typeface="微软雅黑" panose="020B0503020204020204" pitchFamily="34" charset="-122"/>
              </a:endParaRPr>
            </a:p>
          </p:txBody>
        </p:sp>
      </p:grpSp>
      <p:sp>
        <p:nvSpPr>
          <p:cNvPr id="24" name="文本框 23">
            <a:extLst>
              <a:ext uri="{FF2B5EF4-FFF2-40B4-BE49-F238E27FC236}">
                <a16:creationId xmlns:a16="http://schemas.microsoft.com/office/drawing/2014/main" id="{7336FC95-6AF1-DC3E-38B5-C34C9915EA49}"/>
              </a:ext>
            </a:extLst>
          </p:cNvPr>
          <p:cNvSpPr txBox="1"/>
          <p:nvPr/>
        </p:nvSpPr>
        <p:spPr>
          <a:xfrm>
            <a:off x="654170" y="3416453"/>
            <a:ext cx="5549661" cy="1743298"/>
          </a:xfrm>
          <a:prstGeom prst="rect">
            <a:avLst/>
          </a:prstGeom>
          <a:noFill/>
        </p:spPr>
        <p:txBody>
          <a:bodyPr wrap="square" rtlCol="0">
            <a:sp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可视化节点编辑</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节点创建与管理：支持多种节点类型（如行为节点、条件节点、中继节点、便签节点等）</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连线系统：支持节点间的逻辑连接，并可通过 双击连线插入中继节点（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Relay Node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）来优化复杂连线</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节点编组（</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Grouping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）：可将多个节点归入编组，支持编组主题色定制，便于逻辑模块化管理</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快捷键支持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Ctrl+D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克隆、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Ctrl+A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全选、</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Ctrl+G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编组等</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节点与数据解耦</a:t>
            </a:r>
          </a:p>
        </p:txBody>
      </p:sp>
      <p:sp>
        <p:nvSpPr>
          <p:cNvPr id="25" name="文本框 24">
            <a:extLst>
              <a:ext uri="{FF2B5EF4-FFF2-40B4-BE49-F238E27FC236}">
                <a16:creationId xmlns:a16="http://schemas.microsoft.com/office/drawing/2014/main" id="{8DD3CA7F-BF75-3525-FADB-5D46F5F4939C}"/>
              </a:ext>
            </a:extLst>
          </p:cNvPr>
          <p:cNvSpPr txBox="1"/>
          <p:nvPr/>
        </p:nvSpPr>
        <p:spPr>
          <a:xfrm>
            <a:off x="654170" y="5306298"/>
            <a:ext cx="5549661" cy="1189300"/>
          </a:xfrm>
          <a:prstGeom prst="rect">
            <a:avLst/>
          </a:prstGeom>
          <a:noFill/>
        </p:spPr>
        <p:txBody>
          <a:bodyPr wrap="square" rtlCol="0">
            <a:sp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数据持久化与资源管理</a:t>
            </a:r>
          </a:p>
          <a:p>
            <a:pPr marL="171450" indent="-171450">
              <a:lnSpc>
                <a:spcPct val="200000"/>
              </a:lnSpc>
              <a:buFont typeface="Arial" panose="020B0604020202020204" pitchFamily="34" charset="0"/>
              <a:buChar char="•"/>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ScriptableObject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存储：所有节点数据均以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文件存储，便于版本管理和团队协作</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克隆机制（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Clone Tree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）：编辑时自动创建副本，避免直接修改原始资源，确保数据安全</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自动保存视图状态（窗口尺寸、缩放、滚动位置等）</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B14BD665-F75F-E8DB-186D-AD9E6E3ACE83}"/>
              </a:ext>
            </a:extLst>
          </p:cNvPr>
          <p:cNvSpPr txBox="1"/>
          <p:nvPr/>
        </p:nvSpPr>
        <p:spPr>
          <a:xfrm>
            <a:off x="654170" y="6642145"/>
            <a:ext cx="5549661" cy="1466299"/>
          </a:xfrm>
          <a:prstGeom prst="rect">
            <a:avLst/>
          </a:prstGeom>
          <a:noFill/>
        </p:spPr>
        <p:txBody>
          <a:bodyPr wrap="square" rtlCol="0">
            <a:sp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✅与</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Unity GraphToolKit</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的区别</a:t>
            </a:r>
          </a:p>
          <a:p>
            <a:pPr marL="171450" indent="-171450">
              <a:lnSpc>
                <a:spcPct val="200000"/>
              </a:lnSpc>
              <a:buFont typeface="Arial" panose="020B0604020202020204" pitchFamily="34" charset="0"/>
              <a:buChar char="•"/>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UGT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像乐高万能积木，但拼特定城堡时你得先自己刻零件；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XGraph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是“直接给你城堡说明书”，换主题只要换贴纸</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如果业务高度垂直且快速迭代，</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XGraph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方案匹配度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&gt; 90%</a:t>
            </a:r>
          </a:p>
          <a:p>
            <a:pPr marL="171450" indent="-171450">
              <a:lnSpc>
                <a:spcPct val="200000"/>
              </a:lnSpc>
              <a:buFont typeface="Arial" panose="020B0604020202020204" pitchFamily="34" charset="0"/>
              <a:buChar char="•"/>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UGT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的优势在跨领域复用与极致性能，但单点需求的落地速度远不及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XGraph</a:t>
            </a:r>
            <a:endParaRPr lang="zh-CN" altLang="en-US"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9F0A3B41-A87E-9BC3-97BF-7DEFEBEB231C}"/>
              </a:ext>
            </a:extLst>
          </p:cNvPr>
          <p:cNvSpPr txBox="1"/>
          <p:nvPr/>
        </p:nvSpPr>
        <p:spPr>
          <a:xfrm>
            <a:off x="654170" y="8254992"/>
            <a:ext cx="5549661" cy="1189300"/>
          </a:xfrm>
          <a:prstGeom prst="rect">
            <a:avLst/>
          </a:prstGeom>
          <a:noFill/>
        </p:spPr>
        <p:txBody>
          <a:bodyPr wrap="square" rtlCol="0">
            <a:sp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扩展性</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自定义节点类型：通过继承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和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可轻松扩展新节点</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自定义视觉节点：可对视觉节点进行最深度的行为扩展，包括属性面板的分组折叠菜单的扩展</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事件回调：从编辑器本身到</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Graphview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以及节点都提供相应的</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事件，便于扩展交互逻辑</a:t>
            </a:r>
          </a:p>
        </p:txBody>
      </p:sp>
    </p:spTree>
    <p:extLst>
      <p:ext uri="{BB962C8B-B14F-4D97-AF65-F5344CB8AC3E}">
        <p14:creationId xmlns:p14="http://schemas.microsoft.com/office/powerpoint/2010/main" val="3314775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2EF863D9-2E17-A9AC-43AE-63E842114706}"/>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BB5D8B3E-1BF9-4D23-A3DD-9DB2AE5FFB9C}"/>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GraphWindow</a:t>
            </a:r>
            <a:r>
              <a:rPr lang="zh-CN" altLang="en-US" dirty="0"/>
              <a:t>节点编辑器</a:t>
            </a:r>
          </a:p>
        </p:txBody>
      </p:sp>
      <p:sp>
        <p:nvSpPr>
          <p:cNvPr id="6" name="文本框 5">
            <a:extLst>
              <a:ext uri="{FF2B5EF4-FFF2-40B4-BE49-F238E27FC236}">
                <a16:creationId xmlns:a16="http://schemas.microsoft.com/office/drawing/2014/main" id="{942DB97C-1E1E-0DB7-8C14-4D9AC4D5CD3B}"/>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5BB2EA82-D0C5-6981-804E-55A29D38CFB7}"/>
              </a:ext>
            </a:extLst>
          </p:cNvPr>
          <p:cNvCxnSpPr>
            <a:cxnSpLocks/>
          </p:cNvCxnSpPr>
          <p:nvPr/>
        </p:nvCxnSpPr>
        <p:spPr>
          <a:xfrm>
            <a:off x="383778" y="5317490"/>
            <a:ext cx="5719761" cy="0"/>
          </a:xfrm>
          <a:prstGeom prst="line">
            <a:avLst/>
          </a:prstGeom>
          <a:ln>
            <a:solidFill>
              <a:schemeClr val="accent3">
                <a:alpha val="30000"/>
              </a:schemeClr>
            </a:solidFill>
          </a:ln>
        </p:spPr>
        <p:style>
          <a:lnRef idx="1">
            <a:schemeClr val="accent3"/>
          </a:lnRef>
          <a:fillRef idx="0">
            <a:schemeClr val="accent3"/>
          </a:fillRef>
          <a:effectRef idx="0">
            <a:schemeClr val="accent3"/>
          </a:effectRef>
          <a:fontRef idx="minor">
            <a:schemeClr val="tx1"/>
          </a:fontRef>
        </p:style>
      </p:cxnSp>
      <p:cxnSp>
        <p:nvCxnSpPr>
          <p:cNvPr id="18" name="直接连接符 17">
            <a:extLst>
              <a:ext uri="{FF2B5EF4-FFF2-40B4-BE49-F238E27FC236}">
                <a16:creationId xmlns:a16="http://schemas.microsoft.com/office/drawing/2014/main" id="{1CD97FA8-9870-CDCA-EC94-8C12E677939E}"/>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27" name="文本框 26">
            <a:extLst>
              <a:ext uri="{FF2B5EF4-FFF2-40B4-BE49-F238E27FC236}">
                <a16:creationId xmlns:a16="http://schemas.microsoft.com/office/drawing/2014/main" id="{2EB07F59-4137-E77B-C895-1425A9C053C9}"/>
              </a:ext>
            </a:extLst>
          </p:cNvPr>
          <p:cNvSpPr txBox="1"/>
          <p:nvPr/>
        </p:nvSpPr>
        <p:spPr>
          <a:xfrm>
            <a:off x="383776" y="5561706"/>
            <a:ext cx="5549661" cy="3848993"/>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面板区域介绍</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zh-CN" altLang="en-US" sz="4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800" b="1" dirty="0">
                <a:solidFill>
                  <a:schemeClr val="accent5">
                    <a:lumMod val="75000"/>
                  </a:schemeClr>
                </a:solidFill>
                <a:latin typeface="微软雅黑" panose="020B0503020204020204" pitchFamily="34" charset="-122"/>
                <a:ea typeface="微软雅黑" panose="020B0503020204020204" pitchFamily="34" charset="-122"/>
              </a:rPr>
              <a:t>A</a:t>
            </a:r>
            <a:r>
              <a:rPr lang="zh-CN" altLang="en-US" sz="8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节点图工程名称</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B</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节点图快照</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C</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刷新当前工程</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D</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保存工程</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E</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打开工程</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F</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黑板变量面板开关</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G</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属性面板开关</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H</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聚焦</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I</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节点标记</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J</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数据流效果开关</a:t>
            </a:r>
            <a:endParaRPr lang="en-US" altLang="zh-CN" sz="900" b="1" dirty="0">
              <a:solidFill>
                <a:schemeClr val="accent5">
                  <a:lumMod val="7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K</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编辑器选项面板开关</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L</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帮助手册链接</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endParaRPr lang="en-US" altLang="zh-CN" sz="400" b="1" dirty="0">
              <a:solidFill>
                <a:schemeClr val="accent5">
                  <a:lumMod val="7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endParaRPr lang="en-US" altLang="zh-CN" sz="400" b="1" dirty="0">
              <a:solidFill>
                <a:schemeClr val="accent5">
                  <a:lumMod val="7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endParaRPr lang="en-US" altLang="zh-CN" sz="400" b="1" dirty="0">
              <a:solidFill>
                <a:schemeClr val="accent5">
                  <a:lumMod val="7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M</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节点视图区域</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N</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工程名称水印</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O</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当前鼠标坐标</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P</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工程资源路径</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Q</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当前窗口尺寸</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R</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当前工程最后一次修改时间</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b="1" dirty="0">
                <a:solidFill>
                  <a:schemeClr val="accent5">
                    <a:lumMod val="75000"/>
                  </a:schemeClr>
                </a:solidFill>
                <a:latin typeface="微软雅黑" panose="020B0503020204020204" pitchFamily="34" charset="-122"/>
                <a:ea typeface="微软雅黑" panose="020B0503020204020204" pitchFamily="34" charset="-122"/>
              </a:rPr>
              <a:t>S</a:t>
            </a:r>
            <a:r>
              <a:rPr lang="zh-CN" altLang="en-US" sz="900" b="1" dirty="0">
                <a:solidFill>
                  <a:schemeClr val="accent5">
                    <a:lumMod val="7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当前工程距上一次的修改时间差</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grpSp>
        <p:nvGrpSpPr>
          <p:cNvPr id="82" name="组合 81">
            <a:extLst>
              <a:ext uri="{FF2B5EF4-FFF2-40B4-BE49-F238E27FC236}">
                <a16:creationId xmlns:a16="http://schemas.microsoft.com/office/drawing/2014/main" id="{57E3E57F-EA6A-6BF5-21AD-872158CDE225}"/>
              </a:ext>
            </a:extLst>
          </p:cNvPr>
          <p:cNvGrpSpPr/>
          <p:nvPr/>
        </p:nvGrpSpPr>
        <p:grpSpPr>
          <a:xfrm>
            <a:off x="323560" y="1189282"/>
            <a:ext cx="6132116" cy="3781472"/>
            <a:chOff x="323560" y="1607019"/>
            <a:chExt cx="6132116" cy="3781472"/>
          </a:xfrm>
        </p:grpSpPr>
        <p:graphicFrame>
          <p:nvGraphicFramePr>
            <p:cNvPr id="2" name="对象 1">
              <a:extLst>
                <a:ext uri="{FF2B5EF4-FFF2-40B4-BE49-F238E27FC236}">
                  <a16:creationId xmlns:a16="http://schemas.microsoft.com/office/drawing/2014/main" id="{60CB7EEE-04DC-F0DD-B42A-36F0C492057F}"/>
                </a:ext>
              </a:extLst>
            </p:cNvPr>
            <p:cNvGraphicFramePr>
              <a:graphicFrameLocks noChangeAspect="1"/>
            </p:cNvGraphicFramePr>
            <p:nvPr>
              <p:extLst>
                <p:ext uri="{D42A27DB-BD31-4B8C-83A1-F6EECF244321}">
                  <p14:modId xmlns:p14="http://schemas.microsoft.com/office/powerpoint/2010/main" val="1781883673"/>
                </p:ext>
              </p:extLst>
            </p:nvPr>
          </p:nvGraphicFramePr>
          <p:xfrm>
            <a:off x="323560" y="1607019"/>
            <a:ext cx="6132116" cy="3781472"/>
          </p:xfrm>
          <a:graphic>
            <a:graphicData uri="http://schemas.openxmlformats.org/presentationml/2006/ole">
              <mc:AlternateContent xmlns:mc="http://schemas.openxmlformats.org/markup-compatibility/2006">
                <mc:Choice xmlns:v="urn:schemas-microsoft-com:vml" Requires="v">
                  <p:oleObj name="Image" r:id="rId2" imgW="10491655" imgH="6468564" progId="Photoshop.Image.26">
                    <p:embed/>
                  </p:oleObj>
                </mc:Choice>
                <mc:Fallback>
                  <p:oleObj name="Image" r:id="rId2" imgW="10491655" imgH="6468564" progId="Photoshop.Image.26">
                    <p:embed/>
                    <p:pic>
                      <p:nvPicPr>
                        <p:cNvPr id="0" name=""/>
                        <p:cNvPicPr/>
                        <p:nvPr/>
                      </p:nvPicPr>
                      <p:blipFill>
                        <a:blip r:embed="rId3"/>
                        <a:stretch>
                          <a:fillRect/>
                        </a:stretch>
                      </p:blipFill>
                      <p:spPr>
                        <a:xfrm>
                          <a:off x="323560" y="1607019"/>
                          <a:ext cx="6132116" cy="3781472"/>
                        </a:xfrm>
                        <a:prstGeom prst="rect">
                          <a:avLst/>
                        </a:prstGeom>
                      </p:spPr>
                    </p:pic>
                  </p:oleObj>
                </mc:Fallback>
              </mc:AlternateContent>
            </a:graphicData>
          </a:graphic>
        </p:graphicFrame>
        <p:sp>
          <p:nvSpPr>
            <p:cNvPr id="37" name="文本框 36">
              <a:extLst>
                <a:ext uri="{FF2B5EF4-FFF2-40B4-BE49-F238E27FC236}">
                  <a16:creationId xmlns:a16="http://schemas.microsoft.com/office/drawing/2014/main" id="{757288E7-A6C8-3233-537F-E477E6C13647}"/>
                </a:ext>
              </a:extLst>
            </p:cNvPr>
            <p:cNvSpPr txBox="1"/>
            <p:nvPr/>
          </p:nvSpPr>
          <p:spPr>
            <a:xfrm>
              <a:off x="3059112" y="3098957"/>
              <a:ext cx="739775" cy="166687"/>
            </a:xfrm>
            <a:prstGeom prst="roundRect">
              <a:avLst/>
            </a:prstGeom>
            <a:solidFill>
              <a:schemeClr val="accent5">
                <a:lumMod val="75000"/>
              </a:schemeClr>
            </a:solid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M</a:t>
              </a:r>
              <a:endParaRPr lang="zh-CN" altLang="en-US" sz="800" dirty="0"/>
            </a:p>
          </p:txBody>
        </p:sp>
        <p:grpSp>
          <p:nvGrpSpPr>
            <p:cNvPr id="65" name="组合 64">
              <a:extLst>
                <a:ext uri="{FF2B5EF4-FFF2-40B4-BE49-F238E27FC236}">
                  <a16:creationId xmlns:a16="http://schemas.microsoft.com/office/drawing/2014/main" id="{51A2A47A-15F0-850F-0481-4AC5491A0F5D}"/>
                </a:ext>
              </a:extLst>
            </p:cNvPr>
            <p:cNvGrpSpPr/>
            <p:nvPr/>
          </p:nvGrpSpPr>
          <p:grpSpPr>
            <a:xfrm>
              <a:off x="1995024" y="2101486"/>
              <a:ext cx="171450" cy="205361"/>
              <a:chOff x="1995024" y="2101486"/>
              <a:chExt cx="171450" cy="205361"/>
            </a:xfrm>
            <a:solidFill>
              <a:schemeClr val="accent5">
                <a:lumMod val="75000"/>
              </a:schemeClr>
            </a:solidFill>
          </p:grpSpPr>
          <p:sp>
            <p:nvSpPr>
              <p:cNvPr id="9" name="文本框 8">
                <a:extLst>
                  <a:ext uri="{FF2B5EF4-FFF2-40B4-BE49-F238E27FC236}">
                    <a16:creationId xmlns:a16="http://schemas.microsoft.com/office/drawing/2014/main" id="{DF15CAFE-F0F7-B80C-E5C6-EC50C6D5CA21}"/>
                  </a:ext>
                </a:extLst>
              </p:cNvPr>
              <p:cNvSpPr txBox="1"/>
              <p:nvPr/>
            </p:nvSpPr>
            <p:spPr>
              <a:xfrm>
                <a:off x="1995024" y="2140160"/>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C</a:t>
                </a:r>
                <a:endParaRPr lang="zh-CN" altLang="en-US" sz="800" dirty="0"/>
              </a:p>
            </p:txBody>
          </p:sp>
          <p:sp>
            <p:nvSpPr>
              <p:cNvPr id="44" name="等腰三角形 43">
                <a:extLst>
                  <a:ext uri="{FF2B5EF4-FFF2-40B4-BE49-F238E27FC236}">
                    <a16:creationId xmlns:a16="http://schemas.microsoft.com/office/drawing/2014/main" id="{0C9A4788-B3D2-5EEA-D280-171C8C47F17F}"/>
                  </a:ext>
                </a:extLst>
              </p:cNvPr>
              <p:cNvSpPr/>
              <p:nvPr/>
            </p:nvSpPr>
            <p:spPr>
              <a:xfrm>
                <a:off x="2052638"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endParaRPr lang="zh-CN" altLang="en-US" sz="800"/>
              </a:p>
            </p:txBody>
          </p:sp>
        </p:grpSp>
        <p:grpSp>
          <p:nvGrpSpPr>
            <p:cNvPr id="64" name="组合 63">
              <a:extLst>
                <a:ext uri="{FF2B5EF4-FFF2-40B4-BE49-F238E27FC236}">
                  <a16:creationId xmlns:a16="http://schemas.microsoft.com/office/drawing/2014/main" id="{DD3AA834-D176-26D3-03CA-5872A31FD33D}"/>
                </a:ext>
              </a:extLst>
            </p:cNvPr>
            <p:cNvGrpSpPr/>
            <p:nvPr/>
          </p:nvGrpSpPr>
          <p:grpSpPr>
            <a:xfrm>
              <a:off x="1676401" y="2101486"/>
              <a:ext cx="171450" cy="205361"/>
              <a:chOff x="1676401" y="2101486"/>
              <a:chExt cx="171450" cy="205361"/>
            </a:xfrm>
            <a:solidFill>
              <a:schemeClr val="accent5">
                <a:lumMod val="75000"/>
              </a:schemeClr>
            </a:solidFill>
          </p:grpSpPr>
          <p:sp>
            <p:nvSpPr>
              <p:cNvPr id="7" name="文本框 6">
                <a:extLst>
                  <a:ext uri="{FF2B5EF4-FFF2-40B4-BE49-F238E27FC236}">
                    <a16:creationId xmlns:a16="http://schemas.microsoft.com/office/drawing/2014/main" id="{D22787A0-65DB-9EBD-6A25-898958682114}"/>
                  </a:ext>
                </a:extLst>
              </p:cNvPr>
              <p:cNvSpPr txBox="1"/>
              <p:nvPr/>
            </p:nvSpPr>
            <p:spPr>
              <a:xfrm>
                <a:off x="1676401" y="2140160"/>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B</a:t>
                </a:r>
                <a:endParaRPr lang="zh-CN" altLang="en-US" sz="800" dirty="0"/>
              </a:p>
            </p:txBody>
          </p:sp>
          <p:sp>
            <p:nvSpPr>
              <p:cNvPr id="45" name="等腰三角形 44">
                <a:extLst>
                  <a:ext uri="{FF2B5EF4-FFF2-40B4-BE49-F238E27FC236}">
                    <a16:creationId xmlns:a16="http://schemas.microsoft.com/office/drawing/2014/main" id="{6C644E86-D55B-6FC8-1287-A54D59AEA3AB}"/>
                  </a:ext>
                </a:extLst>
              </p:cNvPr>
              <p:cNvSpPr/>
              <p:nvPr/>
            </p:nvSpPr>
            <p:spPr>
              <a:xfrm>
                <a:off x="1734576"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endParaRPr lang="zh-CN" altLang="en-US" sz="800"/>
              </a:p>
            </p:txBody>
          </p:sp>
        </p:grpSp>
        <p:grpSp>
          <p:nvGrpSpPr>
            <p:cNvPr id="63" name="组合 62">
              <a:extLst>
                <a:ext uri="{FF2B5EF4-FFF2-40B4-BE49-F238E27FC236}">
                  <a16:creationId xmlns:a16="http://schemas.microsoft.com/office/drawing/2014/main" id="{ED8C0473-FB25-D0E3-B713-FD79E2C503FA}"/>
                </a:ext>
              </a:extLst>
            </p:cNvPr>
            <p:cNvGrpSpPr/>
            <p:nvPr/>
          </p:nvGrpSpPr>
          <p:grpSpPr>
            <a:xfrm>
              <a:off x="1044112" y="2101486"/>
              <a:ext cx="171450" cy="205360"/>
              <a:chOff x="1044112" y="2101486"/>
              <a:chExt cx="171450" cy="205360"/>
            </a:xfrm>
            <a:solidFill>
              <a:schemeClr val="accent5">
                <a:lumMod val="75000"/>
              </a:schemeClr>
            </a:solidFill>
          </p:grpSpPr>
          <p:sp>
            <p:nvSpPr>
              <p:cNvPr id="36" name="文本框 35">
                <a:extLst>
                  <a:ext uri="{FF2B5EF4-FFF2-40B4-BE49-F238E27FC236}">
                    <a16:creationId xmlns:a16="http://schemas.microsoft.com/office/drawing/2014/main" id="{7EBF7B5B-1615-5AF6-FDA1-1364C7D256D1}"/>
                  </a:ext>
                </a:extLst>
              </p:cNvPr>
              <p:cNvSpPr txBox="1"/>
              <p:nvPr/>
            </p:nvSpPr>
            <p:spPr>
              <a:xfrm>
                <a:off x="1044112"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A</a:t>
                </a:r>
                <a:endParaRPr lang="zh-CN" altLang="en-US" sz="800" dirty="0"/>
              </a:p>
            </p:txBody>
          </p:sp>
          <p:sp>
            <p:nvSpPr>
              <p:cNvPr id="46" name="等腰三角形 45">
                <a:extLst>
                  <a:ext uri="{FF2B5EF4-FFF2-40B4-BE49-F238E27FC236}">
                    <a16:creationId xmlns:a16="http://schemas.microsoft.com/office/drawing/2014/main" id="{3754F976-6A75-503F-41B0-EBFC382EB0D7}"/>
                  </a:ext>
                </a:extLst>
              </p:cNvPr>
              <p:cNvSpPr/>
              <p:nvPr/>
            </p:nvSpPr>
            <p:spPr>
              <a:xfrm>
                <a:off x="1099478"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endParaRPr lang="zh-CN" altLang="en-US" sz="800"/>
              </a:p>
            </p:txBody>
          </p:sp>
        </p:grpSp>
        <p:grpSp>
          <p:nvGrpSpPr>
            <p:cNvPr id="66" name="组合 65">
              <a:extLst>
                <a:ext uri="{FF2B5EF4-FFF2-40B4-BE49-F238E27FC236}">
                  <a16:creationId xmlns:a16="http://schemas.microsoft.com/office/drawing/2014/main" id="{3304671B-35AD-52CB-592D-44DB14A82B76}"/>
                </a:ext>
              </a:extLst>
            </p:cNvPr>
            <p:cNvGrpSpPr/>
            <p:nvPr/>
          </p:nvGrpSpPr>
          <p:grpSpPr>
            <a:xfrm>
              <a:off x="2304122" y="2101486"/>
              <a:ext cx="171450" cy="205360"/>
              <a:chOff x="2304122" y="2101486"/>
              <a:chExt cx="171450" cy="205360"/>
            </a:xfrm>
            <a:solidFill>
              <a:schemeClr val="accent5">
                <a:lumMod val="75000"/>
              </a:schemeClr>
            </a:solidFill>
          </p:grpSpPr>
          <p:sp>
            <p:nvSpPr>
              <p:cNvPr id="10" name="文本框 9">
                <a:extLst>
                  <a:ext uri="{FF2B5EF4-FFF2-40B4-BE49-F238E27FC236}">
                    <a16:creationId xmlns:a16="http://schemas.microsoft.com/office/drawing/2014/main" id="{9C00AC23-1794-EFB6-7A61-AD928A7402A1}"/>
                  </a:ext>
                </a:extLst>
              </p:cNvPr>
              <p:cNvSpPr txBox="1"/>
              <p:nvPr/>
            </p:nvSpPr>
            <p:spPr>
              <a:xfrm>
                <a:off x="2304122"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D</a:t>
                </a:r>
                <a:endParaRPr lang="zh-CN" altLang="en-US" sz="800" dirty="0"/>
              </a:p>
            </p:txBody>
          </p:sp>
          <p:sp>
            <p:nvSpPr>
              <p:cNvPr id="47" name="等腰三角形 46">
                <a:extLst>
                  <a:ext uri="{FF2B5EF4-FFF2-40B4-BE49-F238E27FC236}">
                    <a16:creationId xmlns:a16="http://schemas.microsoft.com/office/drawing/2014/main" id="{794A4962-D76E-D681-222E-A96152E12007}"/>
                  </a:ext>
                </a:extLst>
              </p:cNvPr>
              <p:cNvSpPr/>
              <p:nvPr/>
            </p:nvSpPr>
            <p:spPr>
              <a:xfrm>
                <a:off x="2362297"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endParaRPr lang="zh-CN" altLang="en-US" sz="800"/>
              </a:p>
            </p:txBody>
          </p:sp>
        </p:grpSp>
        <p:grpSp>
          <p:nvGrpSpPr>
            <p:cNvPr id="67" name="组合 66">
              <a:extLst>
                <a:ext uri="{FF2B5EF4-FFF2-40B4-BE49-F238E27FC236}">
                  <a16:creationId xmlns:a16="http://schemas.microsoft.com/office/drawing/2014/main" id="{C16CEE7E-AB3F-091A-8F78-0CCE0646CA2E}"/>
                </a:ext>
              </a:extLst>
            </p:cNvPr>
            <p:cNvGrpSpPr/>
            <p:nvPr/>
          </p:nvGrpSpPr>
          <p:grpSpPr>
            <a:xfrm>
              <a:off x="2605747" y="2101486"/>
              <a:ext cx="171450" cy="205360"/>
              <a:chOff x="2605747" y="2101486"/>
              <a:chExt cx="171450" cy="205360"/>
            </a:xfrm>
            <a:solidFill>
              <a:schemeClr val="accent5">
                <a:lumMod val="75000"/>
              </a:schemeClr>
            </a:solidFill>
          </p:grpSpPr>
          <p:sp>
            <p:nvSpPr>
              <p:cNvPr id="12" name="文本框 11">
                <a:extLst>
                  <a:ext uri="{FF2B5EF4-FFF2-40B4-BE49-F238E27FC236}">
                    <a16:creationId xmlns:a16="http://schemas.microsoft.com/office/drawing/2014/main" id="{384891B4-EA16-672D-2769-19E71FBA323C}"/>
                  </a:ext>
                </a:extLst>
              </p:cNvPr>
              <p:cNvSpPr txBox="1"/>
              <p:nvPr/>
            </p:nvSpPr>
            <p:spPr>
              <a:xfrm>
                <a:off x="2605747"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E</a:t>
                </a:r>
                <a:endParaRPr lang="zh-CN" altLang="en-US" sz="800" dirty="0"/>
              </a:p>
            </p:txBody>
          </p:sp>
          <p:sp>
            <p:nvSpPr>
              <p:cNvPr id="48" name="等腰三角形 47">
                <a:extLst>
                  <a:ext uri="{FF2B5EF4-FFF2-40B4-BE49-F238E27FC236}">
                    <a16:creationId xmlns:a16="http://schemas.microsoft.com/office/drawing/2014/main" id="{EECF23E2-091F-5B03-52DC-7551DF621F81}"/>
                  </a:ext>
                </a:extLst>
              </p:cNvPr>
              <p:cNvSpPr/>
              <p:nvPr/>
            </p:nvSpPr>
            <p:spPr>
              <a:xfrm>
                <a:off x="2661528"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68" name="组合 67">
              <a:extLst>
                <a:ext uri="{FF2B5EF4-FFF2-40B4-BE49-F238E27FC236}">
                  <a16:creationId xmlns:a16="http://schemas.microsoft.com/office/drawing/2014/main" id="{83BB1B19-5D8B-AA71-ADC2-26AF2FB91A0A}"/>
                </a:ext>
              </a:extLst>
            </p:cNvPr>
            <p:cNvGrpSpPr/>
            <p:nvPr/>
          </p:nvGrpSpPr>
          <p:grpSpPr>
            <a:xfrm>
              <a:off x="2923247" y="2101486"/>
              <a:ext cx="171450" cy="205360"/>
              <a:chOff x="2923247" y="2101486"/>
              <a:chExt cx="171450" cy="205360"/>
            </a:xfrm>
            <a:solidFill>
              <a:schemeClr val="accent5">
                <a:lumMod val="75000"/>
              </a:schemeClr>
            </a:solidFill>
          </p:grpSpPr>
          <p:sp>
            <p:nvSpPr>
              <p:cNvPr id="15" name="文本框 14">
                <a:extLst>
                  <a:ext uri="{FF2B5EF4-FFF2-40B4-BE49-F238E27FC236}">
                    <a16:creationId xmlns:a16="http://schemas.microsoft.com/office/drawing/2014/main" id="{A4C1D26A-3E33-1BAF-AC2E-6FE904997D02}"/>
                  </a:ext>
                </a:extLst>
              </p:cNvPr>
              <p:cNvSpPr txBox="1"/>
              <p:nvPr/>
            </p:nvSpPr>
            <p:spPr>
              <a:xfrm>
                <a:off x="2923247"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F</a:t>
                </a:r>
                <a:endParaRPr lang="zh-CN" altLang="en-US" sz="800" dirty="0"/>
              </a:p>
            </p:txBody>
          </p:sp>
          <p:sp>
            <p:nvSpPr>
              <p:cNvPr id="49" name="等腰三角形 48">
                <a:extLst>
                  <a:ext uri="{FF2B5EF4-FFF2-40B4-BE49-F238E27FC236}">
                    <a16:creationId xmlns:a16="http://schemas.microsoft.com/office/drawing/2014/main" id="{50CE6585-8DD0-FCCF-B437-8EB082FC99F7}"/>
                  </a:ext>
                </a:extLst>
              </p:cNvPr>
              <p:cNvSpPr/>
              <p:nvPr/>
            </p:nvSpPr>
            <p:spPr>
              <a:xfrm>
                <a:off x="2982997"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69" name="组合 68">
              <a:extLst>
                <a:ext uri="{FF2B5EF4-FFF2-40B4-BE49-F238E27FC236}">
                  <a16:creationId xmlns:a16="http://schemas.microsoft.com/office/drawing/2014/main" id="{D70EED27-3FC5-CB95-1BEC-A4F6E7549074}"/>
                </a:ext>
              </a:extLst>
            </p:cNvPr>
            <p:cNvGrpSpPr/>
            <p:nvPr/>
          </p:nvGrpSpPr>
          <p:grpSpPr>
            <a:xfrm>
              <a:off x="3231222" y="2101486"/>
              <a:ext cx="171450" cy="205360"/>
              <a:chOff x="3231222" y="2101486"/>
              <a:chExt cx="171450" cy="205360"/>
            </a:xfrm>
            <a:solidFill>
              <a:schemeClr val="accent5">
                <a:lumMod val="75000"/>
              </a:schemeClr>
            </a:solidFill>
          </p:grpSpPr>
          <p:sp>
            <p:nvSpPr>
              <p:cNvPr id="19" name="文本框 18">
                <a:extLst>
                  <a:ext uri="{FF2B5EF4-FFF2-40B4-BE49-F238E27FC236}">
                    <a16:creationId xmlns:a16="http://schemas.microsoft.com/office/drawing/2014/main" id="{1E5B6574-4B3D-28B1-387F-04F979B6E42A}"/>
                  </a:ext>
                </a:extLst>
              </p:cNvPr>
              <p:cNvSpPr txBox="1"/>
              <p:nvPr/>
            </p:nvSpPr>
            <p:spPr>
              <a:xfrm>
                <a:off x="3231222"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G</a:t>
                </a:r>
                <a:endParaRPr lang="zh-CN" altLang="en-US" sz="800" dirty="0"/>
              </a:p>
            </p:txBody>
          </p:sp>
          <p:sp>
            <p:nvSpPr>
              <p:cNvPr id="50" name="等腰三角形 49">
                <a:extLst>
                  <a:ext uri="{FF2B5EF4-FFF2-40B4-BE49-F238E27FC236}">
                    <a16:creationId xmlns:a16="http://schemas.microsoft.com/office/drawing/2014/main" id="{7668102C-AFA0-0B45-4BDF-33C0970505AF}"/>
                  </a:ext>
                </a:extLst>
              </p:cNvPr>
              <p:cNvSpPr/>
              <p:nvPr/>
            </p:nvSpPr>
            <p:spPr>
              <a:xfrm>
                <a:off x="3285416"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0" name="组合 69">
              <a:extLst>
                <a:ext uri="{FF2B5EF4-FFF2-40B4-BE49-F238E27FC236}">
                  <a16:creationId xmlns:a16="http://schemas.microsoft.com/office/drawing/2014/main" id="{545DCA6C-FFF5-53F8-8EE2-4B7BAEEE344B}"/>
                </a:ext>
              </a:extLst>
            </p:cNvPr>
            <p:cNvGrpSpPr/>
            <p:nvPr/>
          </p:nvGrpSpPr>
          <p:grpSpPr>
            <a:xfrm>
              <a:off x="4961597" y="2101486"/>
              <a:ext cx="171450" cy="205360"/>
              <a:chOff x="4961597" y="2101486"/>
              <a:chExt cx="171450" cy="205360"/>
            </a:xfrm>
            <a:solidFill>
              <a:schemeClr val="accent5">
                <a:lumMod val="75000"/>
              </a:schemeClr>
            </a:solidFill>
          </p:grpSpPr>
          <p:sp>
            <p:nvSpPr>
              <p:cNvPr id="31" name="文本框 30">
                <a:extLst>
                  <a:ext uri="{FF2B5EF4-FFF2-40B4-BE49-F238E27FC236}">
                    <a16:creationId xmlns:a16="http://schemas.microsoft.com/office/drawing/2014/main" id="{1F12F473-ACEF-799B-493E-513DD34B86BA}"/>
                  </a:ext>
                </a:extLst>
              </p:cNvPr>
              <p:cNvSpPr txBox="1"/>
              <p:nvPr/>
            </p:nvSpPr>
            <p:spPr>
              <a:xfrm>
                <a:off x="4961597"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H</a:t>
                </a:r>
                <a:endParaRPr lang="zh-CN" altLang="en-US" sz="800" dirty="0"/>
              </a:p>
            </p:txBody>
          </p:sp>
          <p:sp>
            <p:nvSpPr>
              <p:cNvPr id="51" name="等腰三角形 50">
                <a:extLst>
                  <a:ext uri="{FF2B5EF4-FFF2-40B4-BE49-F238E27FC236}">
                    <a16:creationId xmlns:a16="http://schemas.microsoft.com/office/drawing/2014/main" id="{DA9C68EE-CF06-B75E-9A03-EA4196DF4D55}"/>
                  </a:ext>
                </a:extLst>
              </p:cNvPr>
              <p:cNvSpPr/>
              <p:nvPr/>
            </p:nvSpPr>
            <p:spPr>
              <a:xfrm>
                <a:off x="5021347"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1" name="组合 70">
              <a:extLst>
                <a:ext uri="{FF2B5EF4-FFF2-40B4-BE49-F238E27FC236}">
                  <a16:creationId xmlns:a16="http://schemas.microsoft.com/office/drawing/2014/main" id="{5B5D48CC-BB4B-34B5-298D-6777FBAF8113}"/>
                </a:ext>
              </a:extLst>
            </p:cNvPr>
            <p:cNvGrpSpPr/>
            <p:nvPr/>
          </p:nvGrpSpPr>
          <p:grpSpPr>
            <a:xfrm>
              <a:off x="5279097" y="2101486"/>
              <a:ext cx="171450" cy="205360"/>
              <a:chOff x="5279097" y="2101486"/>
              <a:chExt cx="171450" cy="205360"/>
            </a:xfrm>
            <a:solidFill>
              <a:schemeClr val="accent5">
                <a:lumMod val="75000"/>
              </a:schemeClr>
            </a:solidFill>
          </p:grpSpPr>
          <p:sp>
            <p:nvSpPr>
              <p:cNvPr id="32" name="文本框 31">
                <a:extLst>
                  <a:ext uri="{FF2B5EF4-FFF2-40B4-BE49-F238E27FC236}">
                    <a16:creationId xmlns:a16="http://schemas.microsoft.com/office/drawing/2014/main" id="{B4B6FBD9-74C8-597C-5CC4-65A623AF7EDE}"/>
                  </a:ext>
                </a:extLst>
              </p:cNvPr>
              <p:cNvSpPr txBox="1"/>
              <p:nvPr/>
            </p:nvSpPr>
            <p:spPr>
              <a:xfrm>
                <a:off x="5279097"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I</a:t>
                </a:r>
                <a:endParaRPr lang="zh-CN" altLang="en-US" sz="800" dirty="0"/>
              </a:p>
            </p:txBody>
          </p:sp>
          <p:sp>
            <p:nvSpPr>
              <p:cNvPr id="52" name="等腰三角形 51">
                <a:extLst>
                  <a:ext uri="{FF2B5EF4-FFF2-40B4-BE49-F238E27FC236}">
                    <a16:creationId xmlns:a16="http://schemas.microsoft.com/office/drawing/2014/main" id="{5B5FC13B-CBE0-94F6-C5FB-9A325FE94B5E}"/>
                  </a:ext>
                </a:extLst>
              </p:cNvPr>
              <p:cNvSpPr/>
              <p:nvPr/>
            </p:nvSpPr>
            <p:spPr>
              <a:xfrm>
                <a:off x="5335672"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2" name="组合 71">
              <a:extLst>
                <a:ext uri="{FF2B5EF4-FFF2-40B4-BE49-F238E27FC236}">
                  <a16:creationId xmlns:a16="http://schemas.microsoft.com/office/drawing/2014/main" id="{24D46CEB-5C8C-FF18-ABA2-D9221D84249A}"/>
                </a:ext>
              </a:extLst>
            </p:cNvPr>
            <p:cNvGrpSpPr/>
            <p:nvPr/>
          </p:nvGrpSpPr>
          <p:grpSpPr>
            <a:xfrm>
              <a:off x="5587072" y="2101486"/>
              <a:ext cx="171450" cy="205360"/>
              <a:chOff x="5587072" y="2101486"/>
              <a:chExt cx="171450" cy="205360"/>
            </a:xfrm>
            <a:solidFill>
              <a:schemeClr val="accent5">
                <a:lumMod val="75000"/>
              </a:schemeClr>
            </a:solidFill>
          </p:grpSpPr>
          <p:sp>
            <p:nvSpPr>
              <p:cNvPr id="33" name="文本框 32">
                <a:extLst>
                  <a:ext uri="{FF2B5EF4-FFF2-40B4-BE49-F238E27FC236}">
                    <a16:creationId xmlns:a16="http://schemas.microsoft.com/office/drawing/2014/main" id="{E3C77080-87C4-5EFB-5183-EA0D73F554DC}"/>
                  </a:ext>
                </a:extLst>
              </p:cNvPr>
              <p:cNvSpPr txBox="1"/>
              <p:nvPr/>
            </p:nvSpPr>
            <p:spPr>
              <a:xfrm>
                <a:off x="5587072"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J</a:t>
                </a:r>
                <a:endParaRPr lang="zh-CN" altLang="en-US" sz="800" dirty="0"/>
              </a:p>
            </p:txBody>
          </p:sp>
          <p:sp>
            <p:nvSpPr>
              <p:cNvPr id="53" name="等腰三角形 52">
                <a:extLst>
                  <a:ext uri="{FF2B5EF4-FFF2-40B4-BE49-F238E27FC236}">
                    <a16:creationId xmlns:a16="http://schemas.microsoft.com/office/drawing/2014/main" id="{F58F96D5-6B57-C197-1303-4EB9CFB2D3C5}"/>
                  </a:ext>
                </a:extLst>
              </p:cNvPr>
              <p:cNvSpPr/>
              <p:nvPr/>
            </p:nvSpPr>
            <p:spPr>
              <a:xfrm>
                <a:off x="5642853"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3" name="组合 72">
              <a:extLst>
                <a:ext uri="{FF2B5EF4-FFF2-40B4-BE49-F238E27FC236}">
                  <a16:creationId xmlns:a16="http://schemas.microsoft.com/office/drawing/2014/main" id="{132C51E3-8CB7-ABD3-3FF4-46C4577B486E}"/>
                </a:ext>
              </a:extLst>
            </p:cNvPr>
            <p:cNvGrpSpPr/>
            <p:nvPr/>
          </p:nvGrpSpPr>
          <p:grpSpPr>
            <a:xfrm>
              <a:off x="5895047" y="2101486"/>
              <a:ext cx="171450" cy="205360"/>
              <a:chOff x="5895047" y="2101486"/>
              <a:chExt cx="171450" cy="205360"/>
            </a:xfrm>
            <a:solidFill>
              <a:schemeClr val="accent5">
                <a:lumMod val="75000"/>
              </a:schemeClr>
            </a:solidFill>
          </p:grpSpPr>
          <p:sp>
            <p:nvSpPr>
              <p:cNvPr id="34" name="文本框 33">
                <a:extLst>
                  <a:ext uri="{FF2B5EF4-FFF2-40B4-BE49-F238E27FC236}">
                    <a16:creationId xmlns:a16="http://schemas.microsoft.com/office/drawing/2014/main" id="{5297DC1A-E25C-201B-AE65-9C043B76FDEF}"/>
                  </a:ext>
                </a:extLst>
              </p:cNvPr>
              <p:cNvSpPr txBox="1"/>
              <p:nvPr/>
            </p:nvSpPr>
            <p:spPr>
              <a:xfrm>
                <a:off x="5895047"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K</a:t>
                </a:r>
                <a:endParaRPr lang="zh-CN" altLang="en-US" sz="800" dirty="0"/>
              </a:p>
            </p:txBody>
          </p:sp>
          <p:sp>
            <p:nvSpPr>
              <p:cNvPr id="54" name="等腰三角形 53">
                <a:extLst>
                  <a:ext uri="{FF2B5EF4-FFF2-40B4-BE49-F238E27FC236}">
                    <a16:creationId xmlns:a16="http://schemas.microsoft.com/office/drawing/2014/main" id="{58E009E4-B935-AAF6-73D3-35E3F69CCDF7}"/>
                  </a:ext>
                </a:extLst>
              </p:cNvPr>
              <p:cNvSpPr/>
              <p:nvPr/>
            </p:nvSpPr>
            <p:spPr>
              <a:xfrm>
                <a:off x="5954796"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4" name="组合 73">
              <a:extLst>
                <a:ext uri="{FF2B5EF4-FFF2-40B4-BE49-F238E27FC236}">
                  <a16:creationId xmlns:a16="http://schemas.microsoft.com/office/drawing/2014/main" id="{35B3752B-2429-53FD-92D6-A85AFF6BDB57}"/>
                </a:ext>
              </a:extLst>
            </p:cNvPr>
            <p:cNvGrpSpPr/>
            <p:nvPr/>
          </p:nvGrpSpPr>
          <p:grpSpPr>
            <a:xfrm>
              <a:off x="6199846" y="2101486"/>
              <a:ext cx="171450" cy="205360"/>
              <a:chOff x="6199846" y="2101486"/>
              <a:chExt cx="171450" cy="205360"/>
            </a:xfrm>
            <a:solidFill>
              <a:schemeClr val="accent5">
                <a:lumMod val="75000"/>
              </a:schemeClr>
            </a:solidFill>
          </p:grpSpPr>
          <p:sp>
            <p:nvSpPr>
              <p:cNvPr id="35" name="文本框 34">
                <a:extLst>
                  <a:ext uri="{FF2B5EF4-FFF2-40B4-BE49-F238E27FC236}">
                    <a16:creationId xmlns:a16="http://schemas.microsoft.com/office/drawing/2014/main" id="{7D71B94D-E447-F317-F5E9-A632F65176A0}"/>
                  </a:ext>
                </a:extLst>
              </p:cNvPr>
              <p:cNvSpPr txBox="1"/>
              <p:nvPr/>
            </p:nvSpPr>
            <p:spPr>
              <a:xfrm>
                <a:off x="6199846" y="2140159"/>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L</a:t>
                </a:r>
              </a:p>
            </p:txBody>
          </p:sp>
          <p:sp>
            <p:nvSpPr>
              <p:cNvPr id="55" name="等腰三角形 54">
                <a:extLst>
                  <a:ext uri="{FF2B5EF4-FFF2-40B4-BE49-F238E27FC236}">
                    <a16:creationId xmlns:a16="http://schemas.microsoft.com/office/drawing/2014/main" id="{6FA08402-F9EA-F1E2-49DD-A3B7261FA399}"/>
                  </a:ext>
                </a:extLst>
              </p:cNvPr>
              <p:cNvSpPr/>
              <p:nvPr/>
            </p:nvSpPr>
            <p:spPr>
              <a:xfrm>
                <a:off x="6259596" y="2101486"/>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6" name="组合 75">
              <a:extLst>
                <a:ext uri="{FF2B5EF4-FFF2-40B4-BE49-F238E27FC236}">
                  <a16:creationId xmlns:a16="http://schemas.microsoft.com/office/drawing/2014/main" id="{B6D4B4A1-7507-14A8-4DC3-7BE2ECEF4CAF}"/>
                </a:ext>
              </a:extLst>
            </p:cNvPr>
            <p:cNvGrpSpPr/>
            <p:nvPr/>
          </p:nvGrpSpPr>
          <p:grpSpPr>
            <a:xfrm>
              <a:off x="5450547" y="5045854"/>
              <a:ext cx="171450" cy="207979"/>
              <a:chOff x="5450547" y="5045854"/>
              <a:chExt cx="171450" cy="207979"/>
            </a:xfrm>
            <a:solidFill>
              <a:schemeClr val="accent5">
                <a:lumMod val="75000"/>
              </a:schemeClr>
            </a:solidFill>
          </p:grpSpPr>
          <p:sp>
            <p:nvSpPr>
              <p:cNvPr id="40" name="文本框 39">
                <a:extLst>
                  <a:ext uri="{FF2B5EF4-FFF2-40B4-BE49-F238E27FC236}">
                    <a16:creationId xmlns:a16="http://schemas.microsoft.com/office/drawing/2014/main" id="{CB91E4E0-1DBC-C492-2F97-8C74E920A720}"/>
                  </a:ext>
                </a:extLst>
              </p:cNvPr>
              <p:cNvSpPr txBox="1"/>
              <p:nvPr/>
            </p:nvSpPr>
            <p:spPr>
              <a:xfrm>
                <a:off x="5450547" y="5045854"/>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R</a:t>
                </a:r>
                <a:endParaRPr lang="zh-CN" altLang="en-US" sz="800" dirty="0"/>
              </a:p>
            </p:txBody>
          </p:sp>
          <p:sp>
            <p:nvSpPr>
              <p:cNvPr id="57" name="等腰三角形 56">
                <a:extLst>
                  <a:ext uri="{FF2B5EF4-FFF2-40B4-BE49-F238E27FC236}">
                    <a16:creationId xmlns:a16="http://schemas.microsoft.com/office/drawing/2014/main" id="{4CA530B5-E3D4-EE99-86D7-E8E5D5D34EB4}"/>
                  </a:ext>
                </a:extLst>
              </p:cNvPr>
              <p:cNvSpPr/>
              <p:nvPr/>
            </p:nvSpPr>
            <p:spPr>
              <a:xfrm rot="10800000">
                <a:off x="5508722" y="5208114"/>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5" name="组合 74">
              <a:extLst>
                <a:ext uri="{FF2B5EF4-FFF2-40B4-BE49-F238E27FC236}">
                  <a16:creationId xmlns:a16="http://schemas.microsoft.com/office/drawing/2014/main" id="{59CE0CD2-A426-C145-0238-519ED24CF8EA}"/>
                </a:ext>
              </a:extLst>
            </p:cNvPr>
            <p:cNvGrpSpPr/>
            <p:nvPr/>
          </p:nvGrpSpPr>
          <p:grpSpPr>
            <a:xfrm>
              <a:off x="6199846" y="5045854"/>
              <a:ext cx="171450" cy="207979"/>
              <a:chOff x="6199846" y="5045854"/>
              <a:chExt cx="171450" cy="207979"/>
            </a:xfrm>
            <a:solidFill>
              <a:schemeClr val="accent5">
                <a:lumMod val="75000"/>
              </a:schemeClr>
            </a:solidFill>
          </p:grpSpPr>
          <p:sp>
            <p:nvSpPr>
              <p:cNvPr id="41" name="文本框 40">
                <a:extLst>
                  <a:ext uri="{FF2B5EF4-FFF2-40B4-BE49-F238E27FC236}">
                    <a16:creationId xmlns:a16="http://schemas.microsoft.com/office/drawing/2014/main" id="{A8416054-8402-5FCC-33F9-3BF9274DAF90}"/>
                  </a:ext>
                </a:extLst>
              </p:cNvPr>
              <p:cNvSpPr txBox="1"/>
              <p:nvPr/>
            </p:nvSpPr>
            <p:spPr>
              <a:xfrm>
                <a:off x="6199846" y="5045854"/>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S</a:t>
                </a:r>
                <a:endParaRPr lang="zh-CN" altLang="en-US" sz="800" dirty="0"/>
              </a:p>
            </p:txBody>
          </p:sp>
          <p:sp>
            <p:nvSpPr>
              <p:cNvPr id="58" name="等腰三角形 57">
                <a:extLst>
                  <a:ext uri="{FF2B5EF4-FFF2-40B4-BE49-F238E27FC236}">
                    <a16:creationId xmlns:a16="http://schemas.microsoft.com/office/drawing/2014/main" id="{F5429D6A-87AE-7C97-74FC-A9D169259245}"/>
                  </a:ext>
                </a:extLst>
              </p:cNvPr>
              <p:cNvSpPr/>
              <p:nvPr/>
            </p:nvSpPr>
            <p:spPr>
              <a:xfrm rot="10800000">
                <a:off x="6258021" y="5208114"/>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7" name="组合 76">
              <a:extLst>
                <a:ext uri="{FF2B5EF4-FFF2-40B4-BE49-F238E27FC236}">
                  <a16:creationId xmlns:a16="http://schemas.microsoft.com/office/drawing/2014/main" id="{2FF4993A-05E9-14ED-C8DF-3B7A39620A8A}"/>
                </a:ext>
              </a:extLst>
            </p:cNvPr>
            <p:cNvGrpSpPr/>
            <p:nvPr/>
          </p:nvGrpSpPr>
          <p:grpSpPr>
            <a:xfrm>
              <a:off x="4491038" y="5045854"/>
              <a:ext cx="171450" cy="207979"/>
              <a:chOff x="4491038" y="5045854"/>
              <a:chExt cx="171450" cy="207979"/>
            </a:xfrm>
            <a:solidFill>
              <a:schemeClr val="accent5">
                <a:lumMod val="75000"/>
              </a:schemeClr>
            </a:solidFill>
          </p:grpSpPr>
          <p:sp>
            <p:nvSpPr>
              <p:cNvPr id="39" name="文本框 38">
                <a:extLst>
                  <a:ext uri="{FF2B5EF4-FFF2-40B4-BE49-F238E27FC236}">
                    <a16:creationId xmlns:a16="http://schemas.microsoft.com/office/drawing/2014/main" id="{BD70887F-5E74-0900-0732-F2DDA99E4584}"/>
                  </a:ext>
                </a:extLst>
              </p:cNvPr>
              <p:cNvSpPr txBox="1"/>
              <p:nvPr/>
            </p:nvSpPr>
            <p:spPr>
              <a:xfrm>
                <a:off x="4491038" y="5045854"/>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Q</a:t>
                </a:r>
                <a:endParaRPr lang="zh-CN" altLang="en-US" sz="800" dirty="0"/>
              </a:p>
            </p:txBody>
          </p:sp>
          <p:sp>
            <p:nvSpPr>
              <p:cNvPr id="59" name="等腰三角形 58">
                <a:extLst>
                  <a:ext uri="{FF2B5EF4-FFF2-40B4-BE49-F238E27FC236}">
                    <a16:creationId xmlns:a16="http://schemas.microsoft.com/office/drawing/2014/main" id="{83292EDF-B6BE-FAEF-A361-0755CCE5B617}"/>
                  </a:ext>
                </a:extLst>
              </p:cNvPr>
              <p:cNvSpPr/>
              <p:nvPr/>
            </p:nvSpPr>
            <p:spPr>
              <a:xfrm rot="10800000">
                <a:off x="4549213" y="5208114"/>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8" name="组合 77">
              <a:extLst>
                <a:ext uri="{FF2B5EF4-FFF2-40B4-BE49-F238E27FC236}">
                  <a16:creationId xmlns:a16="http://schemas.microsoft.com/office/drawing/2014/main" id="{B238E1BA-41BD-5325-5518-5EE06A648784}"/>
                </a:ext>
              </a:extLst>
            </p:cNvPr>
            <p:cNvGrpSpPr/>
            <p:nvPr/>
          </p:nvGrpSpPr>
          <p:grpSpPr>
            <a:xfrm>
              <a:off x="1762126" y="5045854"/>
              <a:ext cx="171450" cy="207979"/>
              <a:chOff x="1762126" y="5045854"/>
              <a:chExt cx="171450" cy="207979"/>
            </a:xfrm>
            <a:solidFill>
              <a:schemeClr val="accent5">
                <a:lumMod val="75000"/>
              </a:schemeClr>
            </a:solidFill>
          </p:grpSpPr>
          <p:sp>
            <p:nvSpPr>
              <p:cNvPr id="38" name="文本框 37">
                <a:extLst>
                  <a:ext uri="{FF2B5EF4-FFF2-40B4-BE49-F238E27FC236}">
                    <a16:creationId xmlns:a16="http://schemas.microsoft.com/office/drawing/2014/main" id="{15EB46BC-FC61-AA69-3A23-7E28E804DAAF}"/>
                  </a:ext>
                </a:extLst>
              </p:cNvPr>
              <p:cNvSpPr txBox="1"/>
              <p:nvPr/>
            </p:nvSpPr>
            <p:spPr>
              <a:xfrm>
                <a:off x="1762126" y="5045854"/>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P</a:t>
                </a:r>
                <a:endParaRPr lang="zh-CN" altLang="en-US" sz="800" dirty="0"/>
              </a:p>
            </p:txBody>
          </p:sp>
          <p:sp>
            <p:nvSpPr>
              <p:cNvPr id="60" name="等腰三角形 59">
                <a:extLst>
                  <a:ext uri="{FF2B5EF4-FFF2-40B4-BE49-F238E27FC236}">
                    <a16:creationId xmlns:a16="http://schemas.microsoft.com/office/drawing/2014/main" id="{AD4272F8-B6C8-5748-5313-3DE93AE877C7}"/>
                  </a:ext>
                </a:extLst>
              </p:cNvPr>
              <p:cNvSpPr/>
              <p:nvPr/>
            </p:nvSpPr>
            <p:spPr>
              <a:xfrm rot="10800000">
                <a:off x="1821608" y="5208114"/>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79" name="组合 78">
              <a:extLst>
                <a:ext uri="{FF2B5EF4-FFF2-40B4-BE49-F238E27FC236}">
                  <a16:creationId xmlns:a16="http://schemas.microsoft.com/office/drawing/2014/main" id="{112C6C6C-BC08-C8F9-F5A3-B9D57611323C}"/>
                </a:ext>
              </a:extLst>
            </p:cNvPr>
            <p:cNvGrpSpPr/>
            <p:nvPr/>
          </p:nvGrpSpPr>
          <p:grpSpPr>
            <a:xfrm>
              <a:off x="1301752" y="5045853"/>
              <a:ext cx="171450" cy="207980"/>
              <a:chOff x="1301752" y="5045853"/>
              <a:chExt cx="171450" cy="207980"/>
            </a:xfrm>
            <a:solidFill>
              <a:schemeClr val="accent5">
                <a:lumMod val="75000"/>
              </a:schemeClr>
            </a:solidFill>
          </p:grpSpPr>
          <p:sp>
            <p:nvSpPr>
              <p:cNvPr id="43" name="文本框 42">
                <a:extLst>
                  <a:ext uri="{FF2B5EF4-FFF2-40B4-BE49-F238E27FC236}">
                    <a16:creationId xmlns:a16="http://schemas.microsoft.com/office/drawing/2014/main" id="{D0F6A915-605D-4489-6382-BC72EA81CAD0}"/>
                  </a:ext>
                </a:extLst>
              </p:cNvPr>
              <p:cNvSpPr txBox="1"/>
              <p:nvPr/>
            </p:nvSpPr>
            <p:spPr>
              <a:xfrm>
                <a:off x="1301752" y="5045853"/>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O</a:t>
                </a:r>
                <a:endParaRPr lang="zh-CN" altLang="en-US" sz="800" dirty="0"/>
              </a:p>
            </p:txBody>
          </p:sp>
          <p:sp>
            <p:nvSpPr>
              <p:cNvPr id="61" name="等腰三角形 60">
                <a:extLst>
                  <a:ext uri="{FF2B5EF4-FFF2-40B4-BE49-F238E27FC236}">
                    <a16:creationId xmlns:a16="http://schemas.microsoft.com/office/drawing/2014/main" id="{D1301AEA-D17D-3C42-9EF3-2C3B22AF3631}"/>
                  </a:ext>
                </a:extLst>
              </p:cNvPr>
              <p:cNvSpPr/>
              <p:nvPr/>
            </p:nvSpPr>
            <p:spPr>
              <a:xfrm rot="10800000">
                <a:off x="1361466" y="5208114"/>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nvGrpSpPr>
            <p:cNvPr id="80" name="组合 79">
              <a:extLst>
                <a:ext uri="{FF2B5EF4-FFF2-40B4-BE49-F238E27FC236}">
                  <a16:creationId xmlns:a16="http://schemas.microsoft.com/office/drawing/2014/main" id="{98DA90E6-7A76-6391-FE38-C1C67BC0094B}"/>
                </a:ext>
              </a:extLst>
            </p:cNvPr>
            <p:cNvGrpSpPr/>
            <p:nvPr/>
          </p:nvGrpSpPr>
          <p:grpSpPr>
            <a:xfrm>
              <a:off x="750489" y="4729163"/>
              <a:ext cx="171450" cy="210345"/>
              <a:chOff x="750489" y="4786313"/>
              <a:chExt cx="171450" cy="210345"/>
            </a:xfrm>
            <a:solidFill>
              <a:schemeClr val="accent5">
                <a:lumMod val="75000"/>
              </a:schemeClr>
            </a:solidFill>
          </p:grpSpPr>
          <p:sp>
            <p:nvSpPr>
              <p:cNvPr id="42" name="文本框 41">
                <a:extLst>
                  <a:ext uri="{FF2B5EF4-FFF2-40B4-BE49-F238E27FC236}">
                    <a16:creationId xmlns:a16="http://schemas.microsoft.com/office/drawing/2014/main" id="{5975470A-42F4-1FDE-A972-1E64EA4B0C51}"/>
                  </a:ext>
                </a:extLst>
              </p:cNvPr>
              <p:cNvSpPr txBox="1"/>
              <p:nvPr/>
            </p:nvSpPr>
            <p:spPr>
              <a:xfrm>
                <a:off x="750489" y="4786313"/>
                <a:ext cx="171450" cy="166687"/>
              </a:xfrm>
              <a:prstGeom prst="roundRect">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N</a:t>
                </a:r>
                <a:endParaRPr lang="zh-CN" altLang="en-US" sz="800" dirty="0"/>
              </a:p>
            </p:txBody>
          </p:sp>
          <p:sp>
            <p:nvSpPr>
              <p:cNvPr id="62" name="等腰三角形 61">
                <a:extLst>
                  <a:ext uri="{FF2B5EF4-FFF2-40B4-BE49-F238E27FC236}">
                    <a16:creationId xmlns:a16="http://schemas.microsoft.com/office/drawing/2014/main" id="{BC32FFF5-1273-69CD-E969-EDBB91DC4E63}"/>
                  </a:ext>
                </a:extLst>
              </p:cNvPr>
              <p:cNvSpPr/>
              <p:nvPr/>
            </p:nvSpPr>
            <p:spPr>
              <a:xfrm rot="10800000">
                <a:off x="808664" y="4950939"/>
                <a:ext cx="55099" cy="45719"/>
              </a:xfrm>
              <a:prstGeom prst="triangle">
                <a:avLst/>
              </a:prstGeom>
              <a:grpFill/>
              <a:ln>
                <a:noFill/>
              </a:ln>
            </p:spPr>
            <p:style>
              <a:lnRef idx="0">
                <a:scrgbClr r="0" g="0" b="0"/>
              </a:lnRef>
              <a:fillRef idx="0">
                <a:scrgbClr r="0" g="0" b="0"/>
              </a:fillRef>
              <a:effectRef idx="0">
                <a:scrgbClr r="0" g="0" b="0"/>
              </a:effectRef>
              <a:fontRef idx="minor">
                <a:schemeClr val="lt1"/>
              </a:fontRef>
            </p:style>
            <p:txBody>
              <a:bodyPr wrap="none" lIns="36000" tIns="36000" rIns="36000" bIns="36000" rtlCol="0" anchor="ctr" anchorCtr="1">
                <a:noAutofit/>
              </a:bodyPr>
              <a:lstStyle/>
              <a:p>
                <a:pPr algn="ctr"/>
                <a:r>
                  <a:rPr lang="en-US" altLang="zh-CN" sz="800" dirty="0"/>
                  <a:t> </a:t>
                </a:r>
                <a:endParaRPr lang="zh-CN" altLang="en-US" sz="800" dirty="0"/>
              </a:p>
            </p:txBody>
          </p:sp>
        </p:grpSp>
      </p:grpSp>
    </p:spTree>
    <p:extLst>
      <p:ext uri="{BB962C8B-B14F-4D97-AF65-F5344CB8AC3E}">
        <p14:creationId xmlns:p14="http://schemas.microsoft.com/office/powerpoint/2010/main" val="3130897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6FD5EF84-4410-3F3A-F5F2-142CC463D689}"/>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626BAF5-0C44-4F17-3C54-FA1368B26AD8}"/>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GraphView </a:t>
            </a:r>
            <a:r>
              <a:rPr lang="zh-CN" altLang="en-US" dirty="0"/>
              <a:t>节点</a:t>
            </a:r>
          </a:p>
        </p:txBody>
      </p:sp>
      <p:sp>
        <p:nvSpPr>
          <p:cNvPr id="6" name="文本框 5">
            <a:extLst>
              <a:ext uri="{FF2B5EF4-FFF2-40B4-BE49-F238E27FC236}">
                <a16:creationId xmlns:a16="http://schemas.microsoft.com/office/drawing/2014/main" id="{A7B7B774-95B7-BDDF-7748-D750B0137700}"/>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6" name="直接连接符 15">
            <a:extLst>
              <a:ext uri="{FF2B5EF4-FFF2-40B4-BE49-F238E27FC236}">
                <a16:creationId xmlns:a16="http://schemas.microsoft.com/office/drawing/2014/main" id="{86690D08-4A86-7B8D-3817-56D45288117A}"/>
              </a:ext>
            </a:extLst>
          </p:cNvPr>
          <p:cNvCxnSpPr>
            <a:cxnSpLocks/>
          </p:cNvCxnSpPr>
          <p:nvPr/>
        </p:nvCxnSpPr>
        <p:spPr>
          <a:xfrm>
            <a:off x="383778" y="5719883"/>
            <a:ext cx="5719761" cy="0"/>
          </a:xfrm>
          <a:prstGeom prst="line">
            <a:avLst/>
          </a:prstGeom>
          <a:ln>
            <a:solidFill>
              <a:schemeClr val="accent3">
                <a:alpha val="30000"/>
              </a:schemeClr>
            </a:solidFill>
          </a:ln>
        </p:spPr>
        <p:style>
          <a:lnRef idx="1">
            <a:schemeClr val="accent3"/>
          </a:lnRef>
          <a:fillRef idx="0">
            <a:schemeClr val="accent3"/>
          </a:fillRef>
          <a:effectRef idx="0">
            <a:schemeClr val="accent3"/>
          </a:effectRef>
          <a:fontRef idx="minor">
            <a:schemeClr val="tx1"/>
          </a:fontRef>
        </p:style>
      </p:cxnSp>
      <p:cxnSp>
        <p:nvCxnSpPr>
          <p:cNvPr id="18" name="直接连接符 17">
            <a:extLst>
              <a:ext uri="{FF2B5EF4-FFF2-40B4-BE49-F238E27FC236}">
                <a16:creationId xmlns:a16="http://schemas.microsoft.com/office/drawing/2014/main" id="{77879280-DF25-9D64-DE7D-0DE449DF0CE8}"/>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27" name="文本框 26">
            <a:extLst>
              <a:ext uri="{FF2B5EF4-FFF2-40B4-BE49-F238E27FC236}">
                <a16:creationId xmlns:a16="http://schemas.microsoft.com/office/drawing/2014/main" id="{A9764A9F-56F3-98F6-0D81-9C9EBF2A0D86}"/>
              </a:ext>
            </a:extLst>
          </p:cNvPr>
          <p:cNvSpPr txBox="1"/>
          <p:nvPr/>
        </p:nvSpPr>
        <p:spPr>
          <a:xfrm>
            <a:off x="383776" y="6408710"/>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节点组成介绍</a:t>
            </a:r>
          </a:p>
        </p:txBody>
      </p:sp>
      <p:pic>
        <p:nvPicPr>
          <p:cNvPr id="3" name="图片 2">
            <a:extLst>
              <a:ext uri="{FF2B5EF4-FFF2-40B4-BE49-F238E27FC236}">
                <a16:creationId xmlns:a16="http://schemas.microsoft.com/office/drawing/2014/main" id="{18D9745C-CEBD-D565-D9AA-2E1A80656646}"/>
              </a:ext>
            </a:extLst>
          </p:cNvPr>
          <p:cNvPicPr>
            <a:picLocks noChangeAspect="1"/>
          </p:cNvPicPr>
          <p:nvPr/>
        </p:nvPicPr>
        <p:blipFill>
          <a:blip r:embed="rId2"/>
          <a:stretch>
            <a:fillRect/>
          </a:stretch>
        </p:blipFill>
        <p:spPr>
          <a:xfrm>
            <a:off x="323560" y="1189283"/>
            <a:ext cx="6132116" cy="3783883"/>
          </a:xfrm>
          <a:prstGeom prst="rect">
            <a:avLst/>
          </a:prstGeom>
        </p:spPr>
      </p:pic>
      <p:sp>
        <p:nvSpPr>
          <p:cNvPr id="4" name="矩形: 圆角 3">
            <a:extLst>
              <a:ext uri="{FF2B5EF4-FFF2-40B4-BE49-F238E27FC236}">
                <a16:creationId xmlns:a16="http://schemas.microsoft.com/office/drawing/2014/main" id="{5C0469F0-2F0E-CFBD-7F1E-640E38059941}"/>
              </a:ext>
            </a:extLst>
          </p:cNvPr>
          <p:cNvSpPr/>
          <p:nvPr/>
        </p:nvSpPr>
        <p:spPr>
          <a:xfrm>
            <a:off x="704479" y="7124412"/>
            <a:ext cx="1568450" cy="614797"/>
          </a:xfrm>
          <a:prstGeom prst="roundRect">
            <a:avLst>
              <a:gd name="adj" fmla="val 6877"/>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rtlCol="0" anchor="ctr"/>
          <a:lstStyle/>
          <a:p>
            <a:pPr algn="ctr">
              <a:lnSpc>
                <a:spcPct val="200000"/>
              </a:lnSpc>
            </a:pPr>
            <a:r>
              <a:rPr lang="en-US" altLang="zh-CN" sz="1000" b="1" dirty="0">
                <a:solidFill>
                  <a:schemeClr val="tx1"/>
                </a:solidFill>
                <a:latin typeface="微软雅黑" panose="020B0503020204020204" pitchFamily="34" charset="-122"/>
                <a:ea typeface="微软雅黑" panose="020B0503020204020204" pitchFamily="34" charset="-122"/>
              </a:rPr>
              <a:t>xAction_Base</a:t>
            </a:r>
          </a:p>
          <a:p>
            <a:pPr algn="ctr">
              <a:lnSpc>
                <a:spcPct val="200000"/>
              </a:lnSpc>
            </a:pPr>
            <a:r>
              <a:rPr lang="zh-CN" altLang="en-US" sz="800" dirty="0">
                <a:solidFill>
                  <a:schemeClr val="tx1"/>
                </a:solidFill>
                <a:latin typeface="微软雅黑" panose="020B0503020204020204" pitchFamily="34" charset="-122"/>
                <a:ea typeface="微软雅黑" panose="020B0503020204020204" pitchFamily="34" charset="-122"/>
              </a:rPr>
              <a:t>行为数据类</a:t>
            </a:r>
            <a:endParaRPr lang="en-US" altLang="zh-CN" sz="800" dirty="0">
              <a:solidFill>
                <a:schemeClr val="tx1"/>
              </a:solidFill>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8D427B6A-1D63-B668-AADB-09AB4F1FC890}"/>
              </a:ext>
            </a:extLst>
          </p:cNvPr>
          <p:cNvSpPr/>
          <p:nvPr/>
        </p:nvSpPr>
        <p:spPr>
          <a:xfrm>
            <a:off x="2605747" y="7124411"/>
            <a:ext cx="1568450" cy="614797"/>
          </a:xfrm>
          <a:prstGeom prst="roundRect">
            <a:avLst>
              <a:gd name="adj" fmla="val 6877"/>
            </a:avLst>
          </a:prstGeom>
          <a:solidFill>
            <a:srgbClr val="FF9966"/>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xNode_Base</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行为视觉类</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F8FF841C-560E-9003-29AC-13DF392BF69C}"/>
              </a:ext>
            </a:extLst>
          </p:cNvPr>
          <p:cNvSpPr/>
          <p:nvPr/>
        </p:nvSpPr>
        <p:spPr>
          <a:xfrm>
            <a:off x="4511301" y="7124411"/>
            <a:ext cx="1568450" cy="614797"/>
          </a:xfrm>
          <a:prstGeom prst="roundRect">
            <a:avLst>
              <a:gd name="adj" fmla="val 6877"/>
            </a:avLst>
          </a:prstGeom>
          <a:solidFill>
            <a:schemeClr val="bg1">
              <a:lumMod val="85000"/>
            </a:schemeClr>
          </a:solidFill>
          <a:ln>
            <a:headEnd type="none" w="med" len="med"/>
            <a:tailEnd type="none" w="med" len="med"/>
          </a:ln>
        </p:spPr>
        <p:style>
          <a:lnRef idx="0">
            <a:schemeClr val="accent2"/>
          </a:lnRef>
          <a:fillRef idx="3">
            <a:schemeClr val="accent2"/>
          </a:fillRef>
          <a:effectRef idx="3">
            <a:schemeClr val="accent2"/>
          </a:effectRef>
          <a:fontRef idx="minor">
            <a:schemeClr val="lt1"/>
          </a:fontRef>
        </p:style>
        <p:txBody>
          <a:bodyPr rtlCol="0" anchor="ctr"/>
          <a:lstStyle/>
          <a:p>
            <a:pPr algn="ctr">
              <a:lnSpc>
                <a:spcPct val="200000"/>
              </a:lnSpc>
            </a:pPr>
            <a:r>
              <a:rPr lang="en-US" altLang="zh-CN" sz="1000" b="1" dirty="0">
                <a:solidFill>
                  <a:sysClr val="windowText" lastClr="000000"/>
                </a:solidFill>
                <a:latin typeface="微软雅黑" panose="020B0503020204020204" pitchFamily="34" charset="-122"/>
                <a:ea typeface="微软雅黑" panose="020B0503020204020204" pitchFamily="34" charset="-122"/>
              </a:rPr>
              <a:t>xAction_Asset</a:t>
            </a:r>
          </a:p>
          <a:p>
            <a:pPr algn="ctr">
              <a:lnSpc>
                <a:spcPct val="200000"/>
              </a:lnSpc>
            </a:pPr>
            <a:r>
              <a:rPr lang="zh-CN" altLang="en-US" sz="800" dirty="0">
                <a:solidFill>
                  <a:sysClr val="windowText" lastClr="000000"/>
                </a:solidFill>
                <a:latin typeface="微软雅黑" panose="020B0503020204020204" pitchFamily="34" charset="-122"/>
                <a:ea typeface="微软雅黑" panose="020B0503020204020204" pitchFamily="34" charset="-122"/>
              </a:rPr>
              <a:t>行为视觉类</a:t>
            </a:r>
            <a:endParaRPr lang="en-US" altLang="zh-CN" sz="800" dirty="0">
              <a:solidFill>
                <a:sysClr val="windowText" lastClr="00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2793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58379388-2855-ADB1-9DB6-2A224F8E37F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D5A9E246-B45D-48E8-6B1D-7A3B0336C867}"/>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GraphView </a:t>
            </a:r>
            <a:r>
              <a:rPr lang="zh-CN" altLang="en-US" dirty="0"/>
              <a:t>节点</a:t>
            </a:r>
          </a:p>
        </p:txBody>
      </p:sp>
      <p:sp>
        <p:nvSpPr>
          <p:cNvPr id="6" name="文本框 5">
            <a:extLst>
              <a:ext uri="{FF2B5EF4-FFF2-40B4-BE49-F238E27FC236}">
                <a16:creationId xmlns:a16="http://schemas.microsoft.com/office/drawing/2014/main" id="{145686CD-B95C-EA02-D89D-67AB434A6181}"/>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A9444A49-A5E6-BFE2-054F-489B45AF8BA9}"/>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C7C81C38-6590-C97B-37D7-38F9092C0318}"/>
              </a:ext>
            </a:extLst>
          </p:cNvPr>
          <p:cNvSpPr txBox="1"/>
          <p:nvPr/>
        </p:nvSpPr>
        <p:spPr>
          <a:xfrm>
            <a:off x="383776" y="4527986"/>
            <a:ext cx="6071900" cy="185727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xAction_Base</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定义了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类，是所有行为节点的基类，主要包含：</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节点的基本属性（如名称</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identifyName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、基础参数</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BaseArgs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丰富的回调事件，涵盖节点执行、主题色改变、变量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属性绑定与解绑、节点移动、尺寸改变等多种场景。</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节点执行方法（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）、设置父节点（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SetParentNode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）、设置根资源（</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SetActionAssetRoot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）等基础方法。</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内部变量的绑定（</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InternalVariableData_Bind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）与解绑相关逻辑，以及变量和属性数据的获取方法</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B52BA520-F462-5CF2-E6D3-9F9F1D7ECEFD}"/>
              </a:ext>
            </a:extLst>
          </p:cNvPr>
          <p:cNvSpPr txBox="1"/>
          <p:nvPr/>
        </p:nvSpPr>
        <p:spPr>
          <a:xfrm>
            <a:off x="383776" y="6959531"/>
            <a:ext cx="6071900" cy="185727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xNode_Base</a:t>
            </a:r>
          </a:p>
          <a:p>
            <a:pPr marL="171450" indent="-171450">
              <a:lnSpc>
                <a:spcPct val="200000"/>
              </a:lnSpc>
              <a:buFont typeface="Arial" panose="020B0604020202020204" pitchFamily="34" charset="0"/>
              <a:buChar char="•"/>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Node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类，是所有行为节点的基类，负责封装节点的通用功能，包括：</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节点的初始化、绘制与样式管理</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端口（输入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输出）的创建与连接</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交互事件（选中、拖拽、尺寸变化等）的处理</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数据绑定与同步（与底层行为数据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关联）</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1315A3FE-5658-8D94-23CF-66882C4B74EB}"/>
              </a:ext>
            </a:extLst>
          </p:cNvPr>
          <p:cNvSpPr txBox="1"/>
          <p:nvPr/>
        </p:nvSpPr>
        <p:spPr>
          <a:xfrm>
            <a:off x="383776" y="1152623"/>
            <a:ext cx="6071900" cy="2801095"/>
          </a:xfrm>
          <a:prstGeom prst="rect">
            <a:avLst/>
          </a:prstGeom>
          <a:noFill/>
        </p:spPr>
        <p:txBody>
          <a:bodyPr wrap="square" numCol="1" spcCol="360000" rtlCol="0">
            <a:noAutofit/>
          </a:bodyPr>
          <a:lstStyle/>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xAction_Asset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该文件定义了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类（继承自</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ScriptableObject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），是整个节点图系统的核心资源类，主要功能包括：</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存储节点图编辑器的基础参数（如窗口尺寸、视图位置和缩放等）、主题配置（背景、选择框主题）以及功能开关状态（黑板、属性面板显示等）。</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管理各类节点数据列表，包括行为节点（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）、便签（</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Sticks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）、标签（</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Labels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）、贴纸（</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Decals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）、编组（</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Groups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）和黑板变量（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BlackboardVariable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提供节点的创建、克隆、移除，子节点关系管理（添加、获取子节点），变量值的获取与更新，以及快照操作（添加、覆盖、丢弃快照）等方法。</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处理节点克隆时的子节点关系重建，确保克隆后的节点结构正确。</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实现变量数据的刷新与同步，保证节点间变量引用的一致性</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0390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1EB4FB34-49F9-D8F2-95BC-A0FF81E021A8}"/>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D889A9A4-B280-EF94-5525-CC77D03AB983}"/>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5091EFF9-2563-8BB6-DDC3-E8C4DE0E4F4B}"/>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8E7CAB86-340C-5C16-D944-CDC69322D43F}"/>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B6B745F0-DDD7-1853-EED5-5F60D6C02059}"/>
              </a:ext>
            </a:extLst>
          </p:cNvPr>
          <p:cNvSpPr txBox="1"/>
          <p:nvPr/>
        </p:nvSpPr>
        <p:spPr>
          <a:xfrm>
            <a:off x="383776" y="5370886"/>
            <a:ext cx="6071900" cy="209476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核心定位</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资源载体：</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作为独立的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资源文件（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.asset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），持久化存储整个节点图的所有数据（节点、变量、布局、样式），支持在项目中保存、复用、版本控制。</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数据中枢：</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集中管理所有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子类实例（行为节点、变量节点），以及编辑器视图的配置信息，是视图层（</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）与数据层（</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）的数据同步核心。</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功能管家：</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封装节点图的全局操作（如节点克隆、快照、布局恢复、数据重载），提供统一的接口供编辑器视图调用。</a:t>
            </a:r>
            <a:endParaRPr lang="en-US" altLang="zh-CN" sz="10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C314FDF0-EC70-F30D-2A6D-D3E09F096499}"/>
              </a:ext>
            </a:extLst>
          </p:cNvPr>
          <p:cNvSpPr txBox="1"/>
          <p:nvPr/>
        </p:nvSpPr>
        <p:spPr>
          <a:xfrm>
            <a:off x="383776" y="1152623"/>
            <a:ext cx="6071900" cy="973355"/>
          </a:xfrm>
          <a:prstGeom prst="rect">
            <a:avLst/>
          </a:prstGeom>
          <a:noFill/>
        </p:spPr>
        <p:txBody>
          <a:bodyPr wrap="square" numCol="1" spcCol="360000" rtlCol="0">
            <a:noAutofit/>
          </a:bodyPr>
          <a:lstStyle/>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是该节点可视化编辑工具的核心资源容器类，本质是继承自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ScriptableObject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的可序列化资源文件，负责统一管理所有节点数据、编辑器配置、视图状态及快照等全局信息，是连接「可视化视图（</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类）」与「业务数据（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及其子类）」的核心枢纽。以下从核心定位、核心属性、核心方法、协作逻辑、关键特性五个维度展开详细介绍：</a:t>
            </a:r>
          </a:p>
        </p:txBody>
      </p:sp>
      <p:sp>
        <p:nvSpPr>
          <p:cNvPr id="7" name="文本框 6">
            <a:extLst>
              <a:ext uri="{FF2B5EF4-FFF2-40B4-BE49-F238E27FC236}">
                <a16:creationId xmlns:a16="http://schemas.microsoft.com/office/drawing/2014/main" id="{E974D777-FCDD-6C44-E7E0-A95A7838E16C}"/>
              </a:ext>
            </a:extLst>
          </p:cNvPr>
          <p:cNvSpPr txBox="1"/>
          <p:nvPr/>
        </p:nvSpPr>
        <p:spPr>
          <a:xfrm>
            <a:off x="383776" y="7509449"/>
            <a:ext cx="6071900" cy="98351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核心属性（按功能分类）</a:t>
            </a: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的属性可分为「数据存储」「编辑器配置」「状态管理」三大类，均支持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序列化（可在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Inspector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面板编辑、持久化）：</a:t>
            </a:r>
            <a:endParaRPr lang="en-US" altLang="zh-CN" sz="10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F90C3990-70FF-0EFC-FE84-89BCF870B023}"/>
              </a:ext>
            </a:extLst>
          </p:cNvPr>
          <p:cNvSpPr txBox="1"/>
          <p:nvPr/>
        </p:nvSpPr>
        <p:spPr>
          <a:xfrm>
            <a:off x="393050" y="8619577"/>
            <a:ext cx="6071900" cy="922861"/>
          </a:xfrm>
          <a:prstGeom prst="rect">
            <a:avLst/>
          </a:prstGeom>
          <a:noFill/>
        </p:spPr>
        <p:txBody>
          <a:bodyPr wrap="square" numCol="1" spcCol="360000" rtlCol="0">
            <a:noAutofit/>
          </a:bodyPr>
          <a:lstStyle/>
          <a:p>
            <a:pPr>
              <a:lnSpc>
                <a:spcPct val="200000"/>
              </a:lnSpc>
            </a:pPr>
            <a:r>
              <a:rPr lang="en-US" altLang="zh-CN" sz="900" b="1" dirty="0">
                <a:solidFill>
                  <a:srgbClr val="FFC000"/>
                </a:solidFill>
                <a:latin typeface="微软雅黑" panose="020B0503020204020204" pitchFamily="34" charset="-122"/>
                <a:ea typeface="微软雅黑" panose="020B0503020204020204" pitchFamily="34" charset="-122"/>
              </a:rPr>
              <a:t>xAction_Asset </a:t>
            </a:r>
            <a:r>
              <a:rPr lang="zh-CN" altLang="en-US" sz="900" b="1" dirty="0">
                <a:solidFill>
                  <a:srgbClr val="FFC000"/>
                </a:solidFill>
                <a:latin typeface="微软雅黑" panose="020B0503020204020204" pitchFamily="34" charset="-122"/>
                <a:ea typeface="微软雅黑" panose="020B0503020204020204" pitchFamily="34" charset="-122"/>
              </a:rPr>
              <a:t>是整个节点可视化工具的 “数据大脑”，既承担了所有节点数据、编辑器配置的持久化存储职责，又提供了全局的节点管理、快照、同步接口，是连接视图层与数据层的核心桥梁。其设计核心是 “统一管理、持久化、可回溯”，确保节点图的编辑状态可保存、可复用、可恢复，同时降低视图与数据的耦合度</a:t>
            </a:r>
            <a:endParaRPr lang="en-US" altLang="zh-CN" sz="900" b="1" dirty="0">
              <a:solidFill>
                <a:srgbClr val="FFC000"/>
              </a:solidFill>
              <a:latin typeface="微软雅黑" panose="020B0503020204020204" pitchFamily="34" charset="-122"/>
              <a:ea typeface="微软雅黑" panose="020B0503020204020204" pitchFamily="34" charset="-122"/>
            </a:endParaRPr>
          </a:p>
        </p:txBody>
      </p:sp>
      <p:pic>
        <p:nvPicPr>
          <p:cNvPr id="12" name="图片 11" descr="文本">
            <a:extLst>
              <a:ext uri="{FF2B5EF4-FFF2-40B4-BE49-F238E27FC236}">
                <a16:creationId xmlns:a16="http://schemas.microsoft.com/office/drawing/2014/main" id="{A670F7AB-BB9F-CBAE-C37D-72ADE4B72F23}"/>
              </a:ext>
            </a:extLst>
          </p:cNvPr>
          <p:cNvPicPr>
            <a:picLocks noChangeAspect="1"/>
          </p:cNvPicPr>
          <p:nvPr/>
        </p:nvPicPr>
        <p:blipFill>
          <a:blip r:embed="rId2"/>
          <a:stretch>
            <a:fillRect/>
          </a:stretch>
        </p:blipFill>
        <p:spPr>
          <a:xfrm>
            <a:off x="1937711" y="2403790"/>
            <a:ext cx="2982578" cy="3026256"/>
          </a:xfrm>
          <a:prstGeom prst="rect">
            <a:avLst/>
          </a:prstGeom>
        </p:spPr>
      </p:pic>
    </p:spTree>
    <p:extLst>
      <p:ext uri="{BB962C8B-B14F-4D97-AF65-F5344CB8AC3E}">
        <p14:creationId xmlns:p14="http://schemas.microsoft.com/office/powerpoint/2010/main" val="3695372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C4618993-6B0E-F9D7-F5CC-3A6A7E1D62A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CB8DD7D-FCC7-734F-C96C-5B6104B9F2F8}"/>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4CE8EA82-6D77-2049-F26A-7FBDA327BA64}"/>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2737EFB5-0EDC-EA42-6676-ED63C826CD3F}"/>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graphicFrame>
        <p:nvGraphicFramePr>
          <p:cNvPr id="8" name="表格 7">
            <a:extLst>
              <a:ext uri="{FF2B5EF4-FFF2-40B4-BE49-F238E27FC236}">
                <a16:creationId xmlns:a16="http://schemas.microsoft.com/office/drawing/2014/main" id="{EED89FA5-E17F-F8A2-DB49-A71313E2B29C}"/>
              </a:ext>
            </a:extLst>
          </p:cNvPr>
          <p:cNvGraphicFramePr>
            <a:graphicFrameLocks noGrp="1"/>
          </p:cNvGraphicFramePr>
          <p:nvPr>
            <p:extLst>
              <p:ext uri="{D42A27DB-BD31-4B8C-83A1-F6EECF244321}">
                <p14:modId xmlns:p14="http://schemas.microsoft.com/office/powerpoint/2010/main" val="3381788518"/>
              </p:ext>
            </p:extLst>
          </p:nvPr>
        </p:nvGraphicFramePr>
        <p:xfrm>
          <a:off x="549000" y="1216678"/>
          <a:ext cx="5760000" cy="8323248"/>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2227428664"/>
                    </a:ext>
                  </a:extLst>
                </a:gridCol>
                <a:gridCol w="1920000">
                  <a:extLst>
                    <a:ext uri="{9D8B030D-6E8A-4147-A177-3AD203B41FA5}">
                      <a16:colId xmlns:a16="http://schemas.microsoft.com/office/drawing/2014/main" val="1505738699"/>
                    </a:ext>
                  </a:extLst>
                </a:gridCol>
                <a:gridCol w="1920000">
                  <a:extLst>
                    <a:ext uri="{9D8B030D-6E8A-4147-A177-3AD203B41FA5}">
                      <a16:colId xmlns:a16="http://schemas.microsoft.com/office/drawing/2014/main" val="3053709884"/>
                    </a:ext>
                  </a:extLst>
                </a:gridCol>
              </a:tblGrid>
              <a:tr h="392624">
                <a:tc>
                  <a:txBody>
                    <a:bodyPr/>
                    <a:lstStyle/>
                    <a:p>
                      <a:pPr algn="ctr">
                        <a:buNone/>
                      </a:pPr>
                      <a:r>
                        <a:rPr lang="zh-CN" altLang="en-US" sz="1000" b="1" dirty="0">
                          <a:effectLst/>
                        </a:rPr>
                        <a:t>分类</a:t>
                      </a:r>
                    </a:p>
                  </a:txBody>
                  <a:tcPr marL="67762" marR="67762" marT="33881" marB="33881" anchor="ctr">
                    <a:solidFill>
                      <a:schemeClr val="bg2">
                        <a:lumMod val="10000"/>
                      </a:schemeClr>
                    </a:solidFill>
                  </a:tcPr>
                </a:tc>
                <a:tc>
                  <a:txBody>
                    <a:bodyPr/>
                    <a:lstStyle/>
                    <a:p>
                      <a:pPr algn="ctr">
                        <a:buNone/>
                      </a:pPr>
                      <a:r>
                        <a:rPr lang="zh-CN" altLang="en-US" sz="1000" b="1" dirty="0">
                          <a:effectLst/>
                        </a:rPr>
                        <a:t>核心属性</a:t>
                      </a:r>
                    </a:p>
                  </a:txBody>
                  <a:tcPr marL="67762" marR="67762" marT="33881" marB="33881" anchor="ctr">
                    <a:solidFill>
                      <a:schemeClr val="bg2">
                        <a:lumMod val="10000"/>
                      </a:schemeClr>
                    </a:solidFill>
                  </a:tcPr>
                </a:tc>
                <a:tc>
                  <a:txBody>
                    <a:bodyPr/>
                    <a:lstStyle/>
                    <a:p>
                      <a:pPr algn="ctr">
                        <a:buNone/>
                      </a:pPr>
                      <a:r>
                        <a:rPr lang="zh-CN" altLang="en-US" sz="1000" b="1" dirty="0">
                          <a:effectLst/>
                        </a:rPr>
                        <a:t>作用说明</a:t>
                      </a:r>
                    </a:p>
                  </a:txBody>
                  <a:tcPr marL="67762" marR="67762" marT="33881" marB="33881" anchor="ctr">
                    <a:solidFill>
                      <a:schemeClr val="bg2">
                        <a:lumMod val="10000"/>
                      </a:schemeClr>
                    </a:solidFill>
                  </a:tcPr>
                </a:tc>
                <a:extLst>
                  <a:ext uri="{0D108BD9-81ED-4DB2-BD59-A6C34878D82A}">
                    <a16:rowId xmlns:a16="http://schemas.microsoft.com/office/drawing/2014/main" val="975511192"/>
                  </a:ext>
                </a:extLst>
              </a:tr>
              <a:tr h="610048">
                <a:tc rowSpan="5">
                  <a:txBody>
                    <a:bodyPr/>
                    <a:lstStyle/>
                    <a:p>
                      <a:pPr algn="ctr">
                        <a:buNone/>
                      </a:pPr>
                      <a:r>
                        <a:rPr lang="zh-CN" altLang="en-US" sz="900" b="0" dirty="0">
                          <a:effectLst/>
                        </a:rPr>
                        <a:t>数据存储</a:t>
                      </a:r>
                    </a:p>
                  </a:txBody>
                  <a:tcPr marL="67762" marR="67762" marT="33881" marB="33881" anchor="ctr">
                    <a:solidFill>
                      <a:schemeClr val="bg2">
                        <a:lumMod val="10000"/>
                      </a:schemeClr>
                    </a:solidFill>
                  </a:tcPr>
                </a:tc>
                <a:tc>
                  <a:txBody>
                    <a:bodyPr/>
                    <a:lstStyle/>
                    <a:p>
                      <a:pPr algn="ctr">
                        <a:buNone/>
                      </a:pPr>
                      <a:r>
                        <a:rPr lang="en-US" sz="900" b="0" dirty="0">
                          <a:effectLst/>
                        </a:rPr>
                        <a:t>List&lt;xAction_Base&gt; actions</a:t>
                      </a:r>
                    </a:p>
                  </a:txBody>
                  <a:tcPr marL="67762" marR="67762" marT="33881" marB="33881" anchor="ctr">
                    <a:solidFill>
                      <a:schemeClr val="bg2">
                        <a:lumMod val="10000"/>
                      </a:schemeClr>
                    </a:solidFill>
                  </a:tcPr>
                </a:tc>
                <a:tc>
                  <a:txBody>
                    <a:bodyPr/>
                    <a:lstStyle/>
                    <a:p>
                      <a:pPr algn="ctr">
                        <a:buNone/>
                      </a:pPr>
                      <a:r>
                        <a:rPr lang="zh-CN" altLang="en-US" sz="900" b="0" dirty="0">
                          <a:effectLst/>
                        </a:rPr>
                        <a:t>存储所有行为节点数据（分支、调试、等待等 </a:t>
                      </a:r>
                      <a:r>
                        <a:rPr lang="en-US" altLang="zh-CN" sz="900" b="0" dirty="0">
                          <a:effectLst/>
                        </a:rPr>
                        <a:t>xAction_Base </a:t>
                      </a:r>
                      <a:r>
                        <a:rPr lang="zh-CN" altLang="en-US" sz="900" b="0" dirty="0">
                          <a:effectLst/>
                        </a:rPr>
                        <a:t>子类实例）</a:t>
                      </a:r>
                    </a:p>
                  </a:txBody>
                  <a:tcPr marL="67762" marR="67762" marT="33881" marB="33881" anchor="ctr">
                    <a:solidFill>
                      <a:schemeClr val="bg2">
                        <a:lumMod val="10000"/>
                      </a:schemeClr>
                    </a:solidFill>
                  </a:tcPr>
                </a:tc>
                <a:extLst>
                  <a:ext uri="{0D108BD9-81ED-4DB2-BD59-A6C34878D82A}">
                    <a16:rowId xmlns:a16="http://schemas.microsoft.com/office/drawing/2014/main" val="855910597"/>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List&lt;xAction_Variable&gt; variables</a:t>
                      </a:r>
                    </a:p>
                  </a:txBody>
                  <a:tcPr marL="67762" marR="67762" marT="33881" marB="33881" anchor="ctr">
                    <a:solidFill>
                      <a:schemeClr val="bg2">
                        <a:lumMod val="10000"/>
                      </a:schemeClr>
                    </a:solidFill>
                  </a:tcPr>
                </a:tc>
                <a:tc>
                  <a:txBody>
                    <a:bodyPr/>
                    <a:lstStyle/>
                    <a:p>
                      <a:pPr algn="ctr">
                        <a:buNone/>
                      </a:pPr>
                      <a:r>
                        <a:rPr lang="zh-CN" altLang="en-US" sz="900" b="0">
                          <a:effectLst/>
                        </a:rPr>
                        <a:t>存储所有变量节点数据（独立管理变量节点，便于黑板视图快速检索）</a:t>
                      </a:r>
                    </a:p>
                  </a:txBody>
                  <a:tcPr marL="67762" marR="67762" marT="33881" marB="33881" anchor="ctr">
                    <a:solidFill>
                      <a:schemeClr val="bg2">
                        <a:lumMod val="10000"/>
                      </a:schemeClr>
                    </a:solidFill>
                  </a:tcPr>
                </a:tc>
                <a:extLst>
                  <a:ext uri="{0D108BD9-81ED-4DB2-BD59-A6C34878D82A}">
                    <a16:rowId xmlns:a16="http://schemas.microsoft.com/office/drawing/2014/main" val="1135441218"/>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List&lt;xNode_GroupData&gt; groups</a:t>
                      </a:r>
                    </a:p>
                  </a:txBody>
                  <a:tcPr marL="67762" marR="67762" marT="33881" marB="33881" anchor="ctr">
                    <a:solidFill>
                      <a:schemeClr val="bg2">
                        <a:lumMod val="10000"/>
                      </a:schemeClr>
                    </a:solidFill>
                  </a:tcPr>
                </a:tc>
                <a:tc>
                  <a:txBody>
                    <a:bodyPr/>
                    <a:lstStyle/>
                    <a:p>
                      <a:pPr algn="ctr">
                        <a:buNone/>
                      </a:pPr>
                      <a:r>
                        <a:rPr lang="zh-CN" altLang="en-US" sz="900" b="0" dirty="0">
                          <a:effectLst/>
                        </a:rPr>
                        <a:t>存储节点编组数据（编组名称、位置、包含的节点 </a:t>
                      </a:r>
                      <a:r>
                        <a:rPr lang="en-US" altLang="zh-CN" sz="900" b="0" dirty="0">
                          <a:effectLst/>
                        </a:rPr>
                        <a:t>GUID</a:t>
                      </a:r>
                      <a:r>
                        <a:rPr lang="zh-CN" altLang="en-US" sz="900" b="0" dirty="0">
                          <a:effectLst/>
                        </a:rPr>
                        <a:t>、折叠状态）</a:t>
                      </a:r>
                    </a:p>
                  </a:txBody>
                  <a:tcPr marL="67762" marR="67762" marT="33881" marB="33881" anchor="ctr">
                    <a:solidFill>
                      <a:schemeClr val="bg2">
                        <a:lumMod val="10000"/>
                      </a:schemeClr>
                    </a:solidFill>
                  </a:tcPr>
                </a:tc>
                <a:extLst>
                  <a:ext uri="{0D108BD9-81ED-4DB2-BD59-A6C34878D82A}">
                    <a16:rowId xmlns:a16="http://schemas.microsoft.com/office/drawing/2014/main" val="1319145215"/>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List&lt;xAction_StickData&gt; sticks</a:t>
                      </a:r>
                    </a:p>
                  </a:txBody>
                  <a:tcPr marL="67762" marR="67762" marT="33881" marB="33881" anchor="ctr">
                    <a:solidFill>
                      <a:schemeClr val="bg2">
                        <a:lumMod val="10000"/>
                      </a:schemeClr>
                    </a:solidFill>
                  </a:tcPr>
                </a:tc>
                <a:tc>
                  <a:txBody>
                    <a:bodyPr/>
                    <a:lstStyle/>
                    <a:p>
                      <a:pPr algn="ctr">
                        <a:buNone/>
                      </a:pPr>
                      <a:r>
                        <a:rPr lang="zh-CN" altLang="en-US" sz="900" b="0">
                          <a:effectLst/>
                        </a:rPr>
                        <a:t>存储便签节点数据（文本、位置、尺寸、样式）</a:t>
                      </a:r>
                    </a:p>
                  </a:txBody>
                  <a:tcPr marL="67762" marR="67762" marT="33881" marB="33881" anchor="ctr">
                    <a:solidFill>
                      <a:schemeClr val="bg2">
                        <a:lumMod val="10000"/>
                      </a:schemeClr>
                    </a:solidFill>
                  </a:tcPr>
                </a:tc>
                <a:extLst>
                  <a:ext uri="{0D108BD9-81ED-4DB2-BD59-A6C34878D82A}">
                    <a16:rowId xmlns:a16="http://schemas.microsoft.com/office/drawing/2014/main" val="3588850288"/>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List&lt;xAction_LabelData&gt; labels</a:t>
                      </a:r>
                    </a:p>
                  </a:txBody>
                  <a:tcPr marL="67762" marR="67762" marT="33881" marB="33881" anchor="ctr">
                    <a:solidFill>
                      <a:schemeClr val="bg2">
                        <a:lumMod val="10000"/>
                      </a:schemeClr>
                    </a:solidFill>
                  </a:tcPr>
                </a:tc>
                <a:tc>
                  <a:txBody>
                    <a:bodyPr/>
                    <a:lstStyle/>
                    <a:p>
                      <a:pPr algn="ctr">
                        <a:buNone/>
                      </a:pPr>
                      <a:r>
                        <a:rPr lang="zh-CN" altLang="en-US" sz="900" b="0">
                          <a:effectLst/>
                        </a:rPr>
                        <a:t>存储标签节点数据（文本、字体、颜色、位置）</a:t>
                      </a:r>
                    </a:p>
                  </a:txBody>
                  <a:tcPr marL="67762" marR="67762" marT="33881" marB="33881" anchor="ctr">
                    <a:solidFill>
                      <a:schemeClr val="bg2">
                        <a:lumMod val="10000"/>
                      </a:schemeClr>
                    </a:solidFill>
                  </a:tcPr>
                </a:tc>
                <a:extLst>
                  <a:ext uri="{0D108BD9-81ED-4DB2-BD59-A6C34878D82A}">
                    <a16:rowId xmlns:a16="http://schemas.microsoft.com/office/drawing/2014/main" val="1684454763"/>
                  </a:ext>
                </a:extLst>
              </a:tr>
              <a:tr h="610048">
                <a:tc rowSpan="5">
                  <a:txBody>
                    <a:bodyPr/>
                    <a:lstStyle/>
                    <a:p>
                      <a:pPr algn="ctr">
                        <a:buNone/>
                      </a:pPr>
                      <a:r>
                        <a:rPr lang="zh-CN" altLang="en-US" sz="900" b="0" dirty="0">
                          <a:effectLst/>
                        </a:rPr>
                        <a:t>编辑器配置</a:t>
                      </a:r>
                    </a:p>
                  </a:txBody>
                  <a:tcPr marL="67762" marR="67762" marT="33881" marB="33881" anchor="ctr">
                    <a:solidFill>
                      <a:schemeClr val="bg2">
                        <a:lumMod val="10000"/>
                      </a:schemeClr>
                    </a:solidFill>
                  </a:tcPr>
                </a:tc>
                <a:tc>
                  <a:txBody>
                    <a:bodyPr/>
                    <a:lstStyle/>
                    <a:p>
                      <a:pPr algn="ctr">
                        <a:buNone/>
                      </a:pPr>
                      <a:r>
                        <a:rPr lang="en-US" sz="900" b="0" dirty="0">
                          <a:effectLst/>
                        </a:rPr>
                        <a:t>Vector2 graphViewPos</a:t>
                      </a:r>
                    </a:p>
                  </a:txBody>
                  <a:tcPr marL="67762" marR="67762" marT="33881" marB="33881" anchor="ctr">
                    <a:solidFill>
                      <a:schemeClr val="bg2">
                        <a:lumMod val="10000"/>
                      </a:schemeClr>
                    </a:solidFill>
                  </a:tcPr>
                </a:tc>
                <a:tc>
                  <a:txBody>
                    <a:bodyPr/>
                    <a:lstStyle/>
                    <a:p>
                      <a:pPr algn="ctr">
                        <a:buNone/>
                      </a:pPr>
                      <a:r>
                        <a:rPr lang="zh-CN" altLang="en-US" sz="900" b="0">
                          <a:effectLst/>
                        </a:rPr>
                        <a:t>节点画布视图的偏移位置（恢复编辑器时还原视图位置）</a:t>
                      </a:r>
                    </a:p>
                  </a:txBody>
                  <a:tcPr marL="67762" marR="67762" marT="33881" marB="33881" anchor="ctr">
                    <a:solidFill>
                      <a:schemeClr val="bg2">
                        <a:lumMod val="10000"/>
                      </a:schemeClr>
                    </a:solidFill>
                  </a:tcPr>
                </a:tc>
                <a:extLst>
                  <a:ext uri="{0D108BD9-81ED-4DB2-BD59-A6C34878D82A}">
                    <a16:rowId xmlns:a16="http://schemas.microsoft.com/office/drawing/2014/main" val="2281516520"/>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float graphViewScale</a:t>
                      </a:r>
                    </a:p>
                  </a:txBody>
                  <a:tcPr marL="67762" marR="67762" marT="33881" marB="33881" anchor="ctr">
                    <a:solidFill>
                      <a:schemeClr val="bg2">
                        <a:lumMod val="10000"/>
                      </a:schemeClr>
                    </a:solidFill>
                  </a:tcPr>
                </a:tc>
                <a:tc>
                  <a:txBody>
                    <a:bodyPr/>
                    <a:lstStyle/>
                    <a:p>
                      <a:pPr algn="ctr">
                        <a:buNone/>
                      </a:pPr>
                      <a:r>
                        <a:rPr lang="zh-CN" altLang="en-US" sz="900" b="0">
                          <a:effectLst/>
                        </a:rPr>
                        <a:t>节点画布的缩放比例（持久化视图缩放状态）</a:t>
                      </a:r>
                    </a:p>
                  </a:txBody>
                  <a:tcPr marL="67762" marR="67762" marT="33881" marB="33881" anchor="ctr">
                    <a:solidFill>
                      <a:schemeClr val="bg2">
                        <a:lumMod val="10000"/>
                      </a:schemeClr>
                    </a:solidFill>
                  </a:tcPr>
                </a:tc>
                <a:extLst>
                  <a:ext uri="{0D108BD9-81ED-4DB2-BD59-A6C34878D82A}">
                    <a16:rowId xmlns:a16="http://schemas.microsoft.com/office/drawing/2014/main" val="3496096524"/>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EditorThemeConfig themeConfig</a:t>
                      </a:r>
                    </a:p>
                  </a:txBody>
                  <a:tcPr marL="67762" marR="67762" marT="33881" marB="33881" anchor="ctr">
                    <a:solidFill>
                      <a:schemeClr val="bg2">
                        <a:lumMod val="10000"/>
                      </a:schemeClr>
                    </a:solidFill>
                  </a:tcPr>
                </a:tc>
                <a:tc>
                  <a:txBody>
                    <a:bodyPr/>
                    <a:lstStyle/>
                    <a:p>
                      <a:pPr algn="ctr">
                        <a:buNone/>
                      </a:pPr>
                      <a:r>
                        <a:rPr lang="zh-CN" altLang="en-US" sz="900" b="0">
                          <a:effectLst/>
                        </a:rPr>
                        <a:t>编辑器主题配置（背景色、网格色、选择框色、节点默认主题色）</a:t>
                      </a:r>
                    </a:p>
                  </a:txBody>
                  <a:tcPr marL="67762" marR="67762" marT="33881" marB="33881" anchor="ctr">
                    <a:solidFill>
                      <a:schemeClr val="bg2">
                        <a:lumMod val="10000"/>
                      </a:schemeClr>
                    </a:solidFill>
                  </a:tcPr>
                </a:tc>
                <a:extLst>
                  <a:ext uri="{0D108BD9-81ED-4DB2-BD59-A6C34878D82A}">
                    <a16:rowId xmlns:a16="http://schemas.microsoft.com/office/drawing/2014/main" val="577930137"/>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bool showBlackboard</a:t>
                      </a:r>
                    </a:p>
                  </a:txBody>
                  <a:tcPr marL="67762" marR="67762" marT="33881" marB="33881" anchor="ctr">
                    <a:solidFill>
                      <a:schemeClr val="bg2">
                        <a:lumMod val="10000"/>
                      </a:schemeClr>
                    </a:solidFill>
                  </a:tcPr>
                </a:tc>
                <a:tc>
                  <a:txBody>
                    <a:bodyPr/>
                    <a:lstStyle/>
                    <a:p>
                      <a:pPr algn="ctr">
                        <a:buNone/>
                      </a:pPr>
                      <a:r>
                        <a:rPr lang="zh-CN" altLang="en-US" sz="900" b="0">
                          <a:effectLst/>
                        </a:rPr>
                        <a:t>黑板视图是否显示（记忆编辑器面板布局）</a:t>
                      </a:r>
                    </a:p>
                  </a:txBody>
                  <a:tcPr marL="67762" marR="67762" marT="33881" marB="33881" anchor="ctr">
                    <a:solidFill>
                      <a:schemeClr val="bg2">
                        <a:lumMod val="10000"/>
                      </a:schemeClr>
                    </a:solidFill>
                  </a:tcPr>
                </a:tc>
                <a:extLst>
                  <a:ext uri="{0D108BD9-81ED-4DB2-BD59-A6C34878D82A}">
                    <a16:rowId xmlns:a16="http://schemas.microsoft.com/office/drawing/2014/main" val="3156952942"/>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bool showInspector</a:t>
                      </a:r>
                    </a:p>
                  </a:txBody>
                  <a:tcPr marL="67762" marR="67762" marT="33881" marB="33881" anchor="ctr">
                    <a:solidFill>
                      <a:schemeClr val="bg2">
                        <a:lumMod val="10000"/>
                      </a:schemeClr>
                    </a:solidFill>
                  </a:tcPr>
                </a:tc>
                <a:tc>
                  <a:txBody>
                    <a:bodyPr/>
                    <a:lstStyle/>
                    <a:p>
                      <a:pPr algn="ctr">
                        <a:buNone/>
                      </a:pPr>
                      <a:r>
                        <a:rPr lang="zh-CN" altLang="en-US" sz="900" b="0">
                          <a:effectLst/>
                        </a:rPr>
                        <a:t>属性面板是否显示（记忆编辑器面板布局）</a:t>
                      </a:r>
                    </a:p>
                  </a:txBody>
                  <a:tcPr marL="67762" marR="67762" marT="33881" marB="33881" anchor="ctr">
                    <a:solidFill>
                      <a:schemeClr val="bg2">
                        <a:lumMod val="10000"/>
                      </a:schemeClr>
                    </a:solidFill>
                  </a:tcPr>
                </a:tc>
                <a:extLst>
                  <a:ext uri="{0D108BD9-81ED-4DB2-BD59-A6C34878D82A}">
                    <a16:rowId xmlns:a16="http://schemas.microsoft.com/office/drawing/2014/main" val="1682671224"/>
                  </a:ext>
                </a:extLst>
              </a:tr>
              <a:tr h="610048">
                <a:tc rowSpan="3">
                  <a:txBody>
                    <a:bodyPr/>
                    <a:lstStyle/>
                    <a:p>
                      <a:pPr algn="ctr">
                        <a:buNone/>
                      </a:pPr>
                      <a:r>
                        <a:rPr lang="zh-CN" altLang="en-US" sz="900" b="0" dirty="0">
                          <a:effectLst/>
                        </a:rPr>
                        <a:t>状态管理</a:t>
                      </a:r>
                    </a:p>
                  </a:txBody>
                  <a:tcPr marL="67762" marR="67762" marT="33881" marB="33881" anchor="ctr">
                    <a:solidFill>
                      <a:schemeClr val="bg2">
                        <a:lumMod val="10000"/>
                      </a:schemeClr>
                    </a:solidFill>
                  </a:tcPr>
                </a:tc>
                <a:tc>
                  <a:txBody>
                    <a:bodyPr/>
                    <a:lstStyle/>
                    <a:p>
                      <a:pPr algn="ctr">
                        <a:buNone/>
                      </a:pPr>
                      <a:r>
                        <a:rPr lang="en-US" sz="900" b="0" dirty="0">
                          <a:effectLst/>
                        </a:rPr>
                        <a:t>List&lt;ActionSnapshot&gt; snapshots</a:t>
                      </a:r>
                    </a:p>
                  </a:txBody>
                  <a:tcPr marL="67762" marR="67762" marT="33881" marB="33881" anchor="ctr">
                    <a:solidFill>
                      <a:schemeClr val="bg2">
                        <a:lumMod val="10000"/>
                      </a:schemeClr>
                    </a:solidFill>
                  </a:tcPr>
                </a:tc>
                <a:tc>
                  <a:txBody>
                    <a:bodyPr/>
                    <a:lstStyle/>
                    <a:p>
                      <a:pPr algn="ctr">
                        <a:buNone/>
                      </a:pPr>
                      <a:r>
                        <a:rPr lang="zh-CN" altLang="en-US" sz="900" b="0">
                          <a:effectLst/>
                        </a:rPr>
                        <a:t>节点图快照列表（存储不同版本的节点数据、布局，支持回溯）</a:t>
                      </a:r>
                    </a:p>
                  </a:txBody>
                  <a:tcPr marL="67762" marR="67762" marT="33881" marB="33881" anchor="ctr">
                    <a:solidFill>
                      <a:schemeClr val="bg2">
                        <a:lumMod val="10000"/>
                      </a:schemeClr>
                    </a:solidFill>
                  </a:tcPr>
                </a:tc>
                <a:extLst>
                  <a:ext uri="{0D108BD9-81ED-4DB2-BD59-A6C34878D82A}">
                    <a16:rowId xmlns:a16="http://schemas.microsoft.com/office/drawing/2014/main" val="665592212"/>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string sourceTreePath</a:t>
                      </a:r>
                    </a:p>
                  </a:txBody>
                  <a:tcPr marL="67762" marR="67762" marT="33881" marB="33881" anchor="ctr">
                    <a:solidFill>
                      <a:schemeClr val="bg2">
                        <a:lumMod val="10000"/>
                      </a:schemeClr>
                    </a:solidFill>
                  </a:tcPr>
                </a:tc>
                <a:tc>
                  <a:txBody>
                    <a:bodyPr/>
                    <a:lstStyle/>
                    <a:p>
                      <a:pPr algn="ctr">
                        <a:buNone/>
                      </a:pPr>
                      <a:r>
                        <a:rPr lang="zh-CN" altLang="en-US" sz="900" b="0" dirty="0">
                          <a:effectLst/>
                        </a:rPr>
                        <a:t>源行为树资源路径（用于重载 </a:t>
                      </a:r>
                      <a:r>
                        <a:rPr lang="en-US" altLang="zh-CN" sz="900" b="0" dirty="0">
                          <a:effectLst/>
                        </a:rPr>
                        <a:t>/ </a:t>
                      </a:r>
                      <a:r>
                        <a:rPr lang="zh-CN" altLang="en-US" sz="900" b="0" dirty="0">
                          <a:effectLst/>
                        </a:rPr>
                        <a:t>同步外部行为树数据）</a:t>
                      </a:r>
                    </a:p>
                  </a:txBody>
                  <a:tcPr marL="67762" marR="67762" marT="33881" marB="33881" anchor="ctr">
                    <a:solidFill>
                      <a:schemeClr val="bg2">
                        <a:lumMod val="10000"/>
                      </a:schemeClr>
                    </a:solidFill>
                  </a:tcPr>
                </a:tc>
                <a:extLst>
                  <a:ext uri="{0D108BD9-81ED-4DB2-BD59-A6C34878D82A}">
                    <a16:rowId xmlns:a16="http://schemas.microsoft.com/office/drawing/2014/main" val="2138032576"/>
                  </a:ext>
                </a:extLst>
              </a:tr>
              <a:tr h="610048">
                <a:tc vMerge="1">
                  <a:txBody>
                    <a:bodyPr/>
                    <a:lstStyle/>
                    <a:p>
                      <a:pPr>
                        <a:buNone/>
                      </a:pPr>
                      <a:endParaRPr lang="zh-CN" altLang="en-US" sz="900" b="0" dirty="0">
                        <a:effectLst/>
                      </a:endParaRPr>
                    </a:p>
                  </a:txBody>
                  <a:tcPr marL="67762" marR="67762" marT="33881" marB="33881" anchor="ctr">
                    <a:solidFill>
                      <a:schemeClr val="bg2">
                        <a:lumMod val="10000"/>
                      </a:schemeClr>
                    </a:solidFill>
                  </a:tcPr>
                </a:tc>
                <a:tc>
                  <a:txBody>
                    <a:bodyPr/>
                    <a:lstStyle/>
                    <a:p>
                      <a:pPr algn="ctr">
                        <a:buNone/>
                      </a:pPr>
                      <a:r>
                        <a:rPr lang="en-US" sz="900" b="0" dirty="0">
                          <a:effectLst/>
                        </a:rPr>
                        <a:t>Guid rootNodeGUID</a:t>
                      </a:r>
                    </a:p>
                  </a:txBody>
                  <a:tcPr marL="67762" marR="67762" marT="33881" marB="33881" anchor="ctr">
                    <a:solidFill>
                      <a:schemeClr val="bg2">
                        <a:lumMod val="10000"/>
                      </a:schemeClr>
                    </a:solidFill>
                  </a:tcPr>
                </a:tc>
                <a:tc>
                  <a:txBody>
                    <a:bodyPr/>
                    <a:lstStyle/>
                    <a:p>
                      <a:pPr algn="ctr">
                        <a:buNone/>
                      </a:pPr>
                      <a:r>
                        <a:rPr lang="zh-CN" altLang="en-US" sz="900" b="0" dirty="0">
                          <a:effectLst/>
                        </a:rPr>
                        <a:t>根节点 </a:t>
                      </a:r>
                      <a:r>
                        <a:rPr lang="en-US" altLang="zh-CN" sz="900" b="0" dirty="0">
                          <a:effectLst/>
                        </a:rPr>
                        <a:t>GUID</a:t>
                      </a:r>
                      <a:r>
                        <a:rPr lang="zh-CN" altLang="en-US" sz="900" b="0" dirty="0">
                          <a:effectLst/>
                        </a:rPr>
                        <a:t>（标记节点图的入口节点，用于执行逻辑时定位起始点）</a:t>
                      </a:r>
                    </a:p>
                  </a:txBody>
                  <a:tcPr marL="67762" marR="67762" marT="33881" marB="33881" anchor="ctr">
                    <a:solidFill>
                      <a:schemeClr val="bg2">
                        <a:lumMod val="10000"/>
                      </a:schemeClr>
                    </a:solidFill>
                  </a:tcPr>
                </a:tc>
                <a:extLst>
                  <a:ext uri="{0D108BD9-81ED-4DB2-BD59-A6C34878D82A}">
                    <a16:rowId xmlns:a16="http://schemas.microsoft.com/office/drawing/2014/main" val="473279343"/>
                  </a:ext>
                </a:extLst>
              </a:tr>
            </a:tbl>
          </a:graphicData>
        </a:graphic>
      </p:graphicFrame>
    </p:spTree>
    <p:extLst>
      <p:ext uri="{BB962C8B-B14F-4D97-AF65-F5344CB8AC3E}">
        <p14:creationId xmlns:p14="http://schemas.microsoft.com/office/powerpoint/2010/main" val="2722931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9AA14897-0D79-B46B-81DA-661E8147810F}"/>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937B19F-F721-77FE-A3CF-87737C56BDB7}"/>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55B13389-0930-5D00-7948-C9584BE06B11}"/>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99F3A2AA-F401-E9F2-BAC5-2223625401BB}"/>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0A89D0E2-FA07-6F13-1F41-D0686D46139F}"/>
              </a:ext>
            </a:extLst>
          </p:cNvPr>
          <p:cNvSpPr txBox="1"/>
          <p:nvPr/>
        </p:nvSpPr>
        <p:spPr>
          <a:xfrm>
            <a:off x="383776" y="1152623"/>
            <a:ext cx="6071900" cy="98351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核心方法（按功能分类）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的方法围绕「节点管理」「数据同步」「视图恢复」「快照操作」四大核心场景设计，是编辑器交互的核心接口：</a:t>
            </a:r>
            <a:endParaRPr lang="en-US" altLang="zh-CN" sz="10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489D5FD0-5204-754F-6543-91D28C2C3A38}"/>
              </a:ext>
            </a:extLst>
          </p:cNvPr>
          <p:cNvSpPr txBox="1"/>
          <p:nvPr/>
        </p:nvSpPr>
        <p:spPr>
          <a:xfrm>
            <a:off x="383776" y="2136141"/>
            <a:ext cx="6071900" cy="4546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节点管理（增删改查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克隆）</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FE55BFB4-6F2D-79D7-8C16-8DA7062A4A40}"/>
              </a:ext>
            </a:extLst>
          </p:cNvPr>
          <p:cNvSpPr txBox="1"/>
          <p:nvPr/>
        </p:nvSpPr>
        <p:spPr>
          <a:xfrm>
            <a:off x="383776" y="5338127"/>
            <a:ext cx="6071900" cy="4546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数据同步与重载</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graphicFrame>
        <p:nvGraphicFramePr>
          <p:cNvPr id="9" name="表格 8">
            <a:extLst>
              <a:ext uri="{FF2B5EF4-FFF2-40B4-BE49-F238E27FC236}">
                <a16:creationId xmlns:a16="http://schemas.microsoft.com/office/drawing/2014/main" id="{DEAA024A-EE38-4C80-D21D-17EFE759C1B2}"/>
              </a:ext>
            </a:extLst>
          </p:cNvPr>
          <p:cNvGraphicFramePr>
            <a:graphicFrameLocks noGrp="1"/>
          </p:cNvGraphicFramePr>
          <p:nvPr>
            <p:extLst>
              <p:ext uri="{D42A27DB-BD31-4B8C-83A1-F6EECF244321}">
                <p14:modId xmlns:p14="http://schemas.microsoft.com/office/powerpoint/2010/main" val="3573743602"/>
              </p:ext>
            </p:extLst>
          </p:nvPr>
        </p:nvGraphicFramePr>
        <p:xfrm>
          <a:off x="549000" y="2596674"/>
          <a:ext cx="5760000" cy="2535748"/>
        </p:xfrm>
        <a:graphic>
          <a:graphicData uri="http://schemas.openxmlformats.org/drawingml/2006/table">
            <a:tbl>
              <a:tblPr firstRow="1">
                <a:tableStyleId>{D03447BB-5D67-496B-8E87-E561075AD55C}</a:tableStyleId>
              </a:tblPr>
              <a:tblGrid>
                <a:gridCol w="2880000">
                  <a:extLst>
                    <a:ext uri="{9D8B030D-6E8A-4147-A177-3AD203B41FA5}">
                      <a16:colId xmlns:a16="http://schemas.microsoft.com/office/drawing/2014/main" val="2995870821"/>
                    </a:ext>
                  </a:extLst>
                </a:gridCol>
                <a:gridCol w="2880000">
                  <a:extLst>
                    <a:ext uri="{9D8B030D-6E8A-4147-A177-3AD203B41FA5}">
                      <a16:colId xmlns:a16="http://schemas.microsoft.com/office/drawing/2014/main" val="2030322286"/>
                    </a:ext>
                  </a:extLst>
                </a:gridCol>
              </a:tblGrid>
              <a:tr h="228404">
                <a:tc>
                  <a:txBody>
                    <a:bodyPr/>
                    <a:lstStyle/>
                    <a:p>
                      <a:pPr algn="ctr">
                        <a:buNone/>
                      </a:pPr>
                      <a:r>
                        <a:rPr lang="zh-CN" altLang="en-US" sz="1000" b="1" dirty="0">
                          <a:effectLst/>
                        </a:rPr>
                        <a:t>方法名</a:t>
                      </a:r>
                    </a:p>
                  </a:txBody>
                  <a:tcPr anchor="ctr">
                    <a:solidFill>
                      <a:schemeClr val="bg2">
                        <a:lumMod val="10000"/>
                      </a:schemeClr>
                    </a:solidFill>
                  </a:tcPr>
                </a:tc>
                <a:tc>
                  <a:txBody>
                    <a:bodyPr/>
                    <a:lstStyle/>
                    <a:p>
                      <a:pPr algn="ctr">
                        <a:buNone/>
                      </a:pPr>
                      <a:r>
                        <a:rPr lang="zh-CN" altLang="en-US" sz="1000" b="1" dirty="0">
                          <a:effectLst/>
                        </a:rPr>
                        <a:t>核心逻辑</a:t>
                      </a:r>
                    </a:p>
                  </a:txBody>
                  <a:tcPr anchor="ctr">
                    <a:solidFill>
                      <a:schemeClr val="bg2">
                        <a:lumMod val="10000"/>
                      </a:schemeClr>
                    </a:solidFill>
                  </a:tcPr>
                </a:tc>
                <a:extLst>
                  <a:ext uri="{0D108BD9-81ED-4DB2-BD59-A6C34878D82A}">
                    <a16:rowId xmlns:a16="http://schemas.microsoft.com/office/drawing/2014/main" val="2295160539"/>
                  </a:ext>
                </a:extLst>
              </a:tr>
              <a:tr h="481537">
                <a:tc>
                  <a:txBody>
                    <a:bodyPr/>
                    <a:lstStyle/>
                    <a:p>
                      <a:pPr algn="ctr">
                        <a:buNone/>
                      </a:pPr>
                      <a:r>
                        <a:rPr lang="en-US" sz="900" b="0" dirty="0">
                          <a:effectLst/>
                        </a:rPr>
                        <a:t>AddAction(xAction_Base action)</a:t>
                      </a:r>
                    </a:p>
                  </a:txBody>
                  <a:tcPr anchor="ctr">
                    <a:solidFill>
                      <a:schemeClr val="bg2">
                        <a:lumMod val="10000"/>
                      </a:schemeClr>
                    </a:solidFill>
                  </a:tcPr>
                </a:tc>
                <a:tc>
                  <a:txBody>
                    <a:bodyPr/>
                    <a:lstStyle/>
                    <a:p>
                      <a:pPr algn="ctr">
                        <a:buNone/>
                      </a:pPr>
                      <a:r>
                        <a:rPr lang="zh-CN" altLang="en-US" sz="900" b="0" dirty="0">
                          <a:effectLst/>
                        </a:rPr>
                        <a:t>向 </a:t>
                      </a:r>
                      <a:r>
                        <a:rPr lang="en-US" altLang="zh-CN" sz="900" b="0" dirty="0">
                          <a:effectLst/>
                        </a:rPr>
                        <a:t>actions</a:t>
                      </a:r>
                      <a:r>
                        <a:rPr lang="zh-CN" altLang="en-US" sz="900" b="0" dirty="0">
                          <a:effectLst/>
                        </a:rPr>
                        <a:t> 列表添加节点数据，自动生成唯一 </a:t>
                      </a:r>
                      <a:r>
                        <a:rPr lang="en-US" altLang="zh-CN" sz="900" b="0" dirty="0">
                          <a:effectLst/>
                        </a:rPr>
                        <a:t>GUID</a:t>
                      </a:r>
                      <a:r>
                        <a:rPr lang="zh-CN" altLang="en-US" sz="900" b="0" dirty="0">
                          <a:effectLst/>
                        </a:rPr>
                        <a:t>，更新根节点关联（若为根节点）</a:t>
                      </a:r>
                    </a:p>
                  </a:txBody>
                  <a:tcPr anchor="ctr">
                    <a:solidFill>
                      <a:schemeClr val="bg2">
                        <a:lumMod val="10000"/>
                      </a:schemeClr>
                    </a:solidFill>
                  </a:tcPr>
                </a:tc>
                <a:extLst>
                  <a:ext uri="{0D108BD9-81ED-4DB2-BD59-A6C34878D82A}">
                    <a16:rowId xmlns:a16="http://schemas.microsoft.com/office/drawing/2014/main" val="1219944317"/>
                  </a:ext>
                </a:extLst>
              </a:tr>
              <a:tr h="481537">
                <a:tc>
                  <a:txBody>
                    <a:bodyPr/>
                    <a:lstStyle/>
                    <a:p>
                      <a:pPr algn="ctr">
                        <a:buNone/>
                      </a:pPr>
                      <a:r>
                        <a:rPr lang="en-US" sz="900" b="0" dirty="0">
                          <a:effectLst/>
                        </a:rPr>
                        <a:t>RemoveAction(string guid)</a:t>
                      </a:r>
                    </a:p>
                  </a:txBody>
                  <a:tcPr anchor="ctr">
                    <a:solidFill>
                      <a:schemeClr val="bg2">
                        <a:lumMod val="10000"/>
                      </a:schemeClr>
                    </a:solidFill>
                  </a:tcPr>
                </a:tc>
                <a:tc>
                  <a:txBody>
                    <a:bodyPr/>
                    <a:lstStyle/>
                    <a:p>
                      <a:pPr algn="ctr">
                        <a:buNone/>
                      </a:pPr>
                      <a:r>
                        <a:rPr lang="zh-CN" altLang="en-US" sz="900" b="0" dirty="0">
                          <a:effectLst/>
                        </a:rPr>
                        <a:t>根据 </a:t>
                      </a:r>
                      <a:r>
                        <a:rPr lang="en-US" sz="900" b="0" dirty="0">
                          <a:effectLst/>
                        </a:rPr>
                        <a:t>GUID </a:t>
                      </a:r>
                      <a:r>
                        <a:rPr lang="zh-CN" altLang="en-US" sz="900" b="0" dirty="0">
                          <a:effectLst/>
                        </a:rPr>
                        <a:t>从 </a:t>
                      </a:r>
                      <a:r>
                        <a:rPr lang="en-US" sz="900" b="0" dirty="0">
                          <a:effectLst/>
                        </a:rPr>
                        <a:t>actions/variables </a:t>
                      </a:r>
                      <a:r>
                        <a:rPr lang="zh-CN" altLang="en-US" sz="900" b="0" dirty="0">
                          <a:effectLst/>
                        </a:rPr>
                        <a:t>移除节点，同时删除关联的子节点 </a:t>
                      </a:r>
                      <a:r>
                        <a:rPr lang="en-US" altLang="zh-CN" sz="900" b="0" dirty="0">
                          <a:effectLst/>
                        </a:rPr>
                        <a:t>/ </a:t>
                      </a:r>
                      <a:r>
                        <a:rPr lang="zh-CN" altLang="en-US" sz="900" b="0" dirty="0">
                          <a:effectLst/>
                        </a:rPr>
                        <a:t>连线数据</a:t>
                      </a:r>
                    </a:p>
                  </a:txBody>
                  <a:tcPr anchor="ctr">
                    <a:solidFill>
                      <a:schemeClr val="bg2">
                        <a:lumMod val="10000"/>
                      </a:schemeClr>
                    </a:solidFill>
                  </a:tcPr>
                </a:tc>
                <a:extLst>
                  <a:ext uri="{0D108BD9-81ED-4DB2-BD59-A6C34878D82A}">
                    <a16:rowId xmlns:a16="http://schemas.microsoft.com/office/drawing/2014/main" val="3947368047"/>
                  </a:ext>
                </a:extLst>
              </a:tr>
              <a:tr h="365446">
                <a:tc>
                  <a:txBody>
                    <a:bodyPr/>
                    <a:lstStyle/>
                    <a:p>
                      <a:pPr algn="ctr">
                        <a:buNone/>
                      </a:pPr>
                      <a:r>
                        <a:rPr lang="en-US" sz="900" b="0" dirty="0">
                          <a:effectLst/>
                        </a:rPr>
                        <a:t>GetActionByGUID(string guid)</a:t>
                      </a:r>
                    </a:p>
                  </a:txBody>
                  <a:tcPr anchor="ctr">
                    <a:solidFill>
                      <a:schemeClr val="bg2">
                        <a:lumMod val="10000"/>
                      </a:schemeClr>
                    </a:solidFill>
                  </a:tcPr>
                </a:tc>
                <a:tc>
                  <a:txBody>
                    <a:bodyPr/>
                    <a:lstStyle/>
                    <a:p>
                      <a:pPr algn="ctr">
                        <a:buNone/>
                      </a:pPr>
                      <a:r>
                        <a:rPr lang="zh-CN" altLang="en-US" sz="900" b="0" dirty="0">
                          <a:effectLst/>
                        </a:rPr>
                        <a:t>根据 </a:t>
                      </a:r>
                      <a:r>
                        <a:rPr lang="en-US" sz="900" b="0" dirty="0">
                          <a:effectLst/>
                        </a:rPr>
                        <a:t>GUID </a:t>
                      </a:r>
                      <a:r>
                        <a:rPr lang="zh-CN" altLang="en-US" sz="900" b="0" dirty="0">
                          <a:effectLst/>
                        </a:rPr>
                        <a:t>检索指定节点数据（返回 </a:t>
                      </a:r>
                      <a:r>
                        <a:rPr lang="en-US" sz="900" b="0" dirty="0">
                          <a:effectLst/>
                        </a:rPr>
                        <a:t>xAction_Base </a:t>
                      </a:r>
                      <a:r>
                        <a:rPr lang="zh-CN" altLang="en-US" sz="900" b="0" dirty="0">
                          <a:effectLst/>
                        </a:rPr>
                        <a:t>实例，支持类型转换）</a:t>
                      </a:r>
                    </a:p>
                  </a:txBody>
                  <a:tcPr anchor="ctr">
                    <a:solidFill>
                      <a:schemeClr val="bg2">
                        <a:lumMod val="10000"/>
                      </a:schemeClr>
                    </a:solidFill>
                  </a:tcPr>
                </a:tc>
                <a:extLst>
                  <a:ext uri="{0D108BD9-81ED-4DB2-BD59-A6C34878D82A}">
                    <a16:rowId xmlns:a16="http://schemas.microsoft.com/office/drawing/2014/main" val="3267181718"/>
                  </a:ext>
                </a:extLst>
              </a:tr>
              <a:tr h="481537">
                <a:tc>
                  <a:txBody>
                    <a:bodyPr/>
                    <a:lstStyle/>
                    <a:p>
                      <a:pPr algn="ctr">
                        <a:buNone/>
                      </a:pPr>
                      <a:r>
                        <a:rPr lang="en-US" sz="900" b="0" dirty="0">
                          <a:effectLst/>
                        </a:rPr>
                        <a:t>CloneAction(string sourceGUID)</a:t>
                      </a:r>
                    </a:p>
                  </a:txBody>
                  <a:tcPr anchor="ctr">
                    <a:solidFill>
                      <a:schemeClr val="bg2">
                        <a:lumMod val="10000"/>
                      </a:schemeClr>
                    </a:solidFill>
                  </a:tcPr>
                </a:tc>
                <a:tc>
                  <a:txBody>
                    <a:bodyPr/>
                    <a:lstStyle/>
                    <a:p>
                      <a:pPr algn="ctr">
                        <a:buNone/>
                      </a:pPr>
                      <a:r>
                        <a:rPr lang="zh-CN" altLang="en-US" sz="900" b="0" dirty="0">
                          <a:effectLst/>
                        </a:rPr>
                        <a:t>克隆指定节点数据，生成新 </a:t>
                      </a:r>
                      <a:r>
                        <a:rPr lang="en-US" altLang="zh-CN" sz="900" b="0" dirty="0">
                          <a:effectLst/>
                        </a:rPr>
                        <a:t>GUID</a:t>
                      </a:r>
                      <a:r>
                        <a:rPr lang="zh-CN" altLang="en-US" sz="900" b="0" dirty="0">
                          <a:effectLst/>
                        </a:rPr>
                        <a:t>，自动处理子节点关联（递归克隆子节点）</a:t>
                      </a:r>
                    </a:p>
                  </a:txBody>
                  <a:tcPr anchor="ctr">
                    <a:solidFill>
                      <a:schemeClr val="bg2">
                        <a:lumMod val="10000"/>
                      </a:schemeClr>
                    </a:solidFill>
                  </a:tcPr>
                </a:tc>
                <a:extLst>
                  <a:ext uri="{0D108BD9-81ED-4DB2-BD59-A6C34878D82A}">
                    <a16:rowId xmlns:a16="http://schemas.microsoft.com/office/drawing/2014/main" val="2275737482"/>
                  </a:ext>
                </a:extLst>
              </a:tr>
              <a:tr h="481537">
                <a:tc>
                  <a:txBody>
                    <a:bodyPr/>
                    <a:lstStyle/>
                    <a:p>
                      <a:pPr algn="ctr">
                        <a:buNone/>
                      </a:pPr>
                      <a:r>
                        <a:rPr lang="en-US" sz="900" b="0" dirty="0">
                          <a:effectLst/>
                        </a:rPr>
                        <a:t>RestructureGroups()</a:t>
                      </a:r>
                    </a:p>
                  </a:txBody>
                  <a:tcPr anchor="ctr">
                    <a:solidFill>
                      <a:schemeClr val="bg2">
                        <a:lumMod val="10000"/>
                      </a:schemeClr>
                    </a:solidFill>
                  </a:tcPr>
                </a:tc>
                <a:tc>
                  <a:txBody>
                    <a:bodyPr/>
                    <a:lstStyle/>
                    <a:p>
                      <a:pPr algn="ctr">
                        <a:buNone/>
                      </a:pPr>
                      <a:r>
                        <a:rPr lang="zh-CN" altLang="en-US" sz="900" b="0" dirty="0">
                          <a:effectLst/>
                        </a:rPr>
                        <a:t>重建节点编组数据，清理无效编组（无节点的编组）、同步编组内节点 </a:t>
                      </a:r>
                      <a:r>
                        <a:rPr lang="en-US" altLang="zh-CN" sz="900" b="0" dirty="0">
                          <a:effectLst/>
                        </a:rPr>
                        <a:t>GUID</a:t>
                      </a:r>
                    </a:p>
                  </a:txBody>
                  <a:tcPr anchor="ctr">
                    <a:solidFill>
                      <a:schemeClr val="bg2">
                        <a:lumMod val="10000"/>
                      </a:schemeClr>
                    </a:solidFill>
                  </a:tcPr>
                </a:tc>
                <a:extLst>
                  <a:ext uri="{0D108BD9-81ED-4DB2-BD59-A6C34878D82A}">
                    <a16:rowId xmlns:a16="http://schemas.microsoft.com/office/drawing/2014/main" val="3616801430"/>
                  </a:ext>
                </a:extLst>
              </a:tr>
            </a:tbl>
          </a:graphicData>
        </a:graphic>
      </p:graphicFrame>
      <p:graphicFrame>
        <p:nvGraphicFramePr>
          <p:cNvPr id="10" name="表格 9">
            <a:extLst>
              <a:ext uri="{FF2B5EF4-FFF2-40B4-BE49-F238E27FC236}">
                <a16:creationId xmlns:a16="http://schemas.microsoft.com/office/drawing/2014/main" id="{03B94D7C-E427-1552-C874-D3A0454A3522}"/>
              </a:ext>
            </a:extLst>
          </p:cNvPr>
          <p:cNvGraphicFramePr>
            <a:graphicFrameLocks noGrp="1"/>
          </p:cNvGraphicFramePr>
          <p:nvPr>
            <p:extLst>
              <p:ext uri="{D42A27DB-BD31-4B8C-83A1-F6EECF244321}">
                <p14:modId xmlns:p14="http://schemas.microsoft.com/office/powerpoint/2010/main" val="2397298679"/>
              </p:ext>
            </p:extLst>
          </p:nvPr>
        </p:nvGraphicFramePr>
        <p:xfrm>
          <a:off x="549000" y="5792786"/>
          <a:ext cx="5760000" cy="2520001"/>
        </p:xfrm>
        <a:graphic>
          <a:graphicData uri="http://schemas.openxmlformats.org/drawingml/2006/table">
            <a:tbl>
              <a:tblPr firstRow="1">
                <a:tableStyleId>{D03447BB-5D67-496B-8E87-E561075AD55C}</a:tableStyleId>
              </a:tblPr>
              <a:tblGrid>
                <a:gridCol w="2880000">
                  <a:extLst>
                    <a:ext uri="{9D8B030D-6E8A-4147-A177-3AD203B41FA5}">
                      <a16:colId xmlns:a16="http://schemas.microsoft.com/office/drawing/2014/main" val="508600424"/>
                    </a:ext>
                  </a:extLst>
                </a:gridCol>
                <a:gridCol w="2880000">
                  <a:extLst>
                    <a:ext uri="{9D8B030D-6E8A-4147-A177-3AD203B41FA5}">
                      <a16:colId xmlns:a16="http://schemas.microsoft.com/office/drawing/2014/main" val="2729089344"/>
                    </a:ext>
                  </a:extLst>
                </a:gridCol>
              </a:tblGrid>
              <a:tr h="255938">
                <a:tc>
                  <a:txBody>
                    <a:bodyPr/>
                    <a:lstStyle/>
                    <a:p>
                      <a:pPr algn="ctr">
                        <a:buNone/>
                      </a:pPr>
                      <a:r>
                        <a:rPr lang="zh-CN" altLang="en-US" sz="1000" b="1" dirty="0">
                          <a:effectLst/>
                        </a:rPr>
                        <a:t>方法名</a:t>
                      </a:r>
                    </a:p>
                  </a:txBody>
                  <a:tcPr anchor="ctr">
                    <a:solidFill>
                      <a:schemeClr val="bg2">
                        <a:lumMod val="10000"/>
                      </a:schemeClr>
                    </a:solidFill>
                  </a:tcPr>
                </a:tc>
                <a:tc>
                  <a:txBody>
                    <a:bodyPr/>
                    <a:lstStyle/>
                    <a:p>
                      <a:pPr algn="ctr">
                        <a:buNone/>
                      </a:pPr>
                      <a:r>
                        <a:rPr lang="zh-CN" altLang="en-US" sz="1000" b="1" dirty="0">
                          <a:effectLst/>
                        </a:rPr>
                        <a:t>核心逻辑</a:t>
                      </a:r>
                    </a:p>
                  </a:txBody>
                  <a:tcPr anchor="ctr">
                    <a:solidFill>
                      <a:schemeClr val="bg2">
                        <a:lumMod val="10000"/>
                      </a:schemeClr>
                    </a:solidFill>
                  </a:tcPr>
                </a:tc>
                <a:extLst>
                  <a:ext uri="{0D108BD9-81ED-4DB2-BD59-A6C34878D82A}">
                    <a16:rowId xmlns:a16="http://schemas.microsoft.com/office/drawing/2014/main" val="3661016627"/>
                  </a:ext>
                </a:extLst>
              </a:tr>
              <a:tr h="787500">
                <a:tc>
                  <a:txBody>
                    <a:bodyPr/>
                    <a:lstStyle/>
                    <a:p>
                      <a:pPr algn="ctr">
                        <a:buNone/>
                      </a:pPr>
                      <a:r>
                        <a:rPr lang="en-US" sz="900" b="0" dirty="0">
                          <a:effectLst/>
                        </a:rPr>
                        <a:t>SyncViewToAsset(xg_GraphView view)</a:t>
                      </a:r>
                    </a:p>
                  </a:txBody>
                  <a:tcPr anchor="ctr">
                    <a:solidFill>
                      <a:schemeClr val="bg2">
                        <a:lumMod val="10000"/>
                      </a:schemeClr>
                    </a:solidFill>
                  </a:tcPr>
                </a:tc>
                <a:tc>
                  <a:txBody>
                    <a:bodyPr/>
                    <a:lstStyle/>
                    <a:p>
                      <a:pPr algn="ctr">
                        <a:buNone/>
                      </a:pPr>
                      <a:r>
                        <a:rPr lang="zh-CN" altLang="en-US" sz="900" b="0">
                          <a:effectLst/>
                        </a:rPr>
                        <a:t>将编辑器视图的布局（位置、缩放）、面板状态同步到 </a:t>
                      </a:r>
                      <a:r>
                        <a:rPr lang="en-US" sz="900" b="0" dirty="0">
                          <a:effectLst/>
                        </a:rPr>
                        <a:t>graphViewPos/showBlackboard </a:t>
                      </a:r>
                      <a:r>
                        <a:rPr lang="zh-CN" altLang="en-US" sz="900" b="0">
                          <a:effectLst/>
                        </a:rPr>
                        <a:t>等属性</a:t>
                      </a:r>
                    </a:p>
                  </a:txBody>
                  <a:tcPr anchor="ctr">
                    <a:solidFill>
                      <a:schemeClr val="bg2">
                        <a:lumMod val="10000"/>
                      </a:schemeClr>
                    </a:solidFill>
                  </a:tcPr>
                </a:tc>
                <a:extLst>
                  <a:ext uri="{0D108BD9-81ED-4DB2-BD59-A6C34878D82A}">
                    <a16:rowId xmlns:a16="http://schemas.microsoft.com/office/drawing/2014/main" val="2077865326"/>
                  </a:ext>
                </a:extLst>
              </a:tr>
              <a:tr h="433125">
                <a:tc>
                  <a:txBody>
                    <a:bodyPr/>
                    <a:lstStyle/>
                    <a:p>
                      <a:pPr algn="ctr">
                        <a:buNone/>
                      </a:pPr>
                      <a:r>
                        <a:rPr lang="en-US" sz="900" b="0" dirty="0">
                          <a:effectLst/>
                        </a:rPr>
                        <a:t>SyncAssetToView(xg_GraphView view)</a:t>
                      </a:r>
                    </a:p>
                  </a:txBody>
                  <a:tcPr anchor="ctr">
                    <a:solidFill>
                      <a:schemeClr val="bg2">
                        <a:lumMod val="10000"/>
                      </a:schemeClr>
                    </a:solidFill>
                  </a:tcPr>
                </a:tc>
                <a:tc>
                  <a:txBody>
                    <a:bodyPr/>
                    <a:lstStyle/>
                    <a:p>
                      <a:pPr algn="ctr">
                        <a:buNone/>
                      </a:pPr>
                      <a:r>
                        <a:rPr lang="zh-CN" altLang="en-US" sz="900" b="0">
                          <a:effectLst/>
                        </a:rPr>
                        <a:t>从 </a:t>
                      </a:r>
                      <a:r>
                        <a:rPr lang="en-US" sz="900" b="0" dirty="0">
                          <a:effectLst/>
                        </a:rPr>
                        <a:t>graphViewPos/themeConfig </a:t>
                      </a:r>
                      <a:r>
                        <a:rPr lang="zh-CN" altLang="en-US" sz="900" b="0">
                          <a:effectLst/>
                        </a:rPr>
                        <a:t>等属性恢复编辑器视图的布局、样式</a:t>
                      </a:r>
                    </a:p>
                  </a:txBody>
                  <a:tcPr anchor="ctr">
                    <a:solidFill>
                      <a:schemeClr val="bg2">
                        <a:lumMod val="10000"/>
                      </a:schemeClr>
                    </a:solidFill>
                  </a:tcPr>
                </a:tc>
                <a:extLst>
                  <a:ext uri="{0D108BD9-81ED-4DB2-BD59-A6C34878D82A}">
                    <a16:rowId xmlns:a16="http://schemas.microsoft.com/office/drawing/2014/main" val="268415691"/>
                  </a:ext>
                </a:extLst>
              </a:tr>
              <a:tr h="610313">
                <a:tc>
                  <a:txBody>
                    <a:bodyPr/>
                    <a:lstStyle/>
                    <a:p>
                      <a:pPr algn="ctr">
                        <a:buNone/>
                      </a:pPr>
                      <a:r>
                        <a:rPr lang="en-US" sz="900" b="0" dirty="0">
                          <a:effectLst/>
                        </a:rPr>
                        <a:t>ReloadTreeFromPath(string path)</a:t>
                      </a:r>
                    </a:p>
                  </a:txBody>
                  <a:tcPr anchor="ctr">
                    <a:solidFill>
                      <a:schemeClr val="bg2">
                        <a:lumMod val="10000"/>
                      </a:schemeClr>
                    </a:solidFill>
                  </a:tcPr>
                </a:tc>
                <a:tc>
                  <a:txBody>
                    <a:bodyPr/>
                    <a:lstStyle/>
                    <a:p>
                      <a:pPr algn="ctr">
                        <a:buNone/>
                      </a:pPr>
                      <a:r>
                        <a:rPr lang="zh-CN" altLang="en-US" sz="900" b="0">
                          <a:effectLst/>
                        </a:rPr>
                        <a:t>根据 </a:t>
                      </a:r>
                      <a:r>
                        <a:rPr lang="en-US" sz="900" b="0" dirty="0">
                          <a:effectLst/>
                        </a:rPr>
                        <a:t>sourceTreePath </a:t>
                      </a:r>
                      <a:r>
                        <a:rPr lang="zh-CN" altLang="en-US" sz="900" b="0">
                          <a:effectLst/>
                        </a:rPr>
                        <a:t>重载外部行为树数据，覆盖当前 </a:t>
                      </a:r>
                      <a:r>
                        <a:rPr lang="en-US" sz="900" b="0" dirty="0">
                          <a:effectLst/>
                        </a:rPr>
                        <a:t>actions/variables </a:t>
                      </a:r>
                      <a:r>
                        <a:rPr lang="zh-CN" altLang="en-US" sz="900" b="0">
                          <a:effectLst/>
                        </a:rPr>
                        <a:t>列表</a:t>
                      </a:r>
                    </a:p>
                  </a:txBody>
                  <a:tcPr anchor="ctr">
                    <a:solidFill>
                      <a:schemeClr val="bg2">
                        <a:lumMod val="10000"/>
                      </a:schemeClr>
                    </a:solidFill>
                  </a:tcPr>
                </a:tc>
                <a:extLst>
                  <a:ext uri="{0D108BD9-81ED-4DB2-BD59-A6C34878D82A}">
                    <a16:rowId xmlns:a16="http://schemas.microsoft.com/office/drawing/2014/main" val="3021506306"/>
                  </a:ext>
                </a:extLst>
              </a:tr>
              <a:tr h="433125">
                <a:tc>
                  <a:txBody>
                    <a:bodyPr/>
                    <a:lstStyle/>
                    <a:p>
                      <a:pPr algn="ctr">
                        <a:buNone/>
                      </a:pPr>
                      <a:r>
                        <a:rPr lang="en-US" sz="900" b="0" dirty="0">
                          <a:effectLst/>
                        </a:rPr>
                        <a:t>SaveAsset()</a:t>
                      </a:r>
                    </a:p>
                  </a:txBody>
                  <a:tcPr anchor="ctr">
                    <a:solidFill>
                      <a:schemeClr val="bg2">
                        <a:lumMod val="10000"/>
                      </a:schemeClr>
                    </a:solidFill>
                  </a:tcPr>
                </a:tc>
                <a:tc>
                  <a:txBody>
                    <a:bodyPr/>
                    <a:lstStyle/>
                    <a:p>
                      <a:pPr algn="ctr">
                        <a:buNone/>
                      </a:pPr>
                      <a:r>
                        <a:rPr lang="zh-CN" altLang="en-US" sz="900" b="0" dirty="0">
                          <a:effectLst/>
                        </a:rPr>
                        <a:t>强制序列化资源，将内存中的节点数据、配置持久化到</a:t>
                      </a:r>
                      <a:r>
                        <a:rPr lang="en-US" altLang="zh-CN" sz="900" b="0" dirty="0">
                          <a:effectLst/>
                        </a:rPr>
                        <a:t>.asset </a:t>
                      </a:r>
                      <a:r>
                        <a:rPr lang="zh-CN" altLang="en-US" sz="900" b="0" dirty="0">
                          <a:effectLst/>
                        </a:rPr>
                        <a:t>文件</a:t>
                      </a:r>
                    </a:p>
                  </a:txBody>
                  <a:tcPr anchor="ctr">
                    <a:solidFill>
                      <a:schemeClr val="bg2">
                        <a:lumMod val="10000"/>
                      </a:schemeClr>
                    </a:solidFill>
                  </a:tcPr>
                </a:tc>
                <a:extLst>
                  <a:ext uri="{0D108BD9-81ED-4DB2-BD59-A6C34878D82A}">
                    <a16:rowId xmlns:a16="http://schemas.microsoft.com/office/drawing/2014/main" val="1495210290"/>
                  </a:ext>
                </a:extLst>
              </a:tr>
            </a:tbl>
          </a:graphicData>
        </a:graphic>
      </p:graphicFrame>
    </p:spTree>
    <p:extLst>
      <p:ext uri="{BB962C8B-B14F-4D97-AF65-F5344CB8AC3E}">
        <p14:creationId xmlns:p14="http://schemas.microsoft.com/office/powerpoint/2010/main" val="15822466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97414AB2-6ACF-8FB2-A568-247E9F9913E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1C48373-CE1B-C42E-DCCA-5737A9D737F6}"/>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1777466B-AE3B-429E-2ED7-C7CA3D66F839}"/>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CDC3B67F-6B61-2EDC-901B-7DAB02198A97}"/>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2" name="文本框 1">
            <a:extLst>
              <a:ext uri="{FF2B5EF4-FFF2-40B4-BE49-F238E27FC236}">
                <a16:creationId xmlns:a16="http://schemas.microsoft.com/office/drawing/2014/main" id="{ED94E1CF-62FB-364F-4869-82643F7D3312}"/>
              </a:ext>
            </a:extLst>
          </p:cNvPr>
          <p:cNvSpPr txBox="1"/>
          <p:nvPr/>
        </p:nvSpPr>
        <p:spPr>
          <a:xfrm>
            <a:off x="383776" y="1123174"/>
            <a:ext cx="6071900" cy="4546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快照操作（版本回溯）</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B26B0B24-D1C4-2241-58C9-07FE4EE3964B}"/>
              </a:ext>
            </a:extLst>
          </p:cNvPr>
          <p:cNvSpPr txBox="1"/>
          <p:nvPr/>
        </p:nvSpPr>
        <p:spPr>
          <a:xfrm>
            <a:off x="383776" y="4550104"/>
            <a:ext cx="6071900" cy="4546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辅助工具方法</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2F6E735F-C0F0-D22A-A139-8A52B461DC4B}"/>
              </a:ext>
            </a:extLst>
          </p:cNvPr>
          <p:cNvGraphicFramePr>
            <a:graphicFrameLocks noGrp="1"/>
          </p:cNvGraphicFramePr>
          <p:nvPr>
            <p:extLst>
              <p:ext uri="{D42A27DB-BD31-4B8C-83A1-F6EECF244321}">
                <p14:modId xmlns:p14="http://schemas.microsoft.com/office/powerpoint/2010/main" val="51002514"/>
              </p:ext>
            </p:extLst>
          </p:nvPr>
        </p:nvGraphicFramePr>
        <p:xfrm>
          <a:off x="549000" y="1674338"/>
          <a:ext cx="5760000" cy="2520000"/>
        </p:xfrm>
        <a:graphic>
          <a:graphicData uri="http://schemas.openxmlformats.org/drawingml/2006/table">
            <a:tbl>
              <a:tblPr firstRow="1">
                <a:tableStyleId>{D03447BB-5D67-496B-8E87-E561075AD55C}</a:tableStyleId>
              </a:tblPr>
              <a:tblGrid>
                <a:gridCol w="2880000">
                  <a:extLst>
                    <a:ext uri="{9D8B030D-6E8A-4147-A177-3AD203B41FA5}">
                      <a16:colId xmlns:a16="http://schemas.microsoft.com/office/drawing/2014/main" val="3626834783"/>
                    </a:ext>
                  </a:extLst>
                </a:gridCol>
                <a:gridCol w="2880000">
                  <a:extLst>
                    <a:ext uri="{9D8B030D-6E8A-4147-A177-3AD203B41FA5}">
                      <a16:colId xmlns:a16="http://schemas.microsoft.com/office/drawing/2014/main" val="4007718381"/>
                    </a:ext>
                  </a:extLst>
                </a:gridCol>
              </a:tblGrid>
              <a:tr h="297818">
                <a:tc>
                  <a:txBody>
                    <a:bodyPr/>
                    <a:lstStyle/>
                    <a:p>
                      <a:pPr marL="0" algn="ctr" defTabSz="685800" rtl="0" eaLnBrk="1" latinLnBrk="0" hangingPunct="1">
                        <a:buNone/>
                      </a:pPr>
                      <a:r>
                        <a:rPr lang="zh-CN" altLang="en-US" sz="1000" b="1" kern="1200" dirty="0">
                          <a:solidFill>
                            <a:schemeClr val="lt1"/>
                          </a:solidFill>
                          <a:effectLst/>
                        </a:rPr>
                        <a:t>方法名</a:t>
                      </a:r>
                      <a:endParaRPr lang="zh-CN" altLang="en-US" sz="10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1000" b="1" kern="1200" dirty="0">
                          <a:solidFill>
                            <a:schemeClr val="lt1"/>
                          </a:solidFill>
                          <a:effectLst/>
                        </a:rPr>
                        <a:t>核心逻辑</a:t>
                      </a:r>
                      <a:endParaRPr lang="zh-CN" altLang="en-US" sz="10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2228131590"/>
                  </a:ext>
                </a:extLst>
              </a:tr>
              <a:tr h="710182">
                <a:tc>
                  <a:txBody>
                    <a:bodyPr/>
                    <a:lstStyle/>
                    <a:p>
                      <a:pPr marL="0" algn="ctr" defTabSz="685800" rtl="0" eaLnBrk="1" latinLnBrk="0" hangingPunct="1">
                        <a:buNone/>
                      </a:pPr>
                      <a:r>
                        <a:rPr lang="en-US" sz="900" b="1" kern="1200" dirty="0">
                          <a:solidFill>
                            <a:schemeClr val="lt1"/>
                          </a:solidFill>
                          <a:effectLst/>
                        </a:rPr>
                        <a:t>Capture_Add(string name)</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创建新快照：序列化当前所有节点数据、布局、配置，添加到 </a:t>
                      </a:r>
                      <a:r>
                        <a:rPr lang="en-US" altLang="zh-CN" sz="900" b="1" kern="1200" dirty="0">
                          <a:solidFill>
                            <a:schemeClr val="lt1"/>
                          </a:solidFill>
                          <a:effectLst/>
                        </a:rPr>
                        <a:t>snapshots</a:t>
                      </a:r>
                      <a:r>
                        <a:rPr lang="zh-CN" altLang="en-US" sz="900" b="1" kern="1200" dirty="0">
                          <a:solidFill>
                            <a:schemeClr val="lt1"/>
                          </a:solidFill>
                          <a:effectLst/>
                        </a:rPr>
                        <a:t> 列表</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215982223"/>
                  </a:ext>
                </a:extLst>
              </a:tr>
              <a:tr h="504000">
                <a:tc>
                  <a:txBody>
                    <a:bodyPr/>
                    <a:lstStyle/>
                    <a:p>
                      <a:pPr marL="0" algn="ctr" defTabSz="685800" rtl="0" eaLnBrk="1" latinLnBrk="0" hangingPunct="1">
                        <a:buNone/>
                      </a:pPr>
                      <a:r>
                        <a:rPr lang="en-US" sz="900" b="1" kern="1200" dirty="0">
                          <a:solidFill>
                            <a:schemeClr val="lt1"/>
                          </a:solidFill>
                          <a:effectLst/>
                        </a:rPr>
                        <a:t>Capture_Covering(int index)</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覆盖指定索引的快照：更新对应快照的节点数据、配置，保留快照名称</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1140946648"/>
                  </a:ext>
                </a:extLst>
              </a:tr>
              <a:tr h="504000">
                <a:tc>
                  <a:txBody>
                    <a:bodyPr/>
                    <a:lstStyle/>
                    <a:p>
                      <a:pPr marL="0" algn="ctr" defTabSz="685800" rtl="0" eaLnBrk="1" latinLnBrk="0" hangingPunct="1">
                        <a:buNone/>
                      </a:pPr>
                      <a:r>
                        <a:rPr lang="en-US" sz="900" b="1" kern="1200" dirty="0">
                          <a:solidFill>
                            <a:schemeClr val="lt1"/>
                          </a:solidFill>
                          <a:effectLst/>
                        </a:rPr>
                        <a:t>Capture_Load(int index)</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加载指定快照：将快照中的数据还原到 </a:t>
                      </a:r>
                      <a:r>
                        <a:rPr lang="en-US" sz="900" b="1" kern="1200" dirty="0">
                          <a:solidFill>
                            <a:schemeClr val="lt1"/>
                          </a:solidFill>
                          <a:effectLst/>
                        </a:rPr>
                        <a:t>actions/variables/ </a:t>
                      </a:r>
                      <a:r>
                        <a:rPr lang="zh-CN" altLang="en-US" sz="900" b="1" kern="1200" dirty="0">
                          <a:solidFill>
                            <a:schemeClr val="lt1"/>
                          </a:solidFill>
                          <a:effectLst/>
                        </a:rPr>
                        <a:t>布局属性中</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2812519014"/>
                  </a:ext>
                </a:extLst>
              </a:tr>
              <a:tr h="504000">
                <a:tc>
                  <a:txBody>
                    <a:bodyPr/>
                    <a:lstStyle/>
                    <a:p>
                      <a:pPr marL="0" algn="ctr" defTabSz="685800" rtl="0" eaLnBrk="1" latinLnBrk="0" hangingPunct="1">
                        <a:buNone/>
                      </a:pPr>
                      <a:r>
                        <a:rPr lang="en-US" sz="900" b="1" kern="1200" dirty="0">
                          <a:solidFill>
                            <a:schemeClr val="lt1"/>
                          </a:solidFill>
                          <a:effectLst/>
                        </a:rPr>
                        <a:t>CaptureClear()</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清空所有快照，释放内存（保留最新的节点数据）</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1039679071"/>
                  </a:ext>
                </a:extLst>
              </a:tr>
            </a:tbl>
          </a:graphicData>
        </a:graphic>
      </p:graphicFrame>
      <p:graphicFrame>
        <p:nvGraphicFramePr>
          <p:cNvPr id="4" name="表格 3">
            <a:extLst>
              <a:ext uri="{FF2B5EF4-FFF2-40B4-BE49-F238E27FC236}">
                <a16:creationId xmlns:a16="http://schemas.microsoft.com/office/drawing/2014/main" id="{33C8A6D2-A18C-D02E-5F5E-8512E1772537}"/>
              </a:ext>
            </a:extLst>
          </p:cNvPr>
          <p:cNvGraphicFramePr>
            <a:graphicFrameLocks noGrp="1"/>
          </p:cNvGraphicFramePr>
          <p:nvPr>
            <p:extLst>
              <p:ext uri="{D42A27DB-BD31-4B8C-83A1-F6EECF244321}">
                <p14:modId xmlns:p14="http://schemas.microsoft.com/office/powerpoint/2010/main" val="2005230116"/>
              </p:ext>
            </p:extLst>
          </p:nvPr>
        </p:nvGraphicFramePr>
        <p:xfrm>
          <a:off x="471488" y="5174774"/>
          <a:ext cx="5760000" cy="2520000"/>
        </p:xfrm>
        <a:graphic>
          <a:graphicData uri="http://schemas.openxmlformats.org/drawingml/2006/table">
            <a:tbl>
              <a:tblPr firstRow="1">
                <a:tableStyleId>{D03447BB-5D67-496B-8E87-E561075AD55C}</a:tableStyleId>
              </a:tblPr>
              <a:tblGrid>
                <a:gridCol w="2880000">
                  <a:extLst>
                    <a:ext uri="{9D8B030D-6E8A-4147-A177-3AD203B41FA5}">
                      <a16:colId xmlns:a16="http://schemas.microsoft.com/office/drawing/2014/main" val="2278464285"/>
                    </a:ext>
                  </a:extLst>
                </a:gridCol>
                <a:gridCol w="2880000">
                  <a:extLst>
                    <a:ext uri="{9D8B030D-6E8A-4147-A177-3AD203B41FA5}">
                      <a16:colId xmlns:a16="http://schemas.microsoft.com/office/drawing/2014/main" val="3283093646"/>
                    </a:ext>
                  </a:extLst>
                </a:gridCol>
              </a:tblGrid>
              <a:tr h="414684">
                <a:tc>
                  <a:txBody>
                    <a:bodyPr/>
                    <a:lstStyle/>
                    <a:p>
                      <a:pPr marL="0" algn="ctr" defTabSz="685800" rtl="0" eaLnBrk="1" latinLnBrk="0" hangingPunct="1">
                        <a:buNone/>
                      </a:pPr>
                      <a:r>
                        <a:rPr lang="zh-CN" altLang="en-US" sz="1000" b="1" kern="1200" dirty="0">
                          <a:solidFill>
                            <a:schemeClr val="lt1"/>
                          </a:solidFill>
                          <a:effectLst/>
                        </a:rPr>
                        <a:t>方法名</a:t>
                      </a:r>
                      <a:endParaRPr lang="zh-CN" altLang="en-US" sz="10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1000" b="1" kern="1200" dirty="0">
                          <a:solidFill>
                            <a:schemeClr val="lt1"/>
                          </a:solidFill>
                          <a:effectLst/>
                        </a:rPr>
                        <a:t>核心逻辑</a:t>
                      </a:r>
                      <a:endParaRPr lang="zh-CN" altLang="en-US" sz="10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633949503"/>
                  </a:ext>
                </a:extLst>
              </a:tr>
              <a:tr h="701772">
                <a:tc>
                  <a:txBody>
                    <a:bodyPr/>
                    <a:lstStyle/>
                    <a:p>
                      <a:pPr marL="0" algn="ctr" defTabSz="685800" rtl="0" eaLnBrk="1" latinLnBrk="0" hangingPunct="1">
                        <a:buNone/>
                      </a:pPr>
                      <a:r>
                        <a:rPr lang="en-US" sz="900" b="1" kern="1200" dirty="0">
                          <a:solidFill>
                            <a:schemeClr val="lt1"/>
                          </a:solidFill>
                          <a:effectLst/>
                        </a:rPr>
                        <a:t>GetVariableThemeColor(Type varType)</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根据变量类型（字符串 </a:t>
                      </a:r>
                      <a:r>
                        <a:rPr lang="en-US" altLang="zh-CN" sz="900" b="1" kern="1200" dirty="0">
                          <a:solidFill>
                            <a:schemeClr val="lt1"/>
                          </a:solidFill>
                          <a:effectLst/>
                        </a:rPr>
                        <a:t>/ </a:t>
                      </a:r>
                      <a:r>
                        <a:rPr lang="zh-CN" altLang="en-US" sz="900" b="1" kern="1200" dirty="0">
                          <a:solidFill>
                            <a:schemeClr val="lt1"/>
                          </a:solidFill>
                          <a:effectLst/>
                        </a:rPr>
                        <a:t>数字 </a:t>
                      </a:r>
                      <a:r>
                        <a:rPr lang="en-US" altLang="zh-CN" sz="900" b="1" kern="1200" dirty="0">
                          <a:solidFill>
                            <a:schemeClr val="lt1"/>
                          </a:solidFill>
                          <a:effectLst/>
                        </a:rPr>
                        <a:t>/ </a:t>
                      </a:r>
                      <a:r>
                        <a:rPr lang="zh-CN" altLang="en-US" sz="900" b="1" kern="1200" dirty="0">
                          <a:solidFill>
                            <a:schemeClr val="lt1"/>
                          </a:solidFill>
                          <a:effectLst/>
                        </a:rPr>
                        <a:t>布尔）从 </a:t>
                      </a:r>
                      <a:r>
                        <a:rPr lang="en-US" altLang="zh-CN" sz="900" b="1" kern="1200" dirty="0">
                          <a:solidFill>
                            <a:schemeClr val="lt1"/>
                          </a:solidFill>
                          <a:effectLst/>
                        </a:rPr>
                        <a:t>themeConfig</a:t>
                      </a:r>
                      <a:r>
                        <a:rPr lang="zh-CN" altLang="en-US" sz="900" b="1" kern="1200" dirty="0">
                          <a:solidFill>
                            <a:schemeClr val="lt1"/>
                          </a:solidFill>
                          <a:effectLst/>
                        </a:rPr>
                        <a:t> 获取对应的主题色</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625330571"/>
                  </a:ext>
                </a:extLst>
              </a:tr>
              <a:tr h="701772">
                <a:tc>
                  <a:txBody>
                    <a:bodyPr/>
                    <a:lstStyle/>
                    <a:p>
                      <a:pPr marL="0" algn="ctr" defTabSz="685800" rtl="0" eaLnBrk="1" latinLnBrk="0" hangingPunct="1">
                        <a:buNone/>
                      </a:pPr>
                      <a:r>
                        <a:rPr lang="en-US" sz="900" b="1" kern="1200" dirty="0">
                          <a:solidFill>
                            <a:schemeClr val="lt1"/>
                          </a:solidFill>
                          <a:effectLst/>
                        </a:rPr>
                        <a:t>ValidateGUIDs()</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校验所有节点 </a:t>
                      </a:r>
                      <a:r>
                        <a:rPr lang="en-US" altLang="zh-CN" sz="900" b="1" kern="1200" dirty="0">
                          <a:solidFill>
                            <a:schemeClr val="lt1"/>
                          </a:solidFill>
                          <a:effectLst/>
                        </a:rPr>
                        <a:t>GUID </a:t>
                      </a:r>
                      <a:r>
                        <a:rPr lang="zh-CN" altLang="en-US" sz="900" b="1" kern="1200" dirty="0">
                          <a:solidFill>
                            <a:schemeClr val="lt1"/>
                          </a:solidFill>
                          <a:effectLst/>
                        </a:rPr>
                        <a:t>的唯一性，修复重复 </a:t>
                      </a:r>
                      <a:r>
                        <a:rPr lang="en-US" altLang="zh-CN" sz="900" b="1" kern="1200" dirty="0">
                          <a:solidFill>
                            <a:schemeClr val="lt1"/>
                          </a:solidFill>
                          <a:effectLst/>
                        </a:rPr>
                        <a:t>GUID</a:t>
                      </a:r>
                      <a:r>
                        <a:rPr lang="zh-CN" altLang="en-US" sz="900" b="1" kern="1200" dirty="0">
                          <a:solidFill>
                            <a:schemeClr val="lt1"/>
                          </a:solidFill>
                          <a:effectLst/>
                        </a:rPr>
                        <a:t>（避免数据冲突）</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111300775"/>
                  </a:ext>
                </a:extLst>
              </a:tr>
              <a:tr h="701772">
                <a:tc>
                  <a:txBody>
                    <a:bodyPr/>
                    <a:lstStyle/>
                    <a:p>
                      <a:pPr marL="0" algn="ctr" defTabSz="685800" rtl="0" eaLnBrk="1" latinLnBrk="0" hangingPunct="1">
                        <a:buNone/>
                      </a:pPr>
                      <a:r>
                        <a:rPr lang="en-US" sz="900" b="1" kern="1200" dirty="0">
                          <a:solidFill>
                            <a:schemeClr val="lt1"/>
                          </a:solidFill>
                          <a:effectLst/>
                        </a:rPr>
                        <a:t>ResetEditorConfig()</a:t>
                      </a:r>
                      <a:endParaRPr lang="en-US" sz="900" b="1" kern="1200" dirty="0">
                        <a:solidFill>
                          <a:schemeClr val="lt1"/>
                        </a:solidFill>
                        <a:effectLst/>
                        <a:latin typeface="+mn-lt"/>
                        <a:ea typeface="+mn-ea"/>
                        <a:cs typeface="+mn-cs"/>
                      </a:endParaRPr>
                    </a:p>
                  </a:txBody>
                  <a:tcPr anchor="ctr">
                    <a:solidFill>
                      <a:schemeClr val="bg2">
                        <a:lumMod val="10000"/>
                      </a:schemeClr>
                    </a:solidFill>
                  </a:tcPr>
                </a:tc>
                <a:tc>
                  <a:txBody>
                    <a:bodyPr/>
                    <a:lstStyle/>
                    <a:p>
                      <a:pPr marL="0" algn="ctr" defTabSz="685800" rtl="0" eaLnBrk="1" latinLnBrk="0" hangingPunct="1">
                        <a:buNone/>
                      </a:pPr>
                      <a:r>
                        <a:rPr lang="zh-CN" altLang="en-US" sz="900" b="1" kern="1200" dirty="0">
                          <a:solidFill>
                            <a:schemeClr val="lt1"/>
                          </a:solidFill>
                          <a:effectLst/>
                        </a:rPr>
                        <a:t>重置编辑器配置为默认值（视图位置、面板显示状态、主题色）</a:t>
                      </a:r>
                      <a:endParaRPr lang="zh-CN" altLang="en-US" sz="900" b="1" kern="1200" dirty="0">
                        <a:solidFill>
                          <a:schemeClr val="lt1"/>
                        </a:solidFill>
                        <a:effectLst/>
                        <a:latin typeface="+mn-lt"/>
                        <a:ea typeface="+mn-ea"/>
                        <a:cs typeface="+mn-cs"/>
                      </a:endParaRPr>
                    </a:p>
                  </a:txBody>
                  <a:tcPr anchor="ctr">
                    <a:solidFill>
                      <a:schemeClr val="bg2">
                        <a:lumMod val="10000"/>
                      </a:schemeClr>
                    </a:solidFill>
                  </a:tcPr>
                </a:tc>
                <a:extLst>
                  <a:ext uri="{0D108BD9-81ED-4DB2-BD59-A6C34878D82A}">
                    <a16:rowId xmlns:a16="http://schemas.microsoft.com/office/drawing/2014/main" val="2662035274"/>
                  </a:ext>
                </a:extLst>
              </a:tr>
            </a:tbl>
          </a:graphicData>
        </a:graphic>
      </p:graphicFrame>
    </p:spTree>
    <p:extLst>
      <p:ext uri="{BB962C8B-B14F-4D97-AF65-F5344CB8AC3E}">
        <p14:creationId xmlns:p14="http://schemas.microsoft.com/office/powerpoint/2010/main" val="2684946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ADF4F80A-B537-223F-FF52-0A9235003953}"/>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74959CC-B807-DFB1-7E74-2FD1564FBE87}"/>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95D093F2-A415-017D-D46D-BECE335266CF}"/>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1D7CE78D-273F-9AAB-7D96-77A3A62F6B1C}"/>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663EB573-E981-01F3-66E2-DC55BE69A795}"/>
              </a:ext>
            </a:extLst>
          </p:cNvPr>
          <p:cNvSpPr txBox="1"/>
          <p:nvPr/>
        </p:nvSpPr>
        <p:spPr>
          <a:xfrm>
            <a:off x="383776" y="1152623"/>
            <a:ext cx="6071900" cy="98351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与其他类的协作逻辑</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是整个节点系统的 “数据中心”，与核心类的协作关系如下：</a:t>
            </a:r>
            <a:endParaRPr lang="en-US" altLang="zh-CN" sz="10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9242A014-D219-6817-B3AE-6680A14F6A92}"/>
              </a:ext>
            </a:extLst>
          </p:cNvPr>
          <p:cNvSpPr txBox="1"/>
          <p:nvPr/>
        </p:nvSpPr>
        <p:spPr>
          <a:xfrm>
            <a:off x="383776" y="2054861"/>
            <a:ext cx="6071900" cy="15849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与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及其子类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存储关系：</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actions/variables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列表是所有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子类实例的 “容器”，所有节点数据的增删改查均通过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提供的接口完成；</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同步关系：</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节点数据（如位置、主题色、参数）变更时，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会调用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xAction_Asset.SaveAsset()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触发持久化；</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加载快照时，会直接覆盖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实例的属性。</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E4839611-6E16-2103-F177-742B81D29B2A}"/>
              </a:ext>
            </a:extLst>
          </p:cNvPr>
          <p:cNvSpPr txBox="1"/>
          <p:nvPr/>
        </p:nvSpPr>
        <p:spPr>
          <a:xfrm>
            <a:off x="383776" y="3947796"/>
            <a:ext cx="6071900" cy="15849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与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及其子类（视图层）</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数据绑定：</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编辑器初始化时，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读取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actions/variables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数据，创建对应的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子类实例，并调用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xNode_Base.BindData()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完成视图与数据的绑定；</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交互同步：</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用户操作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（如拖拽节点、编辑参数）时，视图类会调用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SyncViewToAsset()/AddAction()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等方法，将视图变更同步到数据层。</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148F1D8C-3970-2616-0195-778F6E63BB06}"/>
              </a:ext>
            </a:extLst>
          </p:cNvPr>
          <p:cNvSpPr txBox="1"/>
          <p:nvPr/>
        </p:nvSpPr>
        <p:spPr>
          <a:xfrm>
            <a:off x="383776" y="5840731"/>
            <a:ext cx="6071900" cy="158495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与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xg_GraphView</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（编辑器画布）</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布局恢复：</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启动时，调用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xAction_Asset.SyncAssetToView()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恢复上一次编辑的视图位置、缩放比例、面板状态；</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全局操作：</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提供的 “保存快照”“重载行为树”“重置布局” 等按钮，本质是调用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对应的快照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重载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重置方法</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02841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DD907CE7-D95C-4CD0-9B9E-78D5B2DB04B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0129C73-8A02-6504-C2A0-EF26FD346566}"/>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xAction_Asset </a:t>
            </a:r>
            <a:r>
              <a:rPr lang="zh-CN" altLang="en-US" dirty="0"/>
              <a:t>类详解</a:t>
            </a:r>
          </a:p>
        </p:txBody>
      </p:sp>
      <p:sp>
        <p:nvSpPr>
          <p:cNvPr id="6" name="文本框 5">
            <a:extLst>
              <a:ext uri="{FF2B5EF4-FFF2-40B4-BE49-F238E27FC236}">
                <a16:creationId xmlns:a16="http://schemas.microsoft.com/office/drawing/2014/main" id="{7BD5987E-CAEE-48D1-99AE-C0DF97E8FCC8}"/>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2649681D-78A4-9F88-ADD8-5F3C57853C96}"/>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871E95E9-A6A4-4ACB-BB5F-67CD17A3E091}"/>
              </a:ext>
            </a:extLst>
          </p:cNvPr>
          <p:cNvSpPr txBox="1"/>
          <p:nvPr/>
        </p:nvSpPr>
        <p:spPr>
          <a:xfrm>
            <a:off x="393050" y="1035227"/>
            <a:ext cx="6071900" cy="447575"/>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关键特性</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D78ECB42-5CAA-94F6-CEE9-AC57D05EAAE3}"/>
              </a:ext>
            </a:extLst>
          </p:cNvPr>
          <p:cNvSpPr txBox="1"/>
          <p:nvPr/>
        </p:nvSpPr>
        <p:spPr>
          <a:xfrm>
            <a:off x="393050" y="1431674"/>
            <a:ext cx="6071900" cy="90550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持久化存储：</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基于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ScriptableObject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实现，所有属性自动序列化，保存为独立的</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文件，支持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项目的版本控制（如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Git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），可在不同场景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项目中复用节点图资源</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92C804B-795E-A963-DEAF-80B66BE185AC}"/>
              </a:ext>
            </a:extLst>
          </p:cNvPr>
          <p:cNvSpPr txBox="1"/>
          <p:nvPr/>
        </p:nvSpPr>
        <p:spPr>
          <a:xfrm>
            <a:off x="393050" y="2337186"/>
            <a:ext cx="6071900" cy="67292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状态回溯：</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通过快照功能（</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snapshots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）保存节点图的不同版本，支持快速回滚到历史状态，便于调试不同逻辑方案</a:t>
            </a:r>
            <a:endParaRPr lang="en-US" altLang="zh-CN" sz="10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35806AA0-FAF1-D018-AAEC-5E36DF2FAD26}"/>
              </a:ext>
            </a:extLst>
          </p:cNvPr>
          <p:cNvSpPr txBox="1"/>
          <p:nvPr/>
        </p:nvSpPr>
        <p:spPr>
          <a:xfrm>
            <a:off x="393050" y="3013506"/>
            <a:ext cx="6071900" cy="67292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视图记忆：</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持久化编辑器的布局（视图位置、缩放、面板显示状态），下次打开时自动恢复，提升编辑体验</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56F8E9F1-8EAD-66C9-3132-AF2571987577}"/>
              </a:ext>
            </a:extLst>
          </p:cNvPr>
          <p:cNvSpPr txBox="1"/>
          <p:nvPr/>
        </p:nvSpPr>
        <p:spPr>
          <a:xfrm>
            <a:off x="383776" y="3686437"/>
            <a:ext cx="6071900" cy="672931"/>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数据校验：</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内置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ValidateGUIDs()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等方法，避免节点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重复、无效编组、空引用等数据异常，保证节点图的完整性</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AE16FA82-C49F-75C5-61E8-C0275EE5AEC1}"/>
              </a:ext>
            </a:extLst>
          </p:cNvPr>
          <p:cNvSpPr txBox="1"/>
          <p:nvPr/>
        </p:nvSpPr>
        <p:spPr>
          <a:xfrm>
            <a:off x="393050" y="4359368"/>
            <a:ext cx="6071900" cy="672931"/>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外部联动：</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通过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ReloadTreeFromPath()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支持从外部行为树资源同步数据，实现与其他系统（如游戏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行为树）的联动</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24158DA9-9B5E-7EE6-F8B8-CA8EAEAAB50E}"/>
              </a:ext>
            </a:extLst>
          </p:cNvPr>
          <p:cNvSpPr txBox="1"/>
          <p:nvPr/>
        </p:nvSpPr>
        <p:spPr>
          <a:xfrm>
            <a:off x="393050" y="5295827"/>
            <a:ext cx="6071900" cy="447575"/>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典型使用流程</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409D6CEC-C5AE-4A6B-654C-16AE5A3E747E}"/>
              </a:ext>
            </a:extLst>
          </p:cNvPr>
          <p:cNvSpPr txBox="1"/>
          <p:nvPr/>
        </p:nvSpPr>
        <p:spPr>
          <a:xfrm>
            <a:off x="383776" y="5771399"/>
            <a:ext cx="6071900" cy="728477"/>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创建资源：</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编辑器中右键 →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Create → xAction Asset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，生成空的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资源文件</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4" name="文本框 13">
            <a:extLst>
              <a:ext uri="{FF2B5EF4-FFF2-40B4-BE49-F238E27FC236}">
                <a16:creationId xmlns:a16="http://schemas.microsoft.com/office/drawing/2014/main" id="{5C562852-D0BF-BD97-EC8B-8AADC014F781}"/>
              </a:ext>
            </a:extLst>
          </p:cNvPr>
          <p:cNvSpPr txBox="1"/>
          <p:nvPr/>
        </p:nvSpPr>
        <p:spPr>
          <a:xfrm>
            <a:off x="383776" y="6448550"/>
            <a:ext cx="6071900" cy="82783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编辑节点：</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中创建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编辑节点，视图层自动调用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xAction_Asset.AddAction()/SyncViewToAsset()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同步数据；</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D09CB961-BA37-3243-ADA8-D1757D6A9D11}"/>
              </a:ext>
            </a:extLst>
          </p:cNvPr>
          <p:cNvSpPr txBox="1"/>
          <p:nvPr/>
        </p:nvSpPr>
        <p:spPr>
          <a:xfrm>
            <a:off x="393050" y="7276388"/>
            <a:ext cx="6071900" cy="62911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保存快照：</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点击 “保存快照” 按钮，调用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Capture_Add()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存储当前节点图状态；</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BF700478-C1E6-1710-4673-D5FE02406657}"/>
              </a:ext>
            </a:extLst>
          </p:cNvPr>
          <p:cNvSpPr txBox="1"/>
          <p:nvPr/>
        </p:nvSpPr>
        <p:spPr>
          <a:xfrm>
            <a:off x="383776" y="7944269"/>
            <a:ext cx="6071900" cy="629117"/>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持久化：</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自动序列化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，或手动调用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SaveAsset()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强制保存</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CE4336F9-3914-6731-E4A7-81D536263D46}"/>
              </a:ext>
            </a:extLst>
          </p:cNvPr>
          <p:cNvSpPr txBox="1"/>
          <p:nvPr/>
        </p:nvSpPr>
        <p:spPr>
          <a:xfrm>
            <a:off x="393050" y="8650108"/>
            <a:ext cx="6071900" cy="62911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重载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回溯：</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如需恢复历史状态，调用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Capture_Load()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；如需同步外部数据，调用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ReloadTreeFromPath()</a:t>
            </a:r>
            <a:endParaRPr lang="en-US" altLang="zh-CN" sz="8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15676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EB46F75B-A62D-905C-F7B3-CEB3E984CAB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3833B435-D7AD-78F8-FAB2-F26F3CFEF423}"/>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xAction_Base_ </a:t>
            </a:r>
            <a:r>
              <a:rPr lang="zh-CN" altLang="en-US" dirty="0"/>
              <a:t>类详解</a:t>
            </a:r>
          </a:p>
        </p:txBody>
      </p:sp>
      <p:sp>
        <p:nvSpPr>
          <p:cNvPr id="6" name="文本框 5">
            <a:extLst>
              <a:ext uri="{FF2B5EF4-FFF2-40B4-BE49-F238E27FC236}">
                <a16:creationId xmlns:a16="http://schemas.microsoft.com/office/drawing/2014/main" id="{A37F03F9-CF1E-FB3B-5664-04972EA80AA0}"/>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BAE6CC2C-4BDF-06D2-65C9-8A67240F1A1B}"/>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B8094DA7-7F90-039F-67DA-C85ABFA43820}"/>
              </a:ext>
            </a:extLst>
          </p:cNvPr>
          <p:cNvSpPr txBox="1"/>
          <p:nvPr/>
        </p:nvSpPr>
        <p:spPr>
          <a:xfrm>
            <a:off x="383776" y="2659378"/>
            <a:ext cx="6071900" cy="246179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核心继承关系（父子类层级）</a:t>
            </a: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作为根基类，衍生出多个专注于特定场景的子类</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（基类）</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（变量节点数据类）</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xAction_Debug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（调试节点数据类）</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xAction_Branch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（分支节点数据类，逻辑判断）</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xAction_Composite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（复合节点数据类，多子节点执行）</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xAction_Wait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（等待节点数据类，延时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条件等待）</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B519D640-B6D1-CA00-F9CB-D6721BA13708}"/>
              </a:ext>
            </a:extLst>
          </p:cNvPr>
          <p:cNvSpPr txBox="1"/>
          <p:nvPr/>
        </p:nvSpPr>
        <p:spPr>
          <a:xfrm>
            <a:off x="383776" y="1152623"/>
            <a:ext cx="6071900" cy="973355"/>
          </a:xfrm>
          <a:prstGeom prst="rect">
            <a:avLst/>
          </a:prstGeom>
          <a:noFill/>
        </p:spPr>
        <p:txBody>
          <a:bodyPr wrap="square" numCol="1" spcCol="360000" rtlCol="0">
            <a:noAutofit/>
          </a:bodyPr>
          <a:lstStyle/>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是整个节点可视化工具中行为类节点的核心基类，定义了行为节点的通用数据结构、执行逻辑和回调体系，所有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相关类均直接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间接继承自它，或与它形成数据绑定、功能扩展的关系。以下从继承关系、功能分工、数据交互三个维度详细拆解：</a:t>
            </a:r>
          </a:p>
        </p:txBody>
      </p:sp>
      <p:sp>
        <p:nvSpPr>
          <p:cNvPr id="4" name="文本框 3">
            <a:extLst>
              <a:ext uri="{FF2B5EF4-FFF2-40B4-BE49-F238E27FC236}">
                <a16:creationId xmlns:a16="http://schemas.microsoft.com/office/drawing/2014/main" id="{A6220839-E36E-F5CA-6672-A09045306A41}"/>
              </a:ext>
            </a:extLst>
          </p:cNvPr>
          <p:cNvSpPr txBox="1"/>
          <p:nvPr/>
        </p:nvSpPr>
        <p:spPr>
          <a:xfrm>
            <a:off x="383776" y="5654574"/>
            <a:ext cx="6071900" cy="396186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基类：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xAction_Base</a:t>
            </a: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所有行为节点的 “数据核心”，不对应具体功能，仅封装通用属性和方法。</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核心属性：</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基础标识：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identifyName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（节点名称）、</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（唯一标识）、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position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（节点位置）、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size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（节点尺寸）</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逻辑关联：</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parentGUID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（父节点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childGUIDs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（子节点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列表）、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portDatas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（端口数据）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样式配置：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themeColor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（主题色）、</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icon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（节点图标）、</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markColor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（标记色）</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状态控制：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isEnable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（是否启用）、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executeMode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（执行模式：顺序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并发）</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核心方法：</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生命周期：</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Initialize()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（初始化）、</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（执行节点逻辑）、</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（重置状态）；</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事件回调：</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On_VariablesValue_Changed()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（变量值变更回调）、</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On_ThemeColor_Changed()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（主题色变更回调）；</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数据管理：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BindVariable()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（绑定变量）、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UnbindVariable()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（解绑变量）、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SaveData()</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（保存数据）。</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pic>
        <p:nvPicPr>
          <p:cNvPr id="13" name="图片 12">
            <a:extLst>
              <a:ext uri="{FF2B5EF4-FFF2-40B4-BE49-F238E27FC236}">
                <a16:creationId xmlns:a16="http://schemas.microsoft.com/office/drawing/2014/main" id="{4FF516C0-F547-8B76-AB42-7242C4251B2F}"/>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3962402" y="2200717"/>
            <a:ext cx="2387598" cy="3894918"/>
          </a:xfrm>
          <a:prstGeom prst="rect">
            <a:avLst/>
          </a:prstGeom>
        </p:spPr>
      </p:pic>
    </p:spTree>
    <p:extLst>
      <p:ext uri="{BB962C8B-B14F-4D97-AF65-F5344CB8AC3E}">
        <p14:creationId xmlns:p14="http://schemas.microsoft.com/office/powerpoint/2010/main" val="1220319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69C900F7-30AB-9152-C1F3-526237BE3673}"/>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9D8A056-9EB3-DF5F-1ACE-708388EC7785}"/>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xAction_Base_ </a:t>
            </a:r>
            <a:r>
              <a:rPr lang="zh-CN" altLang="en-US" dirty="0"/>
              <a:t>类详解</a:t>
            </a:r>
          </a:p>
        </p:txBody>
      </p:sp>
      <p:sp>
        <p:nvSpPr>
          <p:cNvPr id="6" name="文本框 5">
            <a:extLst>
              <a:ext uri="{FF2B5EF4-FFF2-40B4-BE49-F238E27FC236}">
                <a16:creationId xmlns:a16="http://schemas.microsoft.com/office/drawing/2014/main" id="{6411CC5E-6120-1A90-C9C2-207FC372204F}"/>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AA21FFC7-C14F-2C65-BCF6-E5449B5CEBF9}"/>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4" name="文本框 3">
            <a:extLst>
              <a:ext uri="{FF2B5EF4-FFF2-40B4-BE49-F238E27FC236}">
                <a16:creationId xmlns:a16="http://schemas.microsoft.com/office/drawing/2014/main" id="{92418FFC-2890-DC22-9EB0-8696621201CA}"/>
              </a:ext>
            </a:extLst>
          </p:cNvPr>
          <p:cNvSpPr txBox="1"/>
          <p:nvPr/>
        </p:nvSpPr>
        <p:spPr>
          <a:xfrm>
            <a:off x="383776" y="1080682"/>
            <a:ext cx="6071900" cy="337066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子类：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xAction_Variable</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（变量节点数据类）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专门管理 “变量数据” 的节点，是变量节点（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）的底层数据载体</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核心扩展：</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新增属性：</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variableType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（变量类型：字符串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数字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布尔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向量等）、</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variableValue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（变量值，泛型存储）、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blackboardGUID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（关联的黑板变量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新增方法：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Initialized()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（根据变量类型初始化默认值）、</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SetValue()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（设置变量值，自动触发回调）、</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GetValue()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（获取变量值，支持类型转换）；）</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与基类的联动：</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重写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On_VariablesValue_Changed()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，当变量值修改时，同步更新所有关联的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子类节点（如调试节点、分支节点）</a:t>
            </a:r>
          </a:p>
        </p:txBody>
      </p:sp>
      <p:sp>
        <p:nvSpPr>
          <p:cNvPr id="2" name="文本框 1">
            <a:extLst>
              <a:ext uri="{FF2B5EF4-FFF2-40B4-BE49-F238E27FC236}">
                <a16:creationId xmlns:a16="http://schemas.microsoft.com/office/drawing/2014/main" id="{69B288C9-54FD-49CD-4824-760B11747D1B}"/>
              </a:ext>
            </a:extLst>
          </p:cNvPr>
          <p:cNvSpPr txBox="1"/>
          <p:nvPr/>
        </p:nvSpPr>
        <p:spPr>
          <a:xfrm>
            <a:off x="383776" y="4150022"/>
            <a:ext cx="6071900" cy="2323423"/>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子类：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xAction_Debug</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（调试节点数据类）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用于 “调试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日志输出” 的节点，执行时输出自定义信息</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核心扩展：</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新增属性：</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Prefix</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（日志前缀）、</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Msg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（日志内容）、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executeLog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（是否输出执行日志）；</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重写方法：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（执行时调用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Debug.Log()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输出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Prefix + Msg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，支持绑定变量动态替换内容）；</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扩展方法：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DebugMessage_withPort()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（通过端口绑定变量，动态生成日志内容）、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SetPrefix_withPort()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（通过端口设置日志前缀）。</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B329C946-56DA-D5DF-1DE7-EACA5EE749A3}"/>
              </a:ext>
            </a:extLst>
          </p:cNvPr>
          <p:cNvSpPr txBox="1"/>
          <p:nvPr/>
        </p:nvSpPr>
        <p:spPr>
          <a:xfrm>
            <a:off x="383776" y="6473445"/>
            <a:ext cx="6071900" cy="438827"/>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其他子类（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 / Branch / Composite / Wait</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p:txBody>
      </p:sp>
      <p:graphicFrame>
        <p:nvGraphicFramePr>
          <p:cNvPr id="8" name="表格 7">
            <a:extLst>
              <a:ext uri="{FF2B5EF4-FFF2-40B4-BE49-F238E27FC236}">
                <a16:creationId xmlns:a16="http://schemas.microsoft.com/office/drawing/2014/main" id="{213E9BCF-F43F-8A6F-C5BA-4FC9E2A67A9F}"/>
              </a:ext>
            </a:extLst>
          </p:cNvPr>
          <p:cNvGraphicFramePr>
            <a:graphicFrameLocks noGrp="1"/>
          </p:cNvGraphicFramePr>
          <p:nvPr>
            <p:extLst>
              <p:ext uri="{D42A27DB-BD31-4B8C-83A1-F6EECF244321}">
                <p14:modId xmlns:p14="http://schemas.microsoft.com/office/powerpoint/2010/main" val="3820389140"/>
              </p:ext>
            </p:extLst>
          </p:nvPr>
        </p:nvGraphicFramePr>
        <p:xfrm>
          <a:off x="549000" y="7090410"/>
          <a:ext cx="5760000" cy="2520001"/>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2317328843"/>
                    </a:ext>
                  </a:extLst>
                </a:gridCol>
                <a:gridCol w="1920000">
                  <a:extLst>
                    <a:ext uri="{9D8B030D-6E8A-4147-A177-3AD203B41FA5}">
                      <a16:colId xmlns:a16="http://schemas.microsoft.com/office/drawing/2014/main" val="472035605"/>
                    </a:ext>
                  </a:extLst>
                </a:gridCol>
                <a:gridCol w="1920000">
                  <a:extLst>
                    <a:ext uri="{9D8B030D-6E8A-4147-A177-3AD203B41FA5}">
                      <a16:colId xmlns:a16="http://schemas.microsoft.com/office/drawing/2014/main" val="2082276890"/>
                    </a:ext>
                  </a:extLst>
                </a:gridCol>
              </a:tblGrid>
              <a:tr h="307319">
                <a:tc>
                  <a:txBody>
                    <a:bodyPr/>
                    <a:lstStyle/>
                    <a:p>
                      <a:pPr algn="ctr">
                        <a:buNone/>
                      </a:pPr>
                      <a:r>
                        <a:rPr lang="zh-CN" altLang="en-US" sz="1000" b="1" dirty="0">
                          <a:solidFill>
                            <a:schemeClr val="bg1">
                              <a:lumMod val="95000"/>
                            </a:schemeClr>
                          </a:solidFill>
                          <a:effectLst/>
                        </a:rPr>
                        <a:t>子类</a:t>
                      </a:r>
                    </a:p>
                  </a:txBody>
                  <a:tcPr anchor="ctr">
                    <a:solidFill>
                      <a:schemeClr val="bg2">
                        <a:lumMod val="10000"/>
                      </a:schemeClr>
                    </a:solidFill>
                  </a:tcPr>
                </a:tc>
                <a:tc>
                  <a:txBody>
                    <a:bodyPr/>
                    <a:lstStyle/>
                    <a:p>
                      <a:pPr algn="ctr">
                        <a:buNone/>
                      </a:pPr>
                      <a:r>
                        <a:rPr lang="zh-CN" altLang="en-US" sz="1000" b="1" dirty="0">
                          <a:solidFill>
                            <a:schemeClr val="bg1">
                              <a:lumMod val="95000"/>
                            </a:schemeClr>
                          </a:solidFill>
                          <a:effectLst/>
                        </a:rPr>
                        <a:t>核心定位</a:t>
                      </a:r>
                    </a:p>
                  </a:txBody>
                  <a:tcPr anchor="ctr">
                    <a:solidFill>
                      <a:schemeClr val="bg2">
                        <a:lumMod val="10000"/>
                      </a:schemeClr>
                    </a:solidFill>
                  </a:tcPr>
                </a:tc>
                <a:tc>
                  <a:txBody>
                    <a:bodyPr/>
                    <a:lstStyle/>
                    <a:p>
                      <a:pPr algn="ctr">
                        <a:buNone/>
                      </a:pPr>
                      <a:r>
                        <a:rPr lang="zh-CN" altLang="en-US" sz="1000" b="1" dirty="0">
                          <a:solidFill>
                            <a:schemeClr val="bg1">
                              <a:lumMod val="95000"/>
                            </a:schemeClr>
                          </a:solidFill>
                          <a:effectLst/>
                        </a:rPr>
                        <a:t>关键扩展（对比基类）</a:t>
                      </a:r>
                    </a:p>
                  </a:txBody>
                  <a:tcPr anchor="ctr">
                    <a:solidFill>
                      <a:schemeClr val="bg2">
                        <a:lumMod val="10000"/>
                      </a:schemeClr>
                    </a:solidFill>
                  </a:tcPr>
                </a:tc>
                <a:extLst>
                  <a:ext uri="{0D108BD9-81ED-4DB2-BD59-A6C34878D82A}">
                    <a16:rowId xmlns:a16="http://schemas.microsoft.com/office/drawing/2014/main" val="3753737427"/>
                  </a:ext>
                </a:extLst>
              </a:tr>
              <a:tr h="860488">
                <a:tc>
                  <a:txBody>
                    <a:bodyPr/>
                    <a:lstStyle/>
                    <a:p>
                      <a:pPr algn="ctr">
                        <a:buNone/>
                      </a:pPr>
                      <a:r>
                        <a:rPr lang="en-US" sz="900" b="0" dirty="0">
                          <a:solidFill>
                            <a:schemeClr val="bg1">
                              <a:lumMod val="95000"/>
                            </a:schemeClr>
                          </a:solidFill>
                          <a:effectLst/>
                        </a:rPr>
                        <a:t>xAction_Branch</a:t>
                      </a:r>
                    </a:p>
                  </a:txBody>
                  <a:tcPr anchor="ctr">
                    <a:solidFill>
                      <a:schemeClr val="bg2">
                        <a:lumMod val="10000"/>
                      </a:schemeClr>
                    </a:solidFill>
                  </a:tcPr>
                </a:tc>
                <a:tc>
                  <a:txBody>
                    <a:bodyPr/>
                    <a:lstStyle/>
                    <a:p>
                      <a:pPr algn="ctr">
                        <a:buNone/>
                      </a:pPr>
                      <a:r>
                        <a:rPr lang="zh-CN" altLang="en-US" sz="900" b="0" dirty="0">
                          <a:solidFill>
                            <a:schemeClr val="bg1">
                              <a:lumMod val="95000"/>
                            </a:schemeClr>
                          </a:solidFill>
                          <a:effectLst/>
                        </a:rPr>
                        <a:t>条件分支逻辑（</a:t>
                      </a:r>
                      <a:r>
                        <a:rPr lang="en-US" altLang="zh-CN" sz="900" b="0" dirty="0">
                          <a:solidFill>
                            <a:schemeClr val="bg1">
                              <a:lumMod val="95000"/>
                            </a:schemeClr>
                          </a:solidFill>
                          <a:effectLst/>
                        </a:rPr>
                        <a:t>if-else</a:t>
                      </a:r>
                      <a:r>
                        <a:rPr lang="zh-CN" altLang="en-US" sz="900" b="0" dirty="0">
                          <a:solidFill>
                            <a:schemeClr val="bg1">
                              <a:lumMod val="95000"/>
                            </a:schemeClr>
                          </a:solidFill>
                          <a:effectLst/>
                        </a:rPr>
                        <a:t>）</a:t>
                      </a:r>
                    </a:p>
                  </a:txBody>
                  <a:tcPr anchor="ctr">
                    <a:solidFill>
                      <a:schemeClr val="bg2">
                        <a:lumMod val="10000"/>
                      </a:schemeClr>
                    </a:solidFill>
                  </a:tcPr>
                </a:tc>
                <a:tc>
                  <a:txBody>
                    <a:bodyPr/>
                    <a:lstStyle/>
                    <a:p>
                      <a:pPr algn="ctr">
                        <a:buNone/>
                      </a:pPr>
                      <a:r>
                        <a:rPr lang="zh-CN" altLang="en-US" sz="900" b="0" dirty="0">
                          <a:solidFill>
                            <a:schemeClr val="bg1">
                              <a:lumMod val="95000"/>
                            </a:schemeClr>
                          </a:solidFill>
                          <a:effectLst/>
                        </a:rPr>
                        <a:t>新增 </a:t>
                      </a:r>
                      <a:r>
                        <a:rPr lang="en-US" sz="900" b="0" dirty="0">
                          <a:solidFill>
                            <a:schemeClr val="bg1">
                              <a:lumMod val="95000"/>
                            </a:schemeClr>
                          </a:solidFill>
                          <a:effectLst/>
                        </a:rPr>
                        <a:t>condition（</a:t>
                      </a:r>
                      <a:r>
                        <a:rPr lang="zh-CN" altLang="en-US" sz="900" b="0" dirty="0">
                          <a:solidFill>
                            <a:schemeClr val="bg1">
                              <a:lumMod val="95000"/>
                            </a:schemeClr>
                          </a:solidFill>
                          <a:effectLst/>
                        </a:rPr>
                        <a:t>判断条件）、</a:t>
                      </a:r>
                      <a:r>
                        <a:rPr lang="en-US" sz="900" b="0" dirty="0">
                          <a:solidFill>
                            <a:schemeClr val="bg1">
                              <a:lumMod val="95000"/>
                            </a:schemeClr>
                          </a:solidFill>
                          <a:effectLst/>
                        </a:rPr>
                        <a:t>trueGUID/falseGUID（</a:t>
                      </a:r>
                      <a:r>
                        <a:rPr lang="zh-CN" altLang="en-US" sz="900" b="0" dirty="0">
                          <a:solidFill>
                            <a:schemeClr val="bg1">
                              <a:lumMod val="95000"/>
                            </a:schemeClr>
                          </a:solidFill>
                          <a:effectLst/>
                        </a:rPr>
                        <a:t>分支节点 </a:t>
                      </a:r>
                      <a:r>
                        <a:rPr lang="en-US" sz="900" b="0" dirty="0">
                          <a:solidFill>
                            <a:schemeClr val="bg1">
                              <a:lumMod val="95000"/>
                            </a:schemeClr>
                          </a:solidFill>
                          <a:effectLst/>
                        </a:rPr>
                        <a:t>GUID）；</a:t>
                      </a:r>
                      <a:r>
                        <a:rPr lang="zh-CN" altLang="en-US" sz="900" b="0" dirty="0">
                          <a:solidFill>
                            <a:schemeClr val="bg1">
                              <a:lumMod val="95000"/>
                            </a:schemeClr>
                          </a:solidFill>
                          <a:effectLst/>
                        </a:rPr>
                        <a:t>重写 </a:t>
                      </a:r>
                      <a:r>
                        <a:rPr lang="en-US" sz="900" b="0" dirty="0">
                          <a:solidFill>
                            <a:schemeClr val="bg1">
                              <a:lumMod val="95000"/>
                            </a:schemeClr>
                          </a:solidFill>
                          <a:effectLst/>
                        </a:rPr>
                        <a:t>Execute() </a:t>
                      </a:r>
                      <a:r>
                        <a:rPr lang="zh-CN" altLang="en-US" sz="900" b="0" dirty="0">
                          <a:solidFill>
                            <a:schemeClr val="bg1">
                              <a:lumMod val="95000"/>
                            </a:schemeClr>
                          </a:solidFill>
                          <a:effectLst/>
                        </a:rPr>
                        <a:t>执行条件判断并跳转对应分支</a:t>
                      </a:r>
                    </a:p>
                  </a:txBody>
                  <a:tcPr anchor="ctr">
                    <a:solidFill>
                      <a:schemeClr val="bg2">
                        <a:lumMod val="10000"/>
                      </a:schemeClr>
                    </a:solidFill>
                  </a:tcPr>
                </a:tc>
                <a:extLst>
                  <a:ext uri="{0D108BD9-81ED-4DB2-BD59-A6C34878D82A}">
                    <a16:rowId xmlns:a16="http://schemas.microsoft.com/office/drawing/2014/main" val="2482867670"/>
                  </a:ext>
                </a:extLst>
              </a:tr>
              <a:tr h="676097">
                <a:tc>
                  <a:txBody>
                    <a:bodyPr/>
                    <a:lstStyle/>
                    <a:p>
                      <a:pPr algn="ctr">
                        <a:buNone/>
                      </a:pPr>
                      <a:r>
                        <a:rPr lang="en-US" sz="900" b="0" dirty="0">
                          <a:solidFill>
                            <a:schemeClr val="bg1">
                              <a:lumMod val="95000"/>
                            </a:schemeClr>
                          </a:solidFill>
                          <a:effectLst/>
                        </a:rPr>
                        <a:t>xAction_Composite</a:t>
                      </a:r>
                    </a:p>
                  </a:txBody>
                  <a:tcPr anchor="ctr">
                    <a:solidFill>
                      <a:schemeClr val="bg2">
                        <a:lumMod val="10000"/>
                      </a:schemeClr>
                    </a:solidFill>
                  </a:tcPr>
                </a:tc>
                <a:tc>
                  <a:txBody>
                    <a:bodyPr/>
                    <a:lstStyle/>
                    <a:p>
                      <a:pPr algn="ctr">
                        <a:buNone/>
                      </a:pPr>
                      <a:r>
                        <a:rPr lang="zh-CN" altLang="en-US" sz="900" b="0" dirty="0">
                          <a:solidFill>
                            <a:schemeClr val="bg1">
                              <a:lumMod val="95000"/>
                            </a:schemeClr>
                          </a:solidFill>
                          <a:effectLst/>
                        </a:rPr>
                        <a:t>多子节点执行（顺序 </a:t>
                      </a:r>
                      <a:r>
                        <a:rPr lang="en-US" altLang="zh-CN" sz="900" b="0" dirty="0">
                          <a:solidFill>
                            <a:schemeClr val="bg1">
                              <a:lumMod val="95000"/>
                            </a:schemeClr>
                          </a:solidFill>
                          <a:effectLst/>
                        </a:rPr>
                        <a:t>/ </a:t>
                      </a:r>
                      <a:r>
                        <a:rPr lang="zh-CN" altLang="en-US" sz="900" b="0" dirty="0">
                          <a:solidFill>
                            <a:schemeClr val="bg1">
                              <a:lumMod val="95000"/>
                            </a:schemeClr>
                          </a:solidFill>
                          <a:effectLst/>
                        </a:rPr>
                        <a:t>并发）</a:t>
                      </a:r>
                    </a:p>
                  </a:txBody>
                  <a:tcPr anchor="ctr">
                    <a:solidFill>
                      <a:schemeClr val="bg2">
                        <a:lumMod val="10000"/>
                      </a:schemeClr>
                    </a:solidFill>
                  </a:tcPr>
                </a:tc>
                <a:tc>
                  <a:txBody>
                    <a:bodyPr/>
                    <a:lstStyle/>
                    <a:p>
                      <a:pPr algn="ctr">
                        <a:buNone/>
                      </a:pPr>
                      <a:r>
                        <a:rPr lang="zh-CN" altLang="en-US" sz="900" b="0" dirty="0">
                          <a:solidFill>
                            <a:schemeClr val="bg1">
                              <a:lumMod val="95000"/>
                            </a:schemeClr>
                          </a:solidFill>
                          <a:effectLst/>
                        </a:rPr>
                        <a:t>新增 </a:t>
                      </a:r>
                      <a:r>
                        <a:rPr lang="en-US" sz="900" b="0" dirty="0">
                          <a:solidFill>
                            <a:schemeClr val="bg1">
                              <a:lumMod val="95000"/>
                            </a:schemeClr>
                          </a:solidFill>
                          <a:effectLst/>
                        </a:rPr>
                        <a:t>childExecuteOrder（</a:t>
                      </a:r>
                      <a:r>
                        <a:rPr lang="zh-CN" altLang="en-US" sz="900" b="0" dirty="0">
                          <a:solidFill>
                            <a:schemeClr val="bg1">
                              <a:lumMod val="95000"/>
                            </a:schemeClr>
                          </a:solidFill>
                          <a:effectLst/>
                        </a:rPr>
                        <a:t>子节点执行顺序）；重写 </a:t>
                      </a:r>
                      <a:r>
                        <a:rPr lang="en-US" sz="900" b="0" dirty="0">
                          <a:solidFill>
                            <a:schemeClr val="bg1">
                              <a:lumMod val="95000"/>
                            </a:schemeClr>
                          </a:solidFill>
                          <a:effectLst/>
                        </a:rPr>
                        <a:t>Execute() </a:t>
                      </a:r>
                      <a:r>
                        <a:rPr lang="zh-CN" altLang="en-US" sz="900" b="0" dirty="0">
                          <a:solidFill>
                            <a:schemeClr val="bg1">
                              <a:lumMod val="95000"/>
                            </a:schemeClr>
                          </a:solidFill>
                          <a:effectLst/>
                        </a:rPr>
                        <a:t>按模式执行所有子节点</a:t>
                      </a:r>
                    </a:p>
                  </a:txBody>
                  <a:tcPr anchor="ctr">
                    <a:solidFill>
                      <a:schemeClr val="bg2">
                        <a:lumMod val="10000"/>
                      </a:schemeClr>
                    </a:solidFill>
                  </a:tcPr>
                </a:tc>
                <a:extLst>
                  <a:ext uri="{0D108BD9-81ED-4DB2-BD59-A6C34878D82A}">
                    <a16:rowId xmlns:a16="http://schemas.microsoft.com/office/drawing/2014/main" val="2848401790"/>
                  </a:ext>
                </a:extLst>
              </a:tr>
              <a:tr h="676097">
                <a:tc>
                  <a:txBody>
                    <a:bodyPr/>
                    <a:lstStyle/>
                    <a:p>
                      <a:pPr algn="ctr">
                        <a:buNone/>
                      </a:pPr>
                      <a:r>
                        <a:rPr lang="en-US" sz="900" b="0" dirty="0">
                          <a:solidFill>
                            <a:schemeClr val="bg1">
                              <a:lumMod val="95000"/>
                            </a:schemeClr>
                          </a:solidFill>
                          <a:effectLst/>
                        </a:rPr>
                        <a:t>xAction_Wait</a:t>
                      </a:r>
                    </a:p>
                  </a:txBody>
                  <a:tcPr anchor="ctr">
                    <a:solidFill>
                      <a:schemeClr val="bg2">
                        <a:lumMod val="10000"/>
                      </a:schemeClr>
                    </a:solidFill>
                  </a:tcPr>
                </a:tc>
                <a:tc>
                  <a:txBody>
                    <a:bodyPr/>
                    <a:lstStyle/>
                    <a:p>
                      <a:pPr algn="ctr">
                        <a:buNone/>
                      </a:pPr>
                      <a:r>
                        <a:rPr lang="zh-CN" altLang="en-US" sz="900" b="0">
                          <a:solidFill>
                            <a:schemeClr val="bg1">
                              <a:lumMod val="95000"/>
                            </a:schemeClr>
                          </a:solidFill>
                          <a:effectLst/>
                        </a:rPr>
                        <a:t>延时 </a:t>
                      </a:r>
                      <a:r>
                        <a:rPr lang="en-US" altLang="zh-CN" sz="900" b="0" dirty="0">
                          <a:solidFill>
                            <a:schemeClr val="bg1">
                              <a:lumMod val="95000"/>
                            </a:schemeClr>
                          </a:solidFill>
                          <a:effectLst/>
                        </a:rPr>
                        <a:t>/ </a:t>
                      </a:r>
                      <a:r>
                        <a:rPr lang="zh-CN" altLang="en-US" sz="900" b="0">
                          <a:solidFill>
                            <a:schemeClr val="bg1">
                              <a:lumMod val="95000"/>
                            </a:schemeClr>
                          </a:solidFill>
                          <a:effectLst/>
                        </a:rPr>
                        <a:t>条件等待</a:t>
                      </a:r>
                    </a:p>
                  </a:txBody>
                  <a:tcPr anchor="ctr">
                    <a:solidFill>
                      <a:schemeClr val="bg2">
                        <a:lumMod val="10000"/>
                      </a:schemeClr>
                    </a:solidFill>
                  </a:tcPr>
                </a:tc>
                <a:tc>
                  <a:txBody>
                    <a:bodyPr/>
                    <a:lstStyle/>
                    <a:p>
                      <a:pPr algn="ctr">
                        <a:buNone/>
                      </a:pPr>
                      <a:r>
                        <a:rPr lang="zh-CN" altLang="en-US" sz="900" b="0" dirty="0">
                          <a:solidFill>
                            <a:schemeClr val="bg1">
                              <a:lumMod val="95000"/>
                            </a:schemeClr>
                          </a:solidFill>
                          <a:effectLst/>
                        </a:rPr>
                        <a:t>新增 </a:t>
                      </a:r>
                      <a:r>
                        <a:rPr lang="en-US" sz="900" b="0" dirty="0">
                          <a:solidFill>
                            <a:schemeClr val="bg1">
                              <a:lumMod val="95000"/>
                            </a:schemeClr>
                          </a:solidFill>
                          <a:effectLst/>
                        </a:rPr>
                        <a:t>waitTime（</a:t>
                      </a:r>
                      <a:r>
                        <a:rPr lang="zh-CN" altLang="en-US" sz="900" b="0" dirty="0">
                          <a:solidFill>
                            <a:schemeClr val="bg1">
                              <a:lumMod val="95000"/>
                            </a:schemeClr>
                          </a:solidFill>
                          <a:effectLst/>
                        </a:rPr>
                        <a:t>延时时长）、</a:t>
                      </a:r>
                      <a:r>
                        <a:rPr lang="en-US" sz="900" b="0" dirty="0">
                          <a:solidFill>
                            <a:schemeClr val="bg1">
                              <a:lumMod val="95000"/>
                            </a:schemeClr>
                          </a:solidFill>
                          <a:effectLst/>
                        </a:rPr>
                        <a:t>waitCondition（</a:t>
                      </a:r>
                      <a:r>
                        <a:rPr lang="zh-CN" altLang="en-US" sz="900" b="0" dirty="0">
                          <a:solidFill>
                            <a:schemeClr val="bg1">
                              <a:lumMod val="95000"/>
                            </a:schemeClr>
                          </a:solidFill>
                          <a:effectLst/>
                        </a:rPr>
                        <a:t>等待条件）；重写 </a:t>
                      </a:r>
                      <a:r>
                        <a:rPr lang="en-US" sz="900" b="0" dirty="0">
                          <a:solidFill>
                            <a:schemeClr val="bg1">
                              <a:lumMod val="95000"/>
                            </a:schemeClr>
                          </a:solidFill>
                          <a:effectLst/>
                        </a:rPr>
                        <a:t>Execute() </a:t>
                      </a:r>
                      <a:r>
                        <a:rPr lang="zh-CN" altLang="en-US" sz="900" b="0" dirty="0">
                          <a:solidFill>
                            <a:schemeClr val="bg1">
                              <a:lumMod val="95000"/>
                            </a:schemeClr>
                          </a:solidFill>
                          <a:effectLst/>
                        </a:rPr>
                        <a:t>触发等待逻辑</a:t>
                      </a:r>
                    </a:p>
                  </a:txBody>
                  <a:tcPr anchor="ctr">
                    <a:solidFill>
                      <a:schemeClr val="bg2">
                        <a:lumMod val="10000"/>
                      </a:schemeClr>
                    </a:solidFill>
                  </a:tcPr>
                </a:tc>
                <a:extLst>
                  <a:ext uri="{0D108BD9-81ED-4DB2-BD59-A6C34878D82A}">
                    <a16:rowId xmlns:a16="http://schemas.microsoft.com/office/drawing/2014/main" val="311523306"/>
                  </a:ext>
                </a:extLst>
              </a:tr>
            </a:tbl>
          </a:graphicData>
        </a:graphic>
      </p:graphicFrame>
    </p:spTree>
    <p:extLst>
      <p:ext uri="{BB962C8B-B14F-4D97-AF65-F5344CB8AC3E}">
        <p14:creationId xmlns:p14="http://schemas.microsoft.com/office/powerpoint/2010/main" val="1453034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4DA51ACD-4082-EC78-FCE4-A062D391993A}"/>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DFEA441-9173-3005-B834-3FD182ACAA78}"/>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xAction_Base_ </a:t>
            </a:r>
            <a:r>
              <a:rPr lang="zh-CN" altLang="en-US" dirty="0"/>
              <a:t>类详解</a:t>
            </a:r>
          </a:p>
        </p:txBody>
      </p:sp>
      <p:sp>
        <p:nvSpPr>
          <p:cNvPr id="6" name="文本框 5">
            <a:extLst>
              <a:ext uri="{FF2B5EF4-FFF2-40B4-BE49-F238E27FC236}">
                <a16:creationId xmlns:a16="http://schemas.microsoft.com/office/drawing/2014/main" id="{E56E4B80-9FC0-1994-D003-E3E141A6A71C}"/>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B40B7BC0-FAE7-899D-FDA2-87CEE5DF1BCD}"/>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9CA36743-FDEF-551B-55B8-705AD6FFA85B}"/>
              </a:ext>
            </a:extLst>
          </p:cNvPr>
          <p:cNvSpPr txBox="1"/>
          <p:nvPr/>
        </p:nvSpPr>
        <p:spPr>
          <a:xfrm>
            <a:off x="383776" y="1152623"/>
            <a:ext cx="6071900" cy="885727"/>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非继承关系的关联类（功能扩展）</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除直接子类外，还有部分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类不继承自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，但与它深度绑定，负责管理节点集合、资源存储等全局功能</a:t>
            </a:r>
          </a:p>
        </p:txBody>
      </p:sp>
      <p:sp>
        <p:nvSpPr>
          <p:cNvPr id="4" name="文本框 3">
            <a:extLst>
              <a:ext uri="{FF2B5EF4-FFF2-40B4-BE49-F238E27FC236}">
                <a16:creationId xmlns:a16="http://schemas.microsoft.com/office/drawing/2014/main" id="{6119F166-BA18-6024-CDC2-6CCF8D08EE50}"/>
              </a:ext>
            </a:extLst>
          </p:cNvPr>
          <p:cNvSpPr txBox="1"/>
          <p:nvPr/>
        </p:nvSpPr>
        <p:spPr>
          <a:xfrm>
            <a:off x="383776" y="2603728"/>
            <a:ext cx="6071900" cy="2791232"/>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xAction_Asset</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（节点图资源类）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整个节点图的 “资源容器”，存储所有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子类实例的集合</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核心关联逻辑：</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存储属性：</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List&lt;xAction_Base&gt;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，所有行为节点数据）、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List&lt;xAction_Variable&gt;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，变量节点数据）、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groups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（节点编组数据）；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管理方法：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AddAction()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（添加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RemoveAction()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（移除实例）、</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CloneAction()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（克隆实例）、</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ReloadTree()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（重载节点树）；</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快照功能：</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Capture_Add()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（保存节点状态快照）、</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Capture_Covering()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（覆盖快照），本质是保存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实例的属性快照。</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E06CCF35-AD75-9BF9-B255-42BD2C95750A}"/>
              </a:ext>
            </a:extLst>
          </p:cNvPr>
          <p:cNvSpPr txBox="1"/>
          <p:nvPr/>
        </p:nvSpPr>
        <p:spPr>
          <a:xfrm>
            <a:off x="383776" y="5962145"/>
            <a:ext cx="6071900" cy="2791232"/>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xAction_Blackboard</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（黑板变量管理类）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全局变量池，为所有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子类提供变量共享能力</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核心关联逻辑：</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存储全局变量：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blackboardVariables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List&lt;xAction_Variable&gt;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变量绑定：</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BindVariableToAction()</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（将黑板变量绑定到指定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同步更新：</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当黑板变量值修改时，触发所有绑定的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On_VariablesValue_Changed()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回调</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955968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DE8FD52F-BD7D-846C-FE95-2FAD58BFF5C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CC9E3C5-95BC-1D88-6BFA-9DE3A950E4D6}"/>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xAction_Base_ </a:t>
            </a:r>
            <a:r>
              <a:rPr lang="zh-CN" altLang="en-US" dirty="0"/>
              <a:t>类详解</a:t>
            </a:r>
          </a:p>
        </p:txBody>
      </p:sp>
      <p:sp>
        <p:nvSpPr>
          <p:cNvPr id="6" name="文本框 5">
            <a:extLst>
              <a:ext uri="{FF2B5EF4-FFF2-40B4-BE49-F238E27FC236}">
                <a16:creationId xmlns:a16="http://schemas.microsoft.com/office/drawing/2014/main" id="{42941E00-C21E-8BC5-5C1E-618DF015DFD1}"/>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72C7C691-574A-608F-88B1-9B62B9F136E3}"/>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956F5B37-3303-3E7E-A10A-A94E8B21F8FF}"/>
              </a:ext>
            </a:extLst>
          </p:cNvPr>
          <p:cNvSpPr txBox="1"/>
          <p:nvPr/>
        </p:nvSpPr>
        <p:spPr>
          <a:xfrm>
            <a:off x="383776" y="1152624"/>
            <a:ext cx="6071900" cy="293042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数据交互与联动逻辑</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类最终通过 “数据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视图分离” 的模式协同工作，核心联动流程如下：</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数据层（</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xAction_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类）：</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及其子类存储节点的 “业务数据”（逻辑、属性、关联关系），不涉及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渲染；</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视图层（</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类）：</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（节点视图类）绑定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实例，将数据渲染为可视化节点（绘制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、端口、样式）；</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交互层：</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用户操作视图层（拖拽、编辑、连线）时，视图类调用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的方法更新数据，数据变更后通过回调同步回视图层。</a:t>
            </a:r>
          </a:p>
        </p:txBody>
      </p:sp>
      <p:sp>
        <p:nvSpPr>
          <p:cNvPr id="2" name="文本框 1">
            <a:extLst>
              <a:ext uri="{FF2B5EF4-FFF2-40B4-BE49-F238E27FC236}">
                <a16:creationId xmlns:a16="http://schemas.microsoft.com/office/drawing/2014/main" id="{D7E18896-3E08-25D7-76FB-E8079919929B}"/>
              </a:ext>
            </a:extLst>
          </p:cNvPr>
          <p:cNvSpPr txBox="1"/>
          <p:nvPr/>
        </p:nvSpPr>
        <p:spPr>
          <a:xfrm>
            <a:off x="383776" y="3637508"/>
            <a:ext cx="6071900" cy="2010183"/>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典型联动场景</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（变量节点视图）的数值 → 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xAction_Variable.SetValue() →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触发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On_VariablesValue_Changed() →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所有绑定该变量的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xAction_Debug/xAction_Branch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节点同步更新逻辑</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zh-CN" altLang="en-US"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xNode_Branch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（分支节点视图）→ 视图类调用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xAction_Branch.Execute() →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基类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Execute()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执行通用逻辑 → 子类扩展逻辑（条件判断）→ 返回执行结果至视图层展示</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graphicFrame>
        <p:nvGraphicFramePr>
          <p:cNvPr id="13" name="表格 12">
            <a:extLst>
              <a:ext uri="{FF2B5EF4-FFF2-40B4-BE49-F238E27FC236}">
                <a16:creationId xmlns:a16="http://schemas.microsoft.com/office/drawing/2014/main" id="{7CBA3C9A-7D3D-721E-BBF7-7A03680BB46C}"/>
              </a:ext>
            </a:extLst>
          </p:cNvPr>
          <p:cNvGraphicFramePr>
            <a:graphicFrameLocks noGrp="1"/>
          </p:cNvGraphicFramePr>
          <p:nvPr>
            <p:extLst>
              <p:ext uri="{D42A27DB-BD31-4B8C-83A1-F6EECF244321}">
                <p14:modId xmlns:p14="http://schemas.microsoft.com/office/powerpoint/2010/main" val="3123806028"/>
              </p:ext>
            </p:extLst>
          </p:nvPr>
        </p:nvGraphicFramePr>
        <p:xfrm>
          <a:off x="549000" y="6809538"/>
          <a:ext cx="5760000" cy="2520000"/>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724283895"/>
                    </a:ext>
                  </a:extLst>
                </a:gridCol>
                <a:gridCol w="1920000">
                  <a:extLst>
                    <a:ext uri="{9D8B030D-6E8A-4147-A177-3AD203B41FA5}">
                      <a16:colId xmlns:a16="http://schemas.microsoft.com/office/drawing/2014/main" val="1884882688"/>
                    </a:ext>
                  </a:extLst>
                </a:gridCol>
                <a:gridCol w="1920000">
                  <a:extLst>
                    <a:ext uri="{9D8B030D-6E8A-4147-A177-3AD203B41FA5}">
                      <a16:colId xmlns:a16="http://schemas.microsoft.com/office/drawing/2014/main" val="479777196"/>
                    </a:ext>
                  </a:extLst>
                </a:gridCol>
              </a:tblGrid>
              <a:tr h="280000">
                <a:tc>
                  <a:txBody>
                    <a:bodyPr/>
                    <a:lstStyle/>
                    <a:p>
                      <a:pPr algn="ctr">
                        <a:buNone/>
                      </a:pPr>
                      <a:r>
                        <a:rPr lang="zh-CN" altLang="en-US" sz="1000" b="1" dirty="0">
                          <a:solidFill>
                            <a:schemeClr val="bg1"/>
                          </a:solidFill>
                          <a:effectLst/>
                        </a:rPr>
                        <a:t>类名</a:t>
                      </a:r>
                    </a:p>
                  </a:txBody>
                  <a:tcPr anchor="ctr">
                    <a:solidFill>
                      <a:schemeClr val="bg2">
                        <a:lumMod val="10000"/>
                      </a:schemeClr>
                    </a:solidFill>
                  </a:tcPr>
                </a:tc>
                <a:tc>
                  <a:txBody>
                    <a:bodyPr/>
                    <a:lstStyle/>
                    <a:p>
                      <a:pPr algn="ctr">
                        <a:buNone/>
                      </a:pPr>
                      <a:r>
                        <a:rPr lang="zh-CN" altLang="en-US" sz="1000" b="1" dirty="0">
                          <a:solidFill>
                            <a:schemeClr val="bg1"/>
                          </a:solidFill>
                          <a:effectLst/>
                        </a:rPr>
                        <a:t>与 </a:t>
                      </a:r>
                      <a:r>
                        <a:rPr lang="en-US" sz="1000" b="1" dirty="0">
                          <a:solidFill>
                            <a:schemeClr val="bg1"/>
                          </a:solidFill>
                          <a:effectLst/>
                        </a:rPr>
                        <a:t>xAction_Base </a:t>
                      </a:r>
                      <a:r>
                        <a:rPr lang="zh-CN" altLang="en-US" sz="1000" b="1" dirty="0">
                          <a:solidFill>
                            <a:schemeClr val="bg1"/>
                          </a:solidFill>
                          <a:effectLst/>
                        </a:rPr>
                        <a:t>的关系</a:t>
                      </a:r>
                    </a:p>
                  </a:txBody>
                  <a:tcPr anchor="ctr">
                    <a:solidFill>
                      <a:schemeClr val="bg2">
                        <a:lumMod val="10000"/>
                      </a:schemeClr>
                    </a:solidFill>
                  </a:tcPr>
                </a:tc>
                <a:tc>
                  <a:txBody>
                    <a:bodyPr/>
                    <a:lstStyle/>
                    <a:p>
                      <a:pPr algn="ctr">
                        <a:buNone/>
                      </a:pPr>
                      <a:r>
                        <a:rPr lang="zh-CN" altLang="en-US" sz="1000" b="1" dirty="0">
                          <a:solidFill>
                            <a:schemeClr val="bg1"/>
                          </a:solidFill>
                          <a:effectLst/>
                        </a:rPr>
                        <a:t>核心价值</a:t>
                      </a:r>
                    </a:p>
                  </a:txBody>
                  <a:tcPr anchor="ctr">
                    <a:solidFill>
                      <a:schemeClr val="bg2">
                        <a:lumMod val="10000"/>
                      </a:schemeClr>
                    </a:solidFill>
                  </a:tcPr>
                </a:tc>
                <a:extLst>
                  <a:ext uri="{0D108BD9-81ED-4DB2-BD59-A6C34878D82A}">
                    <a16:rowId xmlns:a16="http://schemas.microsoft.com/office/drawing/2014/main" val="35103330"/>
                  </a:ext>
                </a:extLst>
              </a:tr>
              <a:tr h="448000">
                <a:tc>
                  <a:txBody>
                    <a:bodyPr/>
                    <a:lstStyle/>
                    <a:p>
                      <a:pPr algn="ctr">
                        <a:buNone/>
                      </a:pPr>
                      <a:r>
                        <a:rPr lang="en-US" sz="900" b="0" dirty="0">
                          <a:solidFill>
                            <a:schemeClr val="bg1"/>
                          </a:solidFill>
                          <a:effectLst/>
                        </a:rPr>
                        <a:t>xAction_Variable</a:t>
                      </a:r>
                    </a:p>
                  </a:txBody>
                  <a:tcPr anchor="ctr">
                    <a:solidFill>
                      <a:schemeClr val="bg2">
                        <a:lumMod val="10000"/>
                      </a:schemeClr>
                    </a:solidFill>
                  </a:tcPr>
                </a:tc>
                <a:tc>
                  <a:txBody>
                    <a:bodyPr/>
                    <a:lstStyle/>
                    <a:p>
                      <a:pPr algn="ctr">
                        <a:buNone/>
                      </a:pPr>
                      <a:r>
                        <a:rPr lang="zh-CN" altLang="en-US" sz="900" b="0" dirty="0">
                          <a:solidFill>
                            <a:schemeClr val="bg1"/>
                          </a:solidFill>
                          <a:effectLst/>
                        </a:rPr>
                        <a:t>直接子类</a:t>
                      </a:r>
                    </a:p>
                  </a:txBody>
                  <a:tcPr anchor="ctr">
                    <a:solidFill>
                      <a:schemeClr val="bg2">
                        <a:lumMod val="10000"/>
                      </a:schemeClr>
                    </a:solidFill>
                  </a:tcPr>
                </a:tc>
                <a:tc>
                  <a:txBody>
                    <a:bodyPr/>
                    <a:lstStyle/>
                    <a:p>
                      <a:pPr algn="ctr">
                        <a:buNone/>
                      </a:pPr>
                      <a:r>
                        <a:rPr lang="zh-CN" altLang="en-US" sz="900" b="0" dirty="0">
                          <a:solidFill>
                            <a:schemeClr val="bg1"/>
                          </a:solidFill>
                          <a:effectLst/>
                        </a:rPr>
                        <a:t>封装变量数据，为所有节点提供数据支撑</a:t>
                      </a:r>
                    </a:p>
                  </a:txBody>
                  <a:tcPr anchor="ctr">
                    <a:solidFill>
                      <a:schemeClr val="bg2">
                        <a:lumMod val="10000"/>
                      </a:schemeClr>
                    </a:solidFill>
                  </a:tcPr>
                </a:tc>
                <a:extLst>
                  <a:ext uri="{0D108BD9-81ED-4DB2-BD59-A6C34878D82A}">
                    <a16:rowId xmlns:a16="http://schemas.microsoft.com/office/drawing/2014/main" val="56117366"/>
                  </a:ext>
                </a:extLst>
              </a:tr>
              <a:tr h="448000">
                <a:tc>
                  <a:txBody>
                    <a:bodyPr/>
                    <a:lstStyle/>
                    <a:p>
                      <a:pPr algn="ctr">
                        <a:buNone/>
                      </a:pPr>
                      <a:r>
                        <a:rPr lang="en-US" sz="900" b="0" dirty="0">
                          <a:solidFill>
                            <a:schemeClr val="bg1"/>
                          </a:solidFill>
                          <a:effectLst/>
                        </a:rPr>
                        <a:t>xAction_Debug</a:t>
                      </a:r>
                    </a:p>
                  </a:txBody>
                  <a:tcPr anchor="ctr">
                    <a:solidFill>
                      <a:schemeClr val="bg2">
                        <a:lumMod val="10000"/>
                      </a:schemeClr>
                    </a:solidFill>
                  </a:tcPr>
                </a:tc>
                <a:tc>
                  <a:txBody>
                    <a:bodyPr/>
                    <a:lstStyle/>
                    <a:p>
                      <a:pPr algn="ctr">
                        <a:buNone/>
                      </a:pPr>
                      <a:r>
                        <a:rPr lang="zh-CN" altLang="en-US" sz="900" b="0" dirty="0">
                          <a:solidFill>
                            <a:schemeClr val="bg1"/>
                          </a:solidFill>
                          <a:effectLst/>
                        </a:rPr>
                        <a:t>直接子类</a:t>
                      </a:r>
                    </a:p>
                  </a:txBody>
                  <a:tcPr anchor="ctr">
                    <a:solidFill>
                      <a:schemeClr val="bg2">
                        <a:lumMod val="10000"/>
                      </a:schemeClr>
                    </a:solidFill>
                  </a:tcPr>
                </a:tc>
                <a:tc>
                  <a:txBody>
                    <a:bodyPr/>
                    <a:lstStyle/>
                    <a:p>
                      <a:pPr algn="ctr">
                        <a:buNone/>
                      </a:pPr>
                      <a:r>
                        <a:rPr lang="zh-CN" altLang="en-US" sz="900" b="0">
                          <a:solidFill>
                            <a:schemeClr val="bg1"/>
                          </a:solidFill>
                          <a:effectLst/>
                        </a:rPr>
                        <a:t>扩展调试功能，可视化输出节点执行信息</a:t>
                      </a:r>
                    </a:p>
                  </a:txBody>
                  <a:tcPr anchor="ctr">
                    <a:solidFill>
                      <a:schemeClr val="bg2">
                        <a:lumMod val="10000"/>
                      </a:schemeClr>
                    </a:solidFill>
                  </a:tcPr>
                </a:tc>
                <a:extLst>
                  <a:ext uri="{0D108BD9-81ED-4DB2-BD59-A6C34878D82A}">
                    <a16:rowId xmlns:a16="http://schemas.microsoft.com/office/drawing/2014/main" val="4269797636"/>
                  </a:ext>
                </a:extLst>
              </a:tr>
              <a:tr h="448000">
                <a:tc>
                  <a:txBody>
                    <a:bodyPr/>
                    <a:lstStyle/>
                    <a:p>
                      <a:pPr algn="ctr">
                        <a:buNone/>
                      </a:pPr>
                      <a:r>
                        <a:rPr lang="en-US" sz="900" b="0" dirty="0">
                          <a:solidFill>
                            <a:schemeClr val="bg1"/>
                          </a:solidFill>
                          <a:effectLst/>
                        </a:rPr>
                        <a:t>xAction_Branch/Composite/Wait</a:t>
                      </a:r>
                    </a:p>
                  </a:txBody>
                  <a:tcPr anchor="ctr">
                    <a:solidFill>
                      <a:schemeClr val="bg2">
                        <a:lumMod val="10000"/>
                      </a:schemeClr>
                    </a:solidFill>
                  </a:tcPr>
                </a:tc>
                <a:tc>
                  <a:txBody>
                    <a:bodyPr/>
                    <a:lstStyle/>
                    <a:p>
                      <a:pPr algn="ctr">
                        <a:buNone/>
                      </a:pPr>
                      <a:r>
                        <a:rPr lang="zh-CN" altLang="en-US" sz="900" b="0">
                          <a:solidFill>
                            <a:schemeClr val="bg1"/>
                          </a:solidFill>
                          <a:effectLst/>
                        </a:rPr>
                        <a:t>直接子类</a:t>
                      </a:r>
                    </a:p>
                  </a:txBody>
                  <a:tcPr anchor="ctr">
                    <a:solidFill>
                      <a:schemeClr val="bg2">
                        <a:lumMod val="10000"/>
                      </a:schemeClr>
                    </a:solidFill>
                  </a:tcPr>
                </a:tc>
                <a:tc>
                  <a:txBody>
                    <a:bodyPr/>
                    <a:lstStyle/>
                    <a:p>
                      <a:pPr algn="ctr">
                        <a:buNone/>
                      </a:pPr>
                      <a:r>
                        <a:rPr lang="zh-CN" altLang="en-US" sz="900" b="0" dirty="0">
                          <a:solidFill>
                            <a:schemeClr val="bg1"/>
                          </a:solidFill>
                          <a:effectLst/>
                        </a:rPr>
                        <a:t>扩展特定业务逻辑（分支 </a:t>
                      </a:r>
                      <a:r>
                        <a:rPr lang="en-US" altLang="zh-CN" sz="900" b="0" dirty="0">
                          <a:solidFill>
                            <a:schemeClr val="bg1"/>
                          </a:solidFill>
                          <a:effectLst/>
                        </a:rPr>
                        <a:t>/ </a:t>
                      </a:r>
                      <a:r>
                        <a:rPr lang="zh-CN" altLang="en-US" sz="900" b="0" dirty="0">
                          <a:solidFill>
                            <a:schemeClr val="bg1"/>
                          </a:solidFill>
                          <a:effectLst/>
                        </a:rPr>
                        <a:t>复合 </a:t>
                      </a:r>
                      <a:r>
                        <a:rPr lang="en-US" altLang="zh-CN" sz="900" b="0" dirty="0">
                          <a:solidFill>
                            <a:schemeClr val="bg1"/>
                          </a:solidFill>
                          <a:effectLst/>
                        </a:rPr>
                        <a:t>/ </a:t>
                      </a:r>
                      <a:r>
                        <a:rPr lang="zh-CN" altLang="en-US" sz="900" b="0" dirty="0">
                          <a:solidFill>
                            <a:schemeClr val="bg1"/>
                          </a:solidFill>
                          <a:effectLst/>
                        </a:rPr>
                        <a:t>等待），复用基类执行体系</a:t>
                      </a:r>
                    </a:p>
                  </a:txBody>
                  <a:tcPr anchor="ctr">
                    <a:solidFill>
                      <a:schemeClr val="bg2">
                        <a:lumMod val="10000"/>
                      </a:schemeClr>
                    </a:solidFill>
                  </a:tcPr>
                </a:tc>
                <a:extLst>
                  <a:ext uri="{0D108BD9-81ED-4DB2-BD59-A6C34878D82A}">
                    <a16:rowId xmlns:a16="http://schemas.microsoft.com/office/drawing/2014/main" val="2269551340"/>
                  </a:ext>
                </a:extLst>
              </a:tr>
              <a:tr h="448000">
                <a:tc>
                  <a:txBody>
                    <a:bodyPr/>
                    <a:lstStyle/>
                    <a:p>
                      <a:pPr algn="ctr">
                        <a:buNone/>
                      </a:pPr>
                      <a:r>
                        <a:rPr lang="en-US" sz="900" b="0" dirty="0">
                          <a:solidFill>
                            <a:schemeClr val="bg1"/>
                          </a:solidFill>
                          <a:effectLst/>
                        </a:rPr>
                        <a:t>xAction_Asset</a:t>
                      </a:r>
                    </a:p>
                  </a:txBody>
                  <a:tcPr anchor="ctr">
                    <a:solidFill>
                      <a:schemeClr val="bg2">
                        <a:lumMod val="10000"/>
                      </a:schemeClr>
                    </a:solidFill>
                  </a:tcPr>
                </a:tc>
                <a:tc>
                  <a:txBody>
                    <a:bodyPr/>
                    <a:lstStyle/>
                    <a:p>
                      <a:pPr algn="ctr">
                        <a:buNone/>
                      </a:pPr>
                      <a:r>
                        <a:rPr lang="zh-CN" altLang="en-US" sz="900" b="0">
                          <a:solidFill>
                            <a:schemeClr val="bg1"/>
                          </a:solidFill>
                          <a:effectLst/>
                        </a:rPr>
                        <a:t>非继承，数据容器</a:t>
                      </a:r>
                    </a:p>
                  </a:txBody>
                  <a:tcPr anchor="ctr">
                    <a:solidFill>
                      <a:schemeClr val="bg2">
                        <a:lumMod val="10000"/>
                      </a:schemeClr>
                    </a:solidFill>
                  </a:tcPr>
                </a:tc>
                <a:tc>
                  <a:txBody>
                    <a:bodyPr/>
                    <a:lstStyle/>
                    <a:p>
                      <a:pPr algn="ctr">
                        <a:buNone/>
                      </a:pPr>
                      <a:r>
                        <a:rPr lang="zh-CN" altLang="en-US" sz="900" b="0" dirty="0">
                          <a:solidFill>
                            <a:schemeClr val="bg1"/>
                          </a:solidFill>
                          <a:effectLst/>
                        </a:rPr>
                        <a:t>管理所有 </a:t>
                      </a:r>
                      <a:r>
                        <a:rPr lang="en-US" sz="900" b="0" dirty="0">
                          <a:solidFill>
                            <a:schemeClr val="bg1"/>
                          </a:solidFill>
                          <a:effectLst/>
                        </a:rPr>
                        <a:t>xAction_Base </a:t>
                      </a:r>
                      <a:r>
                        <a:rPr lang="zh-CN" altLang="en-US" sz="900" b="0" dirty="0">
                          <a:solidFill>
                            <a:schemeClr val="bg1"/>
                          </a:solidFill>
                          <a:effectLst/>
                        </a:rPr>
                        <a:t>实例，实现资源持久化</a:t>
                      </a:r>
                    </a:p>
                  </a:txBody>
                  <a:tcPr anchor="ctr">
                    <a:solidFill>
                      <a:schemeClr val="bg2">
                        <a:lumMod val="10000"/>
                      </a:schemeClr>
                    </a:solidFill>
                  </a:tcPr>
                </a:tc>
                <a:extLst>
                  <a:ext uri="{0D108BD9-81ED-4DB2-BD59-A6C34878D82A}">
                    <a16:rowId xmlns:a16="http://schemas.microsoft.com/office/drawing/2014/main" val="3800149560"/>
                  </a:ext>
                </a:extLst>
              </a:tr>
              <a:tr h="448000">
                <a:tc>
                  <a:txBody>
                    <a:bodyPr/>
                    <a:lstStyle/>
                    <a:p>
                      <a:pPr algn="ctr">
                        <a:buNone/>
                      </a:pPr>
                      <a:r>
                        <a:rPr lang="en-US" sz="900" b="0" dirty="0">
                          <a:solidFill>
                            <a:schemeClr val="bg1"/>
                          </a:solidFill>
                          <a:effectLst/>
                        </a:rPr>
                        <a:t>xAction_Blackboard</a:t>
                      </a:r>
                    </a:p>
                  </a:txBody>
                  <a:tcPr anchor="ctr">
                    <a:solidFill>
                      <a:schemeClr val="bg2">
                        <a:lumMod val="10000"/>
                      </a:schemeClr>
                    </a:solidFill>
                  </a:tcPr>
                </a:tc>
                <a:tc>
                  <a:txBody>
                    <a:bodyPr/>
                    <a:lstStyle/>
                    <a:p>
                      <a:pPr algn="ctr">
                        <a:buNone/>
                      </a:pPr>
                      <a:r>
                        <a:rPr lang="zh-CN" altLang="en-US" sz="900" b="0">
                          <a:solidFill>
                            <a:schemeClr val="bg1"/>
                          </a:solidFill>
                          <a:effectLst/>
                        </a:rPr>
                        <a:t>非继承，变量池</a:t>
                      </a:r>
                    </a:p>
                  </a:txBody>
                  <a:tcPr anchor="ctr">
                    <a:solidFill>
                      <a:schemeClr val="bg2">
                        <a:lumMod val="10000"/>
                      </a:schemeClr>
                    </a:solidFill>
                  </a:tcPr>
                </a:tc>
                <a:tc>
                  <a:txBody>
                    <a:bodyPr/>
                    <a:lstStyle/>
                    <a:p>
                      <a:pPr algn="ctr">
                        <a:buNone/>
                      </a:pPr>
                      <a:r>
                        <a:rPr lang="zh-CN" altLang="en-US" sz="900" b="0" dirty="0">
                          <a:solidFill>
                            <a:schemeClr val="bg1"/>
                          </a:solidFill>
                          <a:effectLst/>
                        </a:rPr>
                        <a:t>为 </a:t>
                      </a:r>
                      <a:r>
                        <a:rPr lang="en-US" sz="900" b="0" dirty="0">
                          <a:solidFill>
                            <a:schemeClr val="bg1"/>
                          </a:solidFill>
                          <a:effectLst/>
                        </a:rPr>
                        <a:t>xAction_Base </a:t>
                      </a:r>
                      <a:r>
                        <a:rPr lang="zh-CN" altLang="en-US" sz="900" b="0" dirty="0">
                          <a:solidFill>
                            <a:schemeClr val="bg1"/>
                          </a:solidFill>
                          <a:effectLst/>
                        </a:rPr>
                        <a:t>子类提供全局变量绑定能力</a:t>
                      </a:r>
                    </a:p>
                  </a:txBody>
                  <a:tcPr anchor="ctr">
                    <a:solidFill>
                      <a:schemeClr val="bg2">
                        <a:lumMod val="10000"/>
                      </a:schemeClr>
                    </a:solidFill>
                  </a:tcPr>
                </a:tc>
                <a:extLst>
                  <a:ext uri="{0D108BD9-81ED-4DB2-BD59-A6C34878D82A}">
                    <a16:rowId xmlns:a16="http://schemas.microsoft.com/office/drawing/2014/main" val="1346830473"/>
                  </a:ext>
                </a:extLst>
              </a:tr>
            </a:tbl>
          </a:graphicData>
        </a:graphic>
      </p:graphicFrame>
      <p:sp>
        <p:nvSpPr>
          <p:cNvPr id="14" name="文本框 13">
            <a:extLst>
              <a:ext uri="{FF2B5EF4-FFF2-40B4-BE49-F238E27FC236}">
                <a16:creationId xmlns:a16="http://schemas.microsoft.com/office/drawing/2014/main" id="{EBC97764-1DD1-A75B-CD82-D1FE51AFDB18}"/>
              </a:ext>
            </a:extLst>
          </p:cNvPr>
          <p:cNvSpPr txBox="1"/>
          <p:nvPr/>
        </p:nvSpPr>
        <p:spPr>
          <a:xfrm>
            <a:off x="393050" y="5647691"/>
            <a:ext cx="6071900" cy="922861"/>
          </a:xfrm>
          <a:prstGeom prst="rect">
            <a:avLst/>
          </a:prstGeom>
          <a:noFill/>
        </p:spPr>
        <p:txBody>
          <a:bodyPr wrap="square" numCol="1" spcCol="360000" rtlCol="0">
            <a:noAutofit/>
          </a:bodyPr>
          <a:lstStyle/>
          <a:p>
            <a:pPr>
              <a:lnSpc>
                <a:spcPct val="200000"/>
              </a:lnSpc>
            </a:pPr>
            <a:r>
              <a:rPr lang="zh-CN" altLang="en-US" sz="900" b="1" dirty="0">
                <a:solidFill>
                  <a:srgbClr val="FFC000"/>
                </a:solidFill>
                <a:latin typeface="微软雅黑" panose="020B0503020204020204" pitchFamily="34" charset="-122"/>
                <a:ea typeface="微软雅黑" panose="020B0503020204020204" pitchFamily="34" charset="-122"/>
              </a:rPr>
              <a:t>简言之，</a:t>
            </a:r>
            <a:r>
              <a:rPr lang="en-US" altLang="zh-CN" sz="900" b="1" dirty="0">
                <a:solidFill>
                  <a:srgbClr val="FFC000"/>
                </a:solidFill>
                <a:latin typeface="微软雅黑" panose="020B0503020204020204" pitchFamily="34" charset="-122"/>
                <a:ea typeface="微软雅黑" panose="020B0503020204020204" pitchFamily="34" charset="-122"/>
              </a:rPr>
              <a:t>xAction_Base </a:t>
            </a:r>
            <a:r>
              <a:rPr lang="zh-CN" altLang="en-US" sz="900" b="1" dirty="0">
                <a:solidFill>
                  <a:srgbClr val="FFC000"/>
                </a:solidFill>
                <a:latin typeface="微软雅黑" panose="020B0503020204020204" pitchFamily="34" charset="-122"/>
                <a:ea typeface="微软雅黑" panose="020B0503020204020204" pitchFamily="34" charset="-122"/>
              </a:rPr>
              <a:t>定义了 “行为节点该有什么通用能力”，而其他 </a:t>
            </a:r>
            <a:r>
              <a:rPr lang="en-US" altLang="zh-CN" sz="900" b="1" dirty="0">
                <a:solidFill>
                  <a:srgbClr val="FFC000"/>
                </a:solidFill>
                <a:latin typeface="微软雅黑" panose="020B0503020204020204" pitchFamily="34" charset="-122"/>
                <a:ea typeface="微软雅黑" panose="020B0503020204020204" pitchFamily="34" charset="-122"/>
              </a:rPr>
              <a:t>xAction_* </a:t>
            </a:r>
            <a:r>
              <a:rPr lang="zh-CN" altLang="en-US" sz="900" b="1" dirty="0">
                <a:solidFill>
                  <a:srgbClr val="FFC000"/>
                </a:solidFill>
                <a:latin typeface="微软雅黑" panose="020B0503020204020204" pitchFamily="34" charset="-122"/>
                <a:ea typeface="微软雅黑" panose="020B0503020204020204" pitchFamily="34" charset="-122"/>
              </a:rPr>
              <a:t>类则回答 “具体场景下该怎么用这些能力”</a:t>
            </a:r>
            <a:r>
              <a:rPr lang="en-US" altLang="zh-CN" sz="900" b="1" dirty="0">
                <a:solidFill>
                  <a:srgbClr val="FFC000"/>
                </a:solidFill>
                <a:latin typeface="微软雅黑" panose="020B0503020204020204" pitchFamily="34" charset="-122"/>
                <a:ea typeface="微软雅黑" panose="020B0503020204020204" pitchFamily="34" charset="-122"/>
              </a:rPr>
              <a:t>—— </a:t>
            </a:r>
            <a:r>
              <a:rPr lang="zh-CN" altLang="en-US" sz="900" b="1" dirty="0">
                <a:solidFill>
                  <a:srgbClr val="FFC000"/>
                </a:solidFill>
                <a:latin typeface="微软雅黑" panose="020B0503020204020204" pitchFamily="34" charset="-122"/>
                <a:ea typeface="微软雅黑" panose="020B0503020204020204" pitchFamily="34" charset="-122"/>
              </a:rPr>
              <a:t>基类保证了所有行为节点的一致性，子类则实现了功能的差异化扩展，最终通过 </a:t>
            </a:r>
            <a:r>
              <a:rPr lang="en-US" altLang="zh-CN" sz="900" b="1" dirty="0">
                <a:solidFill>
                  <a:srgbClr val="FFC000"/>
                </a:solidFill>
                <a:latin typeface="微软雅黑" panose="020B0503020204020204" pitchFamily="34" charset="-122"/>
                <a:ea typeface="微软雅黑" panose="020B0503020204020204" pitchFamily="34" charset="-122"/>
              </a:rPr>
              <a:t>xAction_Asset </a:t>
            </a:r>
            <a:r>
              <a:rPr lang="zh-CN" altLang="en-US" sz="900" b="1" dirty="0">
                <a:solidFill>
                  <a:srgbClr val="FFC000"/>
                </a:solidFill>
                <a:latin typeface="微软雅黑" panose="020B0503020204020204" pitchFamily="34" charset="-122"/>
                <a:ea typeface="微软雅黑" panose="020B0503020204020204" pitchFamily="34" charset="-122"/>
              </a:rPr>
              <a:t>完成全局管理，形成 “基类定规则、子类做实现、容器做管理” 的完整体系</a:t>
            </a:r>
            <a:endParaRPr lang="en-US" altLang="zh-CN" sz="900" b="1" dirty="0">
              <a:solidFill>
                <a:srgbClr val="FFC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88952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F6BD82F4-A602-BE9C-D5F7-741C5CA2A2D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DCB2EC7-43EB-FED5-4B82-45A21952D0A1}"/>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xNode_Base_ </a:t>
            </a:r>
            <a:r>
              <a:rPr lang="zh-CN" altLang="en-US" dirty="0"/>
              <a:t>类详解</a:t>
            </a:r>
          </a:p>
        </p:txBody>
      </p:sp>
      <p:sp>
        <p:nvSpPr>
          <p:cNvPr id="6" name="文本框 5">
            <a:extLst>
              <a:ext uri="{FF2B5EF4-FFF2-40B4-BE49-F238E27FC236}">
                <a16:creationId xmlns:a16="http://schemas.microsoft.com/office/drawing/2014/main" id="{C48147A1-95EB-1AE8-76CB-491E28F8AA2E}"/>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E7EA0DA6-85ED-7AA7-008A-63B2C47621BB}"/>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5B1EB0CE-59AE-B9BB-1536-409EE6C67EFC}"/>
              </a:ext>
            </a:extLst>
          </p:cNvPr>
          <p:cNvSpPr txBox="1"/>
          <p:nvPr/>
        </p:nvSpPr>
        <p:spPr>
          <a:xfrm>
            <a:off x="383776" y="2248108"/>
            <a:ext cx="6071900" cy="3009238"/>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核心继承关系（视图类层级）</a:t>
            </a: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作为视图层的 “骨架类”，衍生出适配不同业务节点的子类，层级结构清晰，核心脉络如下：</a:t>
            </a: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（视图基类）</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xNode_Label</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（标签节点视图）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xNode_Stick</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（便签节点视图）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xNode_Branch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（分支节点视图）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xNode_Composite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（复合节点视图）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xNode_Wait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（等待节点视图）</a:t>
            </a: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xNode_Debug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（调试节点视图）</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6CBDE6C2-AF8B-C8C8-935F-FBF980BF3A13}"/>
              </a:ext>
            </a:extLst>
          </p:cNvPr>
          <p:cNvSpPr txBox="1"/>
          <p:nvPr/>
        </p:nvSpPr>
        <p:spPr>
          <a:xfrm>
            <a:off x="383776" y="1152623"/>
            <a:ext cx="6071900" cy="973355"/>
          </a:xfrm>
          <a:prstGeom prst="rect">
            <a:avLst/>
          </a:prstGeom>
          <a:noFill/>
        </p:spPr>
        <p:txBody>
          <a:bodyPr wrap="square" numCol="1" spcCol="360000" rtlCol="0">
            <a:noAutofit/>
          </a:bodyPr>
          <a:lstStyle/>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是该节点可视化编辑工具中所有可视化节点视图的核心基类，定义了节点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渲染、交互、端口管理的通用逻辑，所有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相关类均直接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间接继承自它，或与它形成 “功能扩展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配套协作” 的关系。以下从继承层级、功能分工、协作逻辑三个维度，详细拆解其与其他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类的关系和核心作用：</a:t>
            </a:r>
          </a:p>
        </p:txBody>
      </p:sp>
      <p:sp>
        <p:nvSpPr>
          <p:cNvPr id="4" name="文本框 3">
            <a:extLst>
              <a:ext uri="{FF2B5EF4-FFF2-40B4-BE49-F238E27FC236}">
                <a16:creationId xmlns:a16="http://schemas.microsoft.com/office/drawing/2014/main" id="{DD760181-CA63-EF99-4DC9-C4718A1EB4C2}"/>
              </a:ext>
            </a:extLst>
          </p:cNvPr>
          <p:cNvSpPr txBox="1"/>
          <p:nvPr/>
        </p:nvSpPr>
        <p:spPr>
          <a:xfrm>
            <a:off x="383776" y="6669982"/>
            <a:ext cx="6071900" cy="2510184"/>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基类：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xNode_Base</a:t>
            </a: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所有可视化节点的 “视图通用层”，封装节点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绘制、交互、端口管理的核心逻辑，不对应具体业务功能，仅提供基础能力</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核心属性（视图相关）：</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容器与布局：</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mainContainer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（节点主容器）、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titleContainer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（标题容器）、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portContainer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（端口容器）；</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交互状态：</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isSelected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（是否选中）、</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isHovered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（是否悬停）、</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dragOffset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（拖拽偏移）；</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数据绑定：</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actionData</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（绑定的底层数据类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graphView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（所属的画布视图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视觉样式：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themeColor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（主题色）、</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highlighter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（高亮组件）、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iconElement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（图标元素）。</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pic>
        <p:nvPicPr>
          <p:cNvPr id="15" name="图片 14">
            <a:extLst>
              <a:ext uri="{FF2B5EF4-FFF2-40B4-BE49-F238E27FC236}">
                <a16:creationId xmlns:a16="http://schemas.microsoft.com/office/drawing/2014/main" id="{C9CDF94E-7198-ABAB-4E96-84B429BB81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5840" y="3236018"/>
            <a:ext cx="3328384" cy="3603282"/>
          </a:xfrm>
          <a:prstGeom prst="rect">
            <a:avLst/>
          </a:prstGeom>
        </p:spPr>
      </p:pic>
    </p:spTree>
    <p:extLst>
      <p:ext uri="{BB962C8B-B14F-4D97-AF65-F5344CB8AC3E}">
        <p14:creationId xmlns:p14="http://schemas.microsoft.com/office/powerpoint/2010/main" val="30847320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D17CA560-8C2F-12A2-0E99-40C564599C8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6092CDAB-30AA-8F7D-F5F3-6DDE2369DC77}"/>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xNode_Base_ </a:t>
            </a:r>
            <a:r>
              <a:rPr lang="zh-CN" altLang="en-US" dirty="0"/>
              <a:t>类详解</a:t>
            </a:r>
          </a:p>
        </p:txBody>
      </p:sp>
      <p:sp>
        <p:nvSpPr>
          <p:cNvPr id="6" name="文本框 5">
            <a:extLst>
              <a:ext uri="{FF2B5EF4-FFF2-40B4-BE49-F238E27FC236}">
                <a16:creationId xmlns:a16="http://schemas.microsoft.com/office/drawing/2014/main" id="{43FB2823-9BA2-9D5D-D967-4C3DEE37E55A}"/>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CF42C94C-5C68-0710-23FC-5B270EB1E843}"/>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4" name="文本框 3">
            <a:extLst>
              <a:ext uri="{FF2B5EF4-FFF2-40B4-BE49-F238E27FC236}">
                <a16:creationId xmlns:a16="http://schemas.microsoft.com/office/drawing/2014/main" id="{0C70E9A7-7C70-446D-6876-06DF979ABF60}"/>
              </a:ext>
            </a:extLst>
          </p:cNvPr>
          <p:cNvSpPr txBox="1"/>
          <p:nvPr/>
        </p:nvSpPr>
        <p:spPr>
          <a:xfrm>
            <a:off x="383776" y="1049668"/>
            <a:ext cx="6071900" cy="2614282"/>
          </a:xfrm>
          <a:prstGeom prst="rect">
            <a:avLst/>
          </a:prstGeom>
          <a:noFill/>
        </p:spPr>
        <p:txBody>
          <a:bodyPr wrap="square" numCol="1" spcCol="360000" rtlCol="0">
            <a:noAutofit/>
          </a:bodyPr>
          <a:lstStyle/>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核心方法（通用能力）：</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绘制：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（节点整体绘制）、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DrawTitle()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（标题绘制）、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DrawPorts()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（端口绘制）、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UpdateStyle()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（样式更新）；</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交互处理：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OnDragStart()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（拖拽开始）、</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OnDrag()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（拖拽中）、</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OnSelect()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（选中事件）、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OnUnselect()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（取消选中）；</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数据同步：</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BindData(xAction_Base data)</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（绑定底层数据）、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SyncDataToView()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（数据同步到视图）、</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SyncViewToData()</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（视图变更同步到数据）；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端口管理</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CreatePort()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（创建端口）、</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RemovePort()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（移除端口）、</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UpdatePortConnections()</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（更新端口连接）。</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9F041EF3-098D-198D-754C-1615FF30A039}"/>
              </a:ext>
            </a:extLst>
          </p:cNvPr>
          <p:cNvSpPr txBox="1"/>
          <p:nvPr/>
        </p:nvSpPr>
        <p:spPr>
          <a:xfrm>
            <a:off x="393050" y="3741563"/>
            <a:ext cx="6071900" cy="2500483"/>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子类：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xNode_Variable</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（变量节点视图）</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适配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数据类的可视化视图，专门渲染变量节点的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和交互逻辑</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核心扩展（对比基类）：</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新增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元素：</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valueInputField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（变量值编辑框）、</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typeLabel</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（变量类型标签）；</a:t>
            </a: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Draw()</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在基类基础上增加 “变量类型图标”“值编辑框” 的绘制；</a:t>
            </a: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SyncDataToView()</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从绑定的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同步变量类型、值到视图；</a:t>
            </a: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OnValueChanged()</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监听编辑框输入，将新值同步回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交互扩展：</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支持 “变量拖拽到画布”“变量与行为节点关联高亮” 等专属交互</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4BE0B1E1-DFEA-292D-B660-26D0798F0606}"/>
              </a:ext>
            </a:extLst>
          </p:cNvPr>
          <p:cNvSpPr txBox="1"/>
          <p:nvPr/>
        </p:nvSpPr>
        <p:spPr>
          <a:xfrm>
            <a:off x="393050" y="6414913"/>
            <a:ext cx="6071900" cy="2500483"/>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子类：</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xNode_Label /xNode_Stick</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（辅助节点视图）</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轻量化辅助节点视图，无业务逻辑，仅用于文本说明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备注，是基类功能的极简扩展</a:t>
            </a: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核心扩展（对比基类）：</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xNode_Label</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重写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，仅保留标题文本框，移除端口容器，支持文本字号、颜色自定义；</a:t>
            </a:r>
          </a:p>
          <a:p>
            <a:pPr marL="171450" indent="-171450">
              <a:lnSpc>
                <a:spcPct val="200000"/>
              </a:lnSpc>
              <a:buFont typeface="Wingdings" panose="05000000000000000000" pitchFamily="2" charset="2"/>
              <a:buChar char="ü"/>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xNode_Stick</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新增 “背景透明度调节”“文本换行” 功能，重写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UpdateStyle()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适配便签式视觉样式，无端口、无数据绑定（仅存储文本和位置）。</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679367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D6445C35-835F-3F06-2144-0FD46FC6D34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9027773A-2327-3BF5-2084-E8399DC00965}"/>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xNode_Base_ </a:t>
            </a:r>
            <a:r>
              <a:rPr lang="zh-CN" altLang="en-US" dirty="0"/>
              <a:t>类详解</a:t>
            </a:r>
          </a:p>
        </p:txBody>
      </p:sp>
      <p:sp>
        <p:nvSpPr>
          <p:cNvPr id="6" name="文本框 5">
            <a:extLst>
              <a:ext uri="{FF2B5EF4-FFF2-40B4-BE49-F238E27FC236}">
                <a16:creationId xmlns:a16="http://schemas.microsoft.com/office/drawing/2014/main" id="{51BBB194-1960-5687-F6F1-41BA84FF434F}"/>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E45C735F-779B-2F98-3DE6-EE4518D377BB}"/>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66CA994E-7557-4F5B-7267-C89E5729A5A7}"/>
              </a:ext>
            </a:extLst>
          </p:cNvPr>
          <p:cNvSpPr txBox="1"/>
          <p:nvPr/>
        </p:nvSpPr>
        <p:spPr>
          <a:xfrm>
            <a:off x="393050" y="1152624"/>
            <a:ext cx="6071900" cy="1000026"/>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业务节点视图（</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xNode_Branch/Composite/Wait/Debug</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这类子类是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针对具体业务逻辑的视图适配，对应底层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数据类，核心扩展聚焦 “端口定制” 和 “业务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渲染”，具体如下：</a:t>
            </a:r>
          </a:p>
        </p:txBody>
      </p:sp>
      <p:graphicFrame>
        <p:nvGraphicFramePr>
          <p:cNvPr id="3" name="表格 2">
            <a:extLst>
              <a:ext uri="{FF2B5EF4-FFF2-40B4-BE49-F238E27FC236}">
                <a16:creationId xmlns:a16="http://schemas.microsoft.com/office/drawing/2014/main" id="{DC5E40CD-72E6-C6AA-966B-40F544F3268C}"/>
              </a:ext>
            </a:extLst>
          </p:cNvPr>
          <p:cNvGraphicFramePr>
            <a:graphicFrameLocks noGrp="1"/>
          </p:cNvGraphicFramePr>
          <p:nvPr>
            <p:extLst>
              <p:ext uri="{D42A27DB-BD31-4B8C-83A1-F6EECF244321}">
                <p14:modId xmlns:p14="http://schemas.microsoft.com/office/powerpoint/2010/main" val="3715128723"/>
              </p:ext>
            </p:extLst>
          </p:nvPr>
        </p:nvGraphicFramePr>
        <p:xfrm>
          <a:off x="549000" y="2333219"/>
          <a:ext cx="5760000" cy="3352800"/>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97847645"/>
                    </a:ext>
                  </a:extLst>
                </a:gridCol>
                <a:gridCol w="1920000">
                  <a:extLst>
                    <a:ext uri="{9D8B030D-6E8A-4147-A177-3AD203B41FA5}">
                      <a16:colId xmlns:a16="http://schemas.microsoft.com/office/drawing/2014/main" val="297671890"/>
                    </a:ext>
                  </a:extLst>
                </a:gridCol>
                <a:gridCol w="1920000">
                  <a:extLst>
                    <a:ext uri="{9D8B030D-6E8A-4147-A177-3AD203B41FA5}">
                      <a16:colId xmlns:a16="http://schemas.microsoft.com/office/drawing/2014/main" val="303480770"/>
                    </a:ext>
                  </a:extLst>
                </a:gridCol>
              </a:tblGrid>
              <a:tr h="183273">
                <a:tc>
                  <a:txBody>
                    <a:bodyPr/>
                    <a:lstStyle/>
                    <a:p>
                      <a:pPr algn="ctr">
                        <a:buNone/>
                      </a:pPr>
                      <a:r>
                        <a:rPr lang="zh-CN" altLang="en-US" sz="1000" b="1" dirty="0">
                          <a:effectLst/>
                        </a:rPr>
                        <a:t>子类</a:t>
                      </a:r>
                    </a:p>
                  </a:txBody>
                  <a:tcPr anchor="ctr">
                    <a:solidFill>
                      <a:schemeClr val="bg2">
                        <a:lumMod val="10000"/>
                      </a:schemeClr>
                    </a:solidFill>
                  </a:tcPr>
                </a:tc>
                <a:tc>
                  <a:txBody>
                    <a:bodyPr/>
                    <a:lstStyle/>
                    <a:p>
                      <a:pPr algn="ctr">
                        <a:buNone/>
                      </a:pPr>
                      <a:r>
                        <a:rPr lang="zh-CN" altLang="en-US" sz="1000" b="1" dirty="0">
                          <a:effectLst/>
                        </a:rPr>
                        <a:t>绑定的数据类</a:t>
                      </a:r>
                    </a:p>
                  </a:txBody>
                  <a:tcPr anchor="ctr">
                    <a:solidFill>
                      <a:schemeClr val="bg2">
                        <a:lumMod val="10000"/>
                      </a:schemeClr>
                    </a:solidFill>
                  </a:tcPr>
                </a:tc>
                <a:tc>
                  <a:txBody>
                    <a:bodyPr/>
                    <a:lstStyle/>
                    <a:p>
                      <a:pPr algn="ctr">
                        <a:buNone/>
                      </a:pPr>
                      <a:r>
                        <a:rPr lang="zh-CN" altLang="en-US" sz="1000" b="1" dirty="0">
                          <a:effectLst/>
                        </a:rPr>
                        <a:t>核心扩展（对比 </a:t>
                      </a:r>
                      <a:r>
                        <a:rPr lang="en-US" sz="1000" b="1" dirty="0">
                          <a:effectLst/>
                        </a:rPr>
                        <a:t>xNode_Base）</a:t>
                      </a:r>
                    </a:p>
                  </a:txBody>
                  <a:tcPr anchor="ctr">
                    <a:solidFill>
                      <a:schemeClr val="bg2">
                        <a:lumMod val="10000"/>
                      </a:schemeClr>
                    </a:solidFill>
                  </a:tcPr>
                </a:tc>
                <a:extLst>
                  <a:ext uri="{0D108BD9-81ED-4DB2-BD59-A6C34878D82A}">
                    <a16:rowId xmlns:a16="http://schemas.microsoft.com/office/drawing/2014/main" val="2049792915"/>
                  </a:ext>
                </a:extLst>
              </a:tr>
              <a:tr h="687273">
                <a:tc>
                  <a:txBody>
                    <a:bodyPr/>
                    <a:lstStyle/>
                    <a:p>
                      <a:pPr algn="ctr">
                        <a:buNone/>
                      </a:pPr>
                      <a:r>
                        <a:rPr lang="en-US" sz="900" b="0" dirty="0">
                          <a:effectLst/>
                        </a:rPr>
                        <a:t>xNode_Branch</a:t>
                      </a:r>
                    </a:p>
                  </a:txBody>
                  <a:tcPr anchor="ctr">
                    <a:solidFill>
                      <a:schemeClr val="bg2">
                        <a:lumMod val="10000"/>
                      </a:schemeClr>
                    </a:solidFill>
                  </a:tcPr>
                </a:tc>
                <a:tc>
                  <a:txBody>
                    <a:bodyPr/>
                    <a:lstStyle/>
                    <a:p>
                      <a:pPr algn="ctr">
                        <a:buNone/>
                      </a:pPr>
                      <a:r>
                        <a:rPr lang="en-US" sz="900" b="0" dirty="0">
                          <a:effectLst/>
                        </a:rPr>
                        <a:t>xAction_Branch</a:t>
                      </a:r>
                    </a:p>
                  </a:txBody>
                  <a:tcPr anchor="ctr">
                    <a:solidFill>
                      <a:schemeClr val="bg2">
                        <a:lumMod val="10000"/>
                      </a:schemeClr>
                    </a:solidFill>
                  </a:tcPr>
                </a:tc>
                <a:tc>
                  <a:txBody>
                    <a:bodyPr/>
                    <a:lstStyle/>
                    <a:p>
                      <a:pPr algn="ctr">
                        <a:buNone/>
                      </a:pPr>
                      <a:r>
                        <a:rPr lang="en-US" altLang="zh-CN" sz="900" b="0" dirty="0">
                          <a:effectLst/>
                        </a:rPr>
                        <a:t>1. </a:t>
                      </a:r>
                      <a:r>
                        <a:rPr lang="zh-CN" altLang="en-US" sz="900" b="0" dirty="0">
                          <a:effectLst/>
                        </a:rPr>
                        <a:t>定制端口：新增 “条件输入端口”“</a:t>
                      </a:r>
                      <a:r>
                        <a:rPr lang="en-US" altLang="zh-CN" sz="900" b="0" dirty="0">
                          <a:effectLst/>
                        </a:rPr>
                        <a:t>True/False </a:t>
                      </a:r>
                      <a:r>
                        <a:rPr lang="zh-CN" altLang="en-US" sz="900" b="0" dirty="0">
                          <a:effectLst/>
                        </a:rPr>
                        <a:t>输出端口”；</a:t>
                      </a:r>
                    </a:p>
                    <a:p>
                      <a:pPr algn="ctr">
                        <a:buNone/>
                      </a:pPr>
                      <a:r>
                        <a:rPr lang="en-US" altLang="zh-CN" sz="900" b="0" dirty="0">
                          <a:effectLst/>
                        </a:rPr>
                        <a:t>2. </a:t>
                      </a:r>
                      <a:r>
                        <a:rPr lang="zh-CN" altLang="en-US" sz="900" b="0" dirty="0">
                          <a:effectLst/>
                        </a:rPr>
                        <a:t>绘制扩展：添加 “条件表达式编辑框”；</a:t>
                      </a:r>
                    </a:p>
                    <a:p>
                      <a:pPr algn="ctr">
                        <a:buNone/>
                      </a:pPr>
                      <a:r>
                        <a:rPr lang="en-US" altLang="zh-CN" sz="900" b="0" dirty="0">
                          <a:effectLst/>
                        </a:rPr>
                        <a:t>3. </a:t>
                      </a:r>
                      <a:r>
                        <a:rPr lang="zh-CN" altLang="en-US" sz="900" b="0" dirty="0">
                          <a:effectLst/>
                        </a:rPr>
                        <a:t>交互：条件变更时同步到 </a:t>
                      </a:r>
                      <a:r>
                        <a:rPr lang="en-US" altLang="zh-CN" sz="900" b="0" dirty="0">
                          <a:effectLst/>
                        </a:rPr>
                        <a:t>xAction_Branch</a:t>
                      </a:r>
                    </a:p>
                  </a:txBody>
                  <a:tcPr anchor="ctr">
                    <a:solidFill>
                      <a:schemeClr val="bg2">
                        <a:lumMod val="10000"/>
                      </a:schemeClr>
                    </a:solidFill>
                  </a:tcPr>
                </a:tc>
                <a:extLst>
                  <a:ext uri="{0D108BD9-81ED-4DB2-BD59-A6C34878D82A}">
                    <a16:rowId xmlns:a16="http://schemas.microsoft.com/office/drawing/2014/main" val="2754479523"/>
                  </a:ext>
                </a:extLst>
              </a:tr>
              <a:tr h="687273">
                <a:tc>
                  <a:txBody>
                    <a:bodyPr/>
                    <a:lstStyle/>
                    <a:p>
                      <a:pPr algn="ctr">
                        <a:buNone/>
                      </a:pPr>
                      <a:r>
                        <a:rPr lang="en-US" sz="900" b="0" dirty="0">
                          <a:effectLst/>
                        </a:rPr>
                        <a:t>xNode_Composite</a:t>
                      </a:r>
                    </a:p>
                  </a:txBody>
                  <a:tcPr anchor="ctr">
                    <a:solidFill>
                      <a:schemeClr val="bg2">
                        <a:lumMod val="10000"/>
                      </a:schemeClr>
                    </a:solidFill>
                  </a:tcPr>
                </a:tc>
                <a:tc>
                  <a:txBody>
                    <a:bodyPr/>
                    <a:lstStyle/>
                    <a:p>
                      <a:pPr algn="ctr">
                        <a:buNone/>
                      </a:pPr>
                      <a:r>
                        <a:rPr lang="en-US" sz="900" b="0" dirty="0">
                          <a:effectLst/>
                        </a:rPr>
                        <a:t>xAction_Composite</a:t>
                      </a:r>
                    </a:p>
                  </a:txBody>
                  <a:tcPr anchor="ctr">
                    <a:solidFill>
                      <a:schemeClr val="bg2">
                        <a:lumMod val="10000"/>
                      </a:schemeClr>
                    </a:solidFill>
                  </a:tcPr>
                </a:tc>
                <a:tc>
                  <a:txBody>
                    <a:bodyPr/>
                    <a:lstStyle/>
                    <a:p>
                      <a:pPr algn="ctr">
                        <a:buNone/>
                      </a:pPr>
                      <a:r>
                        <a:rPr lang="en-US" altLang="zh-CN" sz="900" b="0" dirty="0">
                          <a:effectLst/>
                        </a:rPr>
                        <a:t>1. </a:t>
                      </a:r>
                      <a:r>
                        <a:rPr lang="zh-CN" altLang="en-US" sz="900" b="0" dirty="0">
                          <a:effectLst/>
                        </a:rPr>
                        <a:t>定制端口：多输出端口（对应子节点执行顺序）；</a:t>
                      </a:r>
                    </a:p>
                    <a:p>
                      <a:pPr algn="ctr">
                        <a:buNone/>
                      </a:pPr>
                      <a:r>
                        <a:rPr lang="en-US" altLang="zh-CN" sz="900" b="0" dirty="0">
                          <a:effectLst/>
                        </a:rPr>
                        <a:t>2. </a:t>
                      </a:r>
                      <a:r>
                        <a:rPr lang="zh-CN" altLang="en-US" sz="900" b="0" dirty="0">
                          <a:effectLst/>
                        </a:rPr>
                        <a:t>绘制扩展：显示 “执行模式（顺序 </a:t>
                      </a:r>
                      <a:r>
                        <a:rPr lang="en-US" altLang="zh-CN" sz="900" b="0" dirty="0">
                          <a:effectLst/>
                        </a:rPr>
                        <a:t>/ </a:t>
                      </a:r>
                      <a:r>
                        <a:rPr lang="zh-CN" altLang="en-US" sz="900" b="0" dirty="0">
                          <a:effectLst/>
                        </a:rPr>
                        <a:t>并发）” 标签；</a:t>
                      </a:r>
                    </a:p>
                    <a:p>
                      <a:pPr algn="ctr">
                        <a:buNone/>
                      </a:pPr>
                      <a:r>
                        <a:rPr lang="en-US" altLang="zh-CN" sz="900" b="0" dirty="0">
                          <a:effectLst/>
                        </a:rPr>
                        <a:t>3. </a:t>
                      </a:r>
                      <a:r>
                        <a:rPr lang="zh-CN" altLang="en-US" sz="900" b="0" dirty="0">
                          <a:effectLst/>
                        </a:rPr>
                        <a:t>同步：子节点列表变更时更新端口数量</a:t>
                      </a:r>
                    </a:p>
                  </a:txBody>
                  <a:tcPr anchor="ctr">
                    <a:solidFill>
                      <a:schemeClr val="bg2">
                        <a:lumMod val="10000"/>
                      </a:schemeClr>
                    </a:solidFill>
                  </a:tcPr>
                </a:tc>
                <a:extLst>
                  <a:ext uri="{0D108BD9-81ED-4DB2-BD59-A6C34878D82A}">
                    <a16:rowId xmlns:a16="http://schemas.microsoft.com/office/drawing/2014/main" val="3372650857"/>
                  </a:ext>
                </a:extLst>
              </a:tr>
              <a:tr h="481091">
                <a:tc>
                  <a:txBody>
                    <a:bodyPr/>
                    <a:lstStyle/>
                    <a:p>
                      <a:pPr algn="ctr">
                        <a:buNone/>
                      </a:pPr>
                      <a:r>
                        <a:rPr lang="en-US" sz="900" b="0" dirty="0">
                          <a:effectLst/>
                        </a:rPr>
                        <a:t>xNode_Wait</a:t>
                      </a:r>
                    </a:p>
                  </a:txBody>
                  <a:tcPr anchor="ctr">
                    <a:solidFill>
                      <a:schemeClr val="bg2">
                        <a:lumMod val="10000"/>
                      </a:schemeClr>
                    </a:solidFill>
                  </a:tcPr>
                </a:tc>
                <a:tc>
                  <a:txBody>
                    <a:bodyPr/>
                    <a:lstStyle/>
                    <a:p>
                      <a:pPr algn="ctr">
                        <a:buNone/>
                      </a:pPr>
                      <a:r>
                        <a:rPr lang="en-US" sz="900" b="0" dirty="0">
                          <a:effectLst/>
                        </a:rPr>
                        <a:t>xAction_Wait</a:t>
                      </a:r>
                    </a:p>
                  </a:txBody>
                  <a:tcPr anchor="ctr">
                    <a:solidFill>
                      <a:schemeClr val="bg2">
                        <a:lumMod val="10000"/>
                      </a:schemeClr>
                    </a:solidFill>
                  </a:tcPr>
                </a:tc>
                <a:tc>
                  <a:txBody>
                    <a:bodyPr/>
                    <a:lstStyle/>
                    <a:p>
                      <a:pPr algn="ctr">
                        <a:buNone/>
                      </a:pPr>
                      <a:r>
                        <a:rPr lang="en-US" altLang="zh-CN" sz="900" b="0" dirty="0">
                          <a:effectLst/>
                        </a:rPr>
                        <a:t>1. </a:t>
                      </a:r>
                      <a:r>
                        <a:rPr lang="zh-CN" altLang="en-US" sz="900" b="0" dirty="0">
                          <a:effectLst/>
                        </a:rPr>
                        <a:t>绘制扩展：添加 “延时时长输入框”“等待条件选择框”；</a:t>
                      </a:r>
                    </a:p>
                    <a:p>
                      <a:pPr algn="ctr">
                        <a:buNone/>
                      </a:pPr>
                      <a:r>
                        <a:rPr lang="en-US" altLang="zh-CN" sz="900" b="0" dirty="0">
                          <a:effectLst/>
                        </a:rPr>
                        <a:t>2. </a:t>
                      </a:r>
                      <a:r>
                        <a:rPr lang="zh-CN" altLang="en-US" sz="900" b="0" dirty="0">
                          <a:effectLst/>
                        </a:rPr>
                        <a:t>同步：时长 </a:t>
                      </a:r>
                      <a:r>
                        <a:rPr lang="en-US" altLang="zh-CN" sz="900" b="0" dirty="0">
                          <a:effectLst/>
                        </a:rPr>
                        <a:t>/ </a:t>
                      </a:r>
                      <a:r>
                        <a:rPr lang="zh-CN" altLang="en-US" sz="900" b="0" dirty="0">
                          <a:effectLst/>
                        </a:rPr>
                        <a:t>条件变更同步到 </a:t>
                      </a:r>
                      <a:r>
                        <a:rPr lang="en-US" altLang="zh-CN" sz="900" b="0" dirty="0">
                          <a:effectLst/>
                        </a:rPr>
                        <a:t>xAction_Wait</a:t>
                      </a:r>
                    </a:p>
                  </a:txBody>
                  <a:tcPr anchor="ctr">
                    <a:solidFill>
                      <a:schemeClr val="bg2">
                        <a:lumMod val="10000"/>
                      </a:schemeClr>
                    </a:solidFill>
                  </a:tcPr>
                </a:tc>
                <a:extLst>
                  <a:ext uri="{0D108BD9-81ED-4DB2-BD59-A6C34878D82A}">
                    <a16:rowId xmlns:a16="http://schemas.microsoft.com/office/drawing/2014/main" val="2791899994"/>
                  </a:ext>
                </a:extLst>
              </a:tr>
              <a:tr h="481091">
                <a:tc>
                  <a:txBody>
                    <a:bodyPr/>
                    <a:lstStyle/>
                    <a:p>
                      <a:pPr algn="ctr">
                        <a:buNone/>
                      </a:pPr>
                      <a:r>
                        <a:rPr lang="en-US" sz="900" b="0" dirty="0">
                          <a:effectLst/>
                        </a:rPr>
                        <a:t>xNode_Debug</a:t>
                      </a:r>
                    </a:p>
                  </a:txBody>
                  <a:tcPr anchor="ctr">
                    <a:solidFill>
                      <a:schemeClr val="bg2">
                        <a:lumMod val="10000"/>
                      </a:schemeClr>
                    </a:solidFill>
                  </a:tcPr>
                </a:tc>
                <a:tc>
                  <a:txBody>
                    <a:bodyPr/>
                    <a:lstStyle/>
                    <a:p>
                      <a:pPr algn="ctr">
                        <a:buNone/>
                      </a:pPr>
                      <a:r>
                        <a:rPr lang="en-US" sz="900" b="0" dirty="0">
                          <a:effectLst/>
                        </a:rPr>
                        <a:t>xAction_Debug</a:t>
                      </a:r>
                    </a:p>
                  </a:txBody>
                  <a:tcPr anchor="ctr">
                    <a:solidFill>
                      <a:schemeClr val="bg2">
                        <a:lumMod val="10000"/>
                      </a:schemeClr>
                    </a:solidFill>
                  </a:tcPr>
                </a:tc>
                <a:tc>
                  <a:txBody>
                    <a:bodyPr/>
                    <a:lstStyle/>
                    <a:p>
                      <a:pPr algn="ctr">
                        <a:buNone/>
                      </a:pPr>
                      <a:r>
                        <a:rPr lang="en-US" altLang="zh-CN" sz="900" b="0" dirty="0">
                          <a:effectLst/>
                        </a:rPr>
                        <a:t>1. </a:t>
                      </a:r>
                      <a:r>
                        <a:rPr lang="zh-CN" altLang="en-US" sz="900" b="0" dirty="0">
                          <a:effectLst/>
                        </a:rPr>
                        <a:t>绘制扩展：添加 “日志前缀输入框”“日志内容编辑框”；</a:t>
                      </a:r>
                    </a:p>
                    <a:p>
                      <a:pPr algn="ctr">
                        <a:buNone/>
                      </a:pPr>
                      <a:r>
                        <a:rPr lang="en-US" altLang="zh-CN" sz="900" b="0" dirty="0">
                          <a:effectLst/>
                        </a:rPr>
                        <a:t>2. </a:t>
                      </a:r>
                      <a:r>
                        <a:rPr lang="zh-CN" altLang="en-US" sz="900" b="0" dirty="0">
                          <a:effectLst/>
                        </a:rPr>
                        <a:t>交互：支持绑定变量到日志内容，实时预览输出效果</a:t>
                      </a:r>
                    </a:p>
                  </a:txBody>
                  <a:tcPr anchor="ctr">
                    <a:solidFill>
                      <a:schemeClr val="bg2">
                        <a:lumMod val="10000"/>
                      </a:schemeClr>
                    </a:solidFill>
                  </a:tcPr>
                </a:tc>
                <a:extLst>
                  <a:ext uri="{0D108BD9-81ED-4DB2-BD59-A6C34878D82A}">
                    <a16:rowId xmlns:a16="http://schemas.microsoft.com/office/drawing/2014/main" val="1021948762"/>
                  </a:ext>
                </a:extLst>
              </a:tr>
            </a:tbl>
          </a:graphicData>
        </a:graphic>
      </p:graphicFrame>
    </p:spTree>
    <p:extLst>
      <p:ext uri="{BB962C8B-B14F-4D97-AF65-F5344CB8AC3E}">
        <p14:creationId xmlns:p14="http://schemas.microsoft.com/office/powerpoint/2010/main" val="3410650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BD450A1F-EB9A-E93F-74F7-2150B392EE7D}"/>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E09B78B2-CD4B-CAAE-4704-022978B26A1E}"/>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xNode_Base_ </a:t>
            </a:r>
            <a:r>
              <a:rPr lang="zh-CN" altLang="en-US" dirty="0"/>
              <a:t>类详解</a:t>
            </a:r>
          </a:p>
        </p:txBody>
      </p:sp>
      <p:sp>
        <p:nvSpPr>
          <p:cNvPr id="6" name="文本框 5">
            <a:extLst>
              <a:ext uri="{FF2B5EF4-FFF2-40B4-BE49-F238E27FC236}">
                <a16:creationId xmlns:a16="http://schemas.microsoft.com/office/drawing/2014/main" id="{B2DBFC60-A928-40B9-6FAA-73FFAB449636}"/>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1E33501D-3FDF-EEC0-9BAA-6512DC2B6C88}"/>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6DCBD139-C92E-B9F0-AD39-B40AFB0EF296}"/>
              </a:ext>
            </a:extLst>
          </p:cNvPr>
          <p:cNvSpPr txBox="1"/>
          <p:nvPr/>
        </p:nvSpPr>
        <p:spPr>
          <a:xfrm>
            <a:off x="383776" y="1049668"/>
            <a:ext cx="6071900" cy="1064882"/>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非继承关系的配套类（协作型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除直接子类外，还有部分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类不继承自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，但作为 “配套组件” 与它深度协作，支撑节点系统的完整功能：</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1E103C07-0B87-031D-5DA6-B7A625724D1E}"/>
              </a:ext>
            </a:extLst>
          </p:cNvPr>
          <p:cNvSpPr txBox="1"/>
          <p:nvPr/>
        </p:nvSpPr>
        <p:spPr>
          <a:xfrm>
            <a:off x="383776" y="2114550"/>
            <a:ext cx="6071900" cy="195580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xNode_Port</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（节点端口类）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节点端口的独立视图组件，由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CreatePort()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方法创建，是节点间连接的核心载体</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的协作：</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归属关系：</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每个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实例包含多个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xNode_Port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（输入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输出），存储在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portList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属性中；</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交互联动：</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端口的点击、连线、断开事件，会通过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同步到底层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的端口数据；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样式同步：</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刷新主题色时，会同步更新所有所属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xNode_Port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的颜色。</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28A51E42-BF0B-236F-E972-D5BE9079BD71}"/>
              </a:ext>
            </a:extLst>
          </p:cNvPr>
          <p:cNvSpPr txBox="1"/>
          <p:nvPr/>
        </p:nvSpPr>
        <p:spPr>
          <a:xfrm>
            <a:off x="383776" y="4381500"/>
            <a:ext cx="6071900" cy="195580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xNode_Group</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（节点编组视图类）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用于批量管理多个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实例的编组容器，支持编组拖拽、折叠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展开</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的协作：</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包含关系：</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一个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xNode_Group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可包含多个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实例，存储其引用；</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位置同步：</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编组拖拽时，批量更新内部所有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的位置；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样式联动：</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编组折叠时，隐藏内部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的渲染，仅显示编组标题。</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806B60A8-E4C5-49D4-01EF-1274DFA19A56}"/>
              </a:ext>
            </a:extLst>
          </p:cNvPr>
          <p:cNvSpPr txBox="1"/>
          <p:nvPr/>
        </p:nvSpPr>
        <p:spPr>
          <a:xfrm>
            <a:off x="383776" y="6648450"/>
            <a:ext cx="6071900" cy="195580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xNode_Decorator</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（节点装饰器视图类）</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定位：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附加在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上的装饰组件（如 “执行次数限制”“优先级标记”），无独立存在意义</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的协作：</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挂载关系：</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通过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AddDecorator()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方法挂载到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的装饰器容器中；</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数据联动：</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装饰器的参数变更（如执行次数）同步到绑定的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扩展属性中。</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453500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967C27BB-5EC6-87B9-7A28-F5BF29678B25}"/>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FFFE43F-3F60-5BA5-B67A-51E2DF71B83B}"/>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xNode_Base_ </a:t>
            </a:r>
            <a:r>
              <a:rPr lang="zh-CN" altLang="en-US" dirty="0"/>
              <a:t>类详解</a:t>
            </a:r>
          </a:p>
        </p:txBody>
      </p:sp>
      <p:sp>
        <p:nvSpPr>
          <p:cNvPr id="6" name="文本框 5">
            <a:extLst>
              <a:ext uri="{FF2B5EF4-FFF2-40B4-BE49-F238E27FC236}">
                <a16:creationId xmlns:a16="http://schemas.microsoft.com/office/drawing/2014/main" id="{B721C3B4-CD21-F69C-2727-752846E94E35}"/>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5B8CD71C-BDB5-1F21-F5A3-07941C99FDA3}"/>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11" name="文本框 10">
            <a:extLst>
              <a:ext uri="{FF2B5EF4-FFF2-40B4-BE49-F238E27FC236}">
                <a16:creationId xmlns:a16="http://schemas.microsoft.com/office/drawing/2014/main" id="{5EAB60CB-37BB-BA72-8481-CC8470ABEC60}"/>
              </a:ext>
            </a:extLst>
          </p:cNvPr>
          <p:cNvSpPr txBox="1"/>
          <p:nvPr/>
        </p:nvSpPr>
        <p:spPr>
          <a:xfrm>
            <a:off x="383776" y="1049668"/>
            <a:ext cx="6071900" cy="1064882"/>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核心协作逻辑（视图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数据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交互闭环）</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类最终围绕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形成 “视图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交互” 的完整闭环，核心流程如下：</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9493BF6F-962C-C520-A69E-3D2D0166D92B}"/>
              </a:ext>
            </a:extLst>
          </p:cNvPr>
          <p:cNvSpPr txBox="1"/>
          <p:nvPr/>
        </p:nvSpPr>
        <p:spPr>
          <a:xfrm>
            <a:off x="383776" y="1866900"/>
            <a:ext cx="6071900" cy="2159000"/>
          </a:xfrm>
          <a:prstGeom prst="rect">
            <a:avLst/>
          </a:prstGeom>
          <a:noFill/>
        </p:spPr>
        <p:txBody>
          <a:bodyPr wrap="square" numCol="1" spcCol="360000" rtlCol="0">
            <a:noAutofit/>
          </a:bodyPr>
          <a:lstStyle/>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初始化：</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（画布）从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加载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 → 创建对应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子类实例 → 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BindData()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绑定数据；</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渲染：</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SyncDataToView()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同步位置、样式、参数到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执行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Draw()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绘制节点及端口；</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交互：</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用户操作节点（拖拽、编辑值、连线）→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触发交互方法（如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OnDrag()</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OnValueChanged()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 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SyncViewToData()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将变更同步回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Wingdings" panose="05000000000000000000" pitchFamily="2" charset="2"/>
              <a:buChar char="ü"/>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联动：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数据变更后触发回调 →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接收回调并更新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（如主题色变化、端口连接变化）。</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graphicFrame>
        <p:nvGraphicFramePr>
          <p:cNvPr id="3" name="表格 2">
            <a:extLst>
              <a:ext uri="{FF2B5EF4-FFF2-40B4-BE49-F238E27FC236}">
                <a16:creationId xmlns:a16="http://schemas.microsoft.com/office/drawing/2014/main" id="{318C1ECD-F2B7-875F-5E6B-1D49BB3347AC}"/>
              </a:ext>
            </a:extLst>
          </p:cNvPr>
          <p:cNvGraphicFramePr>
            <a:graphicFrameLocks noGrp="1"/>
          </p:cNvGraphicFramePr>
          <p:nvPr>
            <p:extLst>
              <p:ext uri="{D42A27DB-BD31-4B8C-83A1-F6EECF244321}">
                <p14:modId xmlns:p14="http://schemas.microsoft.com/office/powerpoint/2010/main" val="1049654040"/>
              </p:ext>
            </p:extLst>
          </p:nvPr>
        </p:nvGraphicFramePr>
        <p:xfrm>
          <a:off x="549000" y="4387374"/>
          <a:ext cx="5760000" cy="2520003"/>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514166458"/>
                    </a:ext>
                  </a:extLst>
                </a:gridCol>
                <a:gridCol w="1920000">
                  <a:extLst>
                    <a:ext uri="{9D8B030D-6E8A-4147-A177-3AD203B41FA5}">
                      <a16:colId xmlns:a16="http://schemas.microsoft.com/office/drawing/2014/main" val="1955668590"/>
                    </a:ext>
                  </a:extLst>
                </a:gridCol>
                <a:gridCol w="1920000">
                  <a:extLst>
                    <a:ext uri="{9D8B030D-6E8A-4147-A177-3AD203B41FA5}">
                      <a16:colId xmlns:a16="http://schemas.microsoft.com/office/drawing/2014/main" val="2301646367"/>
                    </a:ext>
                  </a:extLst>
                </a:gridCol>
              </a:tblGrid>
              <a:tr h="253623">
                <a:tc>
                  <a:txBody>
                    <a:bodyPr/>
                    <a:lstStyle/>
                    <a:p>
                      <a:pPr algn="ctr">
                        <a:buNone/>
                      </a:pPr>
                      <a:r>
                        <a:rPr lang="zh-CN" altLang="en-US" sz="1000" b="1" dirty="0">
                          <a:effectLst/>
                        </a:rPr>
                        <a:t>类名</a:t>
                      </a:r>
                    </a:p>
                  </a:txBody>
                  <a:tcPr anchor="ctr">
                    <a:solidFill>
                      <a:schemeClr val="bg2">
                        <a:lumMod val="10000"/>
                      </a:schemeClr>
                    </a:solidFill>
                  </a:tcPr>
                </a:tc>
                <a:tc>
                  <a:txBody>
                    <a:bodyPr/>
                    <a:lstStyle/>
                    <a:p>
                      <a:pPr algn="ctr">
                        <a:buNone/>
                      </a:pPr>
                      <a:r>
                        <a:rPr lang="zh-CN" altLang="en-US" sz="1000" b="1" dirty="0">
                          <a:effectLst/>
                        </a:rPr>
                        <a:t>与 </a:t>
                      </a:r>
                      <a:r>
                        <a:rPr lang="en-US" sz="1000" b="1" dirty="0">
                          <a:effectLst/>
                        </a:rPr>
                        <a:t>xNode_Base </a:t>
                      </a:r>
                      <a:r>
                        <a:rPr lang="zh-CN" altLang="en-US" sz="1000" b="1" dirty="0">
                          <a:effectLst/>
                        </a:rPr>
                        <a:t>的关系</a:t>
                      </a:r>
                    </a:p>
                  </a:txBody>
                  <a:tcPr anchor="ctr">
                    <a:solidFill>
                      <a:schemeClr val="bg2">
                        <a:lumMod val="10000"/>
                      </a:schemeClr>
                    </a:solidFill>
                  </a:tcPr>
                </a:tc>
                <a:tc>
                  <a:txBody>
                    <a:bodyPr/>
                    <a:lstStyle/>
                    <a:p>
                      <a:pPr algn="ctr">
                        <a:buNone/>
                      </a:pPr>
                      <a:r>
                        <a:rPr lang="zh-CN" altLang="en-US" sz="1000" b="1" dirty="0">
                          <a:effectLst/>
                        </a:rPr>
                        <a:t>核心价值</a:t>
                      </a:r>
                    </a:p>
                  </a:txBody>
                  <a:tcPr anchor="ctr">
                    <a:solidFill>
                      <a:schemeClr val="bg2">
                        <a:lumMod val="10000"/>
                      </a:schemeClr>
                    </a:solidFill>
                  </a:tcPr>
                </a:tc>
                <a:extLst>
                  <a:ext uri="{0D108BD9-81ED-4DB2-BD59-A6C34878D82A}">
                    <a16:rowId xmlns:a16="http://schemas.microsoft.com/office/drawing/2014/main" val="3921861143"/>
                  </a:ext>
                </a:extLst>
              </a:tr>
              <a:tr h="377730">
                <a:tc>
                  <a:txBody>
                    <a:bodyPr/>
                    <a:lstStyle/>
                    <a:p>
                      <a:pPr algn="ctr">
                        <a:buNone/>
                      </a:pPr>
                      <a:r>
                        <a:rPr lang="en-US" sz="900" b="0" dirty="0">
                          <a:effectLst/>
                        </a:rPr>
                        <a:t>xNode_Variable</a:t>
                      </a:r>
                    </a:p>
                  </a:txBody>
                  <a:tcPr anchor="ctr">
                    <a:solidFill>
                      <a:schemeClr val="bg2">
                        <a:lumMod val="10000"/>
                      </a:schemeClr>
                    </a:solidFill>
                  </a:tcPr>
                </a:tc>
                <a:tc>
                  <a:txBody>
                    <a:bodyPr/>
                    <a:lstStyle/>
                    <a:p>
                      <a:pPr algn="ctr">
                        <a:buNone/>
                      </a:pPr>
                      <a:r>
                        <a:rPr lang="zh-CN" altLang="en-US" sz="900" b="0">
                          <a:effectLst/>
                        </a:rPr>
                        <a:t>直接子类</a:t>
                      </a:r>
                    </a:p>
                  </a:txBody>
                  <a:tcPr anchor="ctr">
                    <a:solidFill>
                      <a:schemeClr val="bg2">
                        <a:lumMod val="10000"/>
                      </a:schemeClr>
                    </a:solidFill>
                  </a:tcPr>
                </a:tc>
                <a:tc>
                  <a:txBody>
                    <a:bodyPr/>
                    <a:lstStyle/>
                    <a:p>
                      <a:pPr algn="ctr">
                        <a:buNone/>
                      </a:pPr>
                      <a:r>
                        <a:rPr lang="zh-CN" altLang="en-US" sz="900" b="0">
                          <a:effectLst/>
                        </a:rPr>
                        <a:t>可视化渲染变量节点，适配变量编辑交互</a:t>
                      </a:r>
                    </a:p>
                  </a:txBody>
                  <a:tcPr anchor="ctr">
                    <a:solidFill>
                      <a:schemeClr val="bg2">
                        <a:lumMod val="10000"/>
                      </a:schemeClr>
                    </a:solidFill>
                  </a:tcPr>
                </a:tc>
                <a:extLst>
                  <a:ext uri="{0D108BD9-81ED-4DB2-BD59-A6C34878D82A}">
                    <a16:rowId xmlns:a16="http://schemas.microsoft.com/office/drawing/2014/main" val="1041592899"/>
                  </a:ext>
                </a:extLst>
              </a:tr>
              <a:tr h="377730">
                <a:tc>
                  <a:txBody>
                    <a:bodyPr/>
                    <a:lstStyle/>
                    <a:p>
                      <a:pPr algn="ctr">
                        <a:buNone/>
                      </a:pPr>
                      <a:r>
                        <a:rPr lang="en-US" sz="900" b="0" dirty="0">
                          <a:effectLst/>
                        </a:rPr>
                        <a:t>xNode_Label/Stick</a:t>
                      </a:r>
                    </a:p>
                  </a:txBody>
                  <a:tcPr anchor="ctr">
                    <a:solidFill>
                      <a:schemeClr val="bg2">
                        <a:lumMod val="10000"/>
                      </a:schemeClr>
                    </a:solidFill>
                  </a:tcPr>
                </a:tc>
                <a:tc>
                  <a:txBody>
                    <a:bodyPr/>
                    <a:lstStyle/>
                    <a:p>
                      <a:pPr algn="ctr">
                        <a:buNone/>
                      </a:pPr>
                      <a:r>
                        <a:rPr lang="zh-CN" altLang="en-US" sz="900" b="0" dirty="0">
                          <a:effectLst/>
                        </a:rPr>
                        <a:t>直接子类</a:t>
                      </a:r>
                    </a:p>
                  </a:txBody>
                  <a:tcPr anchor="ctr">
                    <a:solidFill>
                      <a:schemeClr val="bg2">
                        <a:lumMod val="10000"/>
                      </a:schemeClr>
                    </a:solidFill>
                  </a:tcPr>
                </a:tc>
                <a:tc>
                  <a:txBody>
                    <a:bodyPr/>
                    <a:lstStyle/>
                    <a:p>
                      <a:pPr algn="ctr">
                        <a:buNone/>
                      </a:pPr>
                      <a:r>
                        <a:rPr lang="zh-CN" altLang="en-US" sz="900" b="0">
                          <a:effectLst/>
                        </a:rPr>
                        <a:t>轻量化辅助节点，简化基类逻辑实现文本备注</a:t>
                      </a:r>
                    </a:p>
                  </a:txBody>
                  <a:tcPr anchor="ctr">
                    <a:solidFill>
                      <a:schemeClr val="bg2">
                        <a:lumMod val="10000"/>
                      </a:schemeClr>
                    </a:solidFill>
                  </a:tcPr>
                </a:tc>
                <a:extLst>
                  <a:ext uri="{0D108BD9-81ED-4DB2-BD59-A6C34878D82A}">
                    <a16:rowId xmlns:a16="http://schemas.microsoft.com/office/drawing/2014/main" val="91434782"/>
                  </a:ext>
                </a:extLst>
              </a:tr>
              <a:tr h="377730">
                <a:tc>
                  <a:txBody>
                    <a:bodyPr/>
                    <a:lstStyle/>
                    <a:p>
                      <a:pPr algn="ctr">
                        <a:buNone/>
                      </a:pPr>
                      <a:r>
                        <a:rPr lang="en-US" sz="900" b="0" dirty="0">
                          <a:effectLst/>
                        </a:rPr>
                        <a:t>xNode_Branch/Debug </a:t>
                      </a:r>
                      <a:r>
                        <a:rPr lang="zh-CN" altLang="en-US" sz="900" b="0">
                          <a:effectLst/>
                        </a:rPr>
                        <a:t>等</a:t>
                      </a:r>
                    </a:p>
                  </a:txBody>
                  <a:tcPr anchor="ctr">
                    <a:solidFill>
                      <a:schemeClr val="bg2">
                        <a:lumMod val="10000"/>
                      </a:schemeClr>
                    </a:solidFill>
                  </a:tcPr>
                </a:tc>
                <a:tc>
                  <a:txBody>
                    <a:bodyPr/>
                    <a:lstStyle/>
                    <a:p>
                      <a:pPr algn="ctr">
                        <a:buNone/>
                      </a:pPr>
                      <a:r>
                        <a:rPr lang="zh-CN" altLang="en-US" sz="900" b="0" dirty="0">
                          <a:effectLst/>
                        </a:rPr>
                        <a:t>直接子类</a:t>
                      </a:r>
                    </a:p>
                  </a:txBody>
                  <a:tcPr anchor="ctr">
                    <a:solidFill>
                      <a:schemeClr val="bg2">
                        <a:lumMod val="10000"/>
                      </a:schemeClr>
                    </a:solidFill>
                  </a:tcPr>
                </a:tc>
                <a:tc>
                  <a:txBody>
                    <a:bodyPr/>
                    <a:lstStyle/>
                    <a:p>
                      <a:pPr algn="ctr">
                        <a:buNone/>
                      </a:pPr>
                      <a:r>
                        <a:rPr lang="zh-CN" altLang="en-US" sz="900" b="0">
                          <a:effectLst/>
                        </a:rPr>
                        <a:t>适配具体业务节点，定制端口和业务 </a:t>
                      </a:r>
                      <a:r>
                        <a:rPr lang="en-US" altLang="zh-CN" sz="900" b="0" dirty="0">
                          <a:effectLst/>
                        </a:rPr>
                        <a:t>UI</a:t>
                      </a:r>
                    </a:p>
                  </a:txBody>
                  <a:tcPr anchor="ctr">
                    <a:solidFill>
                      <a:schemeClr val="bg2">
                        <a:lumMod val="10000"/>
                      </a:schemeClr>
                    </a:solidFill>
                  </a:tcPr>
                </a:tc>
                <a:extLst>
                  <a:ext uri="{0D108BD9-81ED-4DB2-BD59-A6C34878D82A}">
                    <a16:rowId xmlns:a16="http://schemas.microsoft.com/office/drawing/2014/main" val="1004423088"/>
                  </a:ext>
                </a:extLst>
              </a:tr>
              <a:tr h="377730">
                <a:tc>
                  <a:txBody>
                    <a:bodyPr/>
                    <a:lstStyle/>
                    <a:p>
                      <a:pPr algn="ctr">
                        <a:buNone/>
                      </a:pPr>
                      <a:r>
                        <a:rPr lang="en-US" sz="900" b="0" dirty="0">
                          <a:effectLst/>
                        </a:rPr>
                        <a:t>xNode_Port</a:t>
                      </a:r>
                    </a:p>
                  </a:txBody>
                  <a:tcPr anchor="ctr">
                    <a:solidFill>
                      <a:schemeClr val="bg2">
                        <a:lumMod val="10000"/>
                      </a:schemeClr>
                    </a:solidFill>
                  </a:tcPr>
                </a:tc>
                <a:tc>
                  <a:txBody>
                    <a:bodyPr/>
                    <a:lstStyle/>
                    <a:p>
                      <a:pPr algn="ctr">
                        <a:buNone/>
                      </a:pPr>
                      <a:r>
                        <a:rPr lang="zh-CN" altLang="en-US" sz="900" b="0">
                          <a:effectLst/>
                        </a:rPr>
                        <a:t>配套组件（组合）</a:t>
                      </a:r>
                    </a:p>
                  </a:txBody>
                  <a:tcPr anchor="ctr">
                    <a:solidFill>
                      <a:schemeClr val="bg2">
                        <a:lumMod val="10000"/>
                      </a:schemeClr>
                    </a:solidFill>
                  </a:tcPr>
                </a:tc>
                <a:tc>
                  <a:txBody>
                    <a:bodyPr/>
                    <a:lstStyle/>
                    <a:p>
                      <a:pPr algn="ctr">
                        <a:buNone/>
                      </a:pPr>
                      <a:r>
                        <a:rPr lang="zh-CN" altLang="en-US" sz="900" b="0" dirty="0">
                          <a:effectLst/>
                        </a:rPr>
                        <a:t>实现节点间连接，是基类端口能力的载体</a:t>
                      </a:r>
                    </a:p>
                  </a:txBody>
                  <a:tcPr anchor="ctr">
                    <a:solidFill>
                      <a:schemeClr val="bg2">
                        <a:lumMod val="10000"/>
                      </a:schemeClr>
                    </a:solidFill>
                  </a:tcPr>
                </a:tc>
                <a:extLst>
                  <a:ext uri="{0D108BD9-81ED-4DB2-BD59-A6C34878D82A}">
                    <a16:rowId xmlns:a16="http://schemas.microsoft.com/office/drawing/2014/main" val="377024417"/>
                  </a:ext>
                </a:extLst>
              </a:tr>
              <a:tr h="377730">
                <a:tc>
                  <a:txBody>
                    <a:bodyPr/>
                    <a:lstStyle/>
                    <a:p>
                      <a:pPr algn="ctr">
                        <a:buNone/>
                      </a:pPr>
                      <a:r>
                        <a:rPr lang="en-US" sz="900" b="0" dirty="0">
                          <a:effectLst/>
                        </a:rPr>
                        <a:t>xNode_Group</a:t>
                      </a:r>
                    </a:p>
                  </a:txBody>
                  <a:tcPr anchor="ctr">
                    <a:solidFill>
                      <a:schemeClr val="bg2">
                        <a:lumMod val="10000"/>
                      </a:schemeClr>
                    </a:solidFill>
                  </a:tcPr>
                </a:tc>
                <a:tc>
                  <a:txBody>
                    <a:bodyPr/>
                    <a:lstStyle/>
                    <a:p>
                      <a:pPr algn="ctr">
                        <a:buNone/>
                      </a:pPr>
                      <a:r>
                        <a:rPr lang="zh-CN" altLang="en-US" sz="900" b="0">
                          <a:effectLst/>
                        </a:rPr>
                        <a:t>配套组件（管理）</a:t>
                      </a:r>
                    </a:p>
                  </a:txBody>
                  <a:tcPr anchor="ctr">
                    <a:solidFill>
                      <a:schemeClr val="bg2">
                        <a:lumMod val="10000"/>
                      </a:schemeClr>
                    </a:solidFill>
                  </a:tcPr>
                </a:tc>
                <a:tc>
                  <a:txBody>
                    <a:bodyPr/>
                    <a:lstStyle/>
                    <a:p>
                      <a:pPr algn="ctr">
                        <a:buNone/>
                      </a:pPr>
                      <a:r>
                        <a:rPr lang="zh-CN" altLang="en-US" sz="900" b="0" dirty="0">
                          <a:effectLst/>
                        </a:rPr>
                        <a:t>批量管理多个 </a:t>
                      </a:r>
                      <a:r>
                        <a:rPr lang="en-US" sz="900" b="0" dirty="0">
                          <a:effectLst/>
                        </a:rPr>
                        <a:t>xNode_Base </a:t>
                      </a:r>
                      <a:r>
                        <a:rPr lang="zh-CN" altLang="en-US" sz="900" b="0" dirty="0">
                          <a:effectLst/>
                        </a:rPr>
                        <a:t>实例，提升编辑效率</a:t>
                      </a:r>
                    </a:p>
                  </a:txBody>
                  <a:tcPr anchor="ctr">
                    <a:solidFill>
                      <a:schemeClr val="bg2">
                        <a:lumMod val="10000"/>
                      </a:schemeClr>
                    </a:solidFill>
                  </a:tcPr>
                </a:tc>
                <a:extLst>
                  <a:ext uri="{0D108BD9-81ED-4DB2-BD59-A6C34878D82A}">
                    <a16:rowId xmlns:a16="http://schemas.microsoft.com/office/drawing/2014/main" val="2486303565"/>
                  </a:ext>
                </a:extLst>
              </a:tr>
              <a:tr h="377730">
                <a:tc>
                  <a:txBody>
                    <a:bodyPr/>
                    <a:lstStyle/>
                    <a:p>
                      <a:pPr algn="ctr">
                        <a:buNone/>
                      </a:pPr>
                      <a:r>
                        <a:rPr lang="en-US" sz="900" b="0" dirty="0">
                          <a:effectLst/>
                        </a:rPr>
                        <a:t>xNode_Decorator</a:t>
                      </a:r>
                    </a:p>
                  </a:txBody>
                  <a:tcPr anchor="ctr">
                    <a:solidFill>
                      <a:schemeClr val="bg2">
                        <a:lumMod val="10000"/>
                      </a:schemeClr>
                    </a:solidFill>
                  </a:tcPr>
                </a:tc>
                <a:tc>
                  <a:txBody>
                    <a:bodyPr/>
                    <a:lstStyle/>
                    <a:p>
                      <a:pPr algn="ctr">
                        <a:buNone/>
                      </a:pPr>
                      <a:r>
                        <a:rPr lang="zh-CN" altLang="en-US" sz="900" b="0">
                          <a:effectLst/>
                        </a:rPr>
                        <a:t>配套组件（附加）</a:t>
                      </a:r>
                    </a:p>
                  </a:txBody>
                  <a:tcPr anchor="ctr">
                    <a:solidFill>
                      <a:schemeClr val="bg2">
                        <a:lumMod val="10000"/>
                      </a:schemeClr>
                    </a:solidFill>
                  </a:tcPr>
                </a:tc>
                <a:tc>
                  <a:txBody>
                    <a:bodyPr/>
                    <a:lstStyle/>
                    <a:p>
                      <a:pPr algn="ctr">
                        <a:buNone/>
                      </a:pPr>
                      <a:r>
                        <a:rPr lang="zh-CN" altLang="en-US" sz="900" b="0" dirty="0">
                          <a:effectLst/>
                        </a:rPr>
                        <a:t>扩展基类功能，添加装饰性业务逻辑</a:t>
                      </a:r>
                    </a:p>
                  </a:txBody>
                  <a:tcPr anchor="ctr">
                    <a:solidFill>
                      <a:schemeClr val="bg2">
                        <a:lumMod val="10000"/>
                      </a:schemeClr>
                    </a:solidFill>
                  </a:tcPr>
                </a:tc>
                <a:extLst>
                  <a:ext uri="{0D108BD9-81ED-4DB2-BD59-A6C34878D82A}">
                    <a16:rowId xmlns:a16="http://schemas.microsoft.com/office/drawing/2014/main" val="447849233"/>
                  </a:ext>
                </a:extLst>
              </a:tr>
            </a:tbl>
          </a:graphicData>
        </a:graphic>
      </p:graphicFrame>
      <p:sp>
        <p:nvSpPr>
          <p:cNvPr id="10" name="文本框 9">
            <a:extLst>
              <a:ext uri="{FF2B5EF4-FFF2-40B4-BE49-F238E27FC236}">
                <a16:creationId xmlns:a16="http://schemas.microsoft.com/office/drawing/2014/main" id="{0690B54A-DB01-0C08-3E8C-7EA624AB6DA3}"/>
              </a:ext>
            </a:extLst>
          </p:cNvPr>
          <p:cNvSpPr txBox="1"/>
          <p:nvPr/>
        </p:nvSpPr>
        <p:spPr>
          <a:xfrm>
            <a:off x="393050" y="7268851"/>
            <a:ext cx="6071900" cy="922861"/>
          </a:xfrm>
          <a:prstGeom prst="rect">
            <a:avLst/>
          </a:prstGeom>
          <a:noFill/>
        </p:spPr>
        <p:txBody>
          <a:bodyPr wrap="square" numCol="1" spcCol="360000" rtlCol="0">
            <a:noAutofit/>
          </a:bodyPr>
          <a:lstStyle/>
          <a:p>
            <a:pPr>
              <a:lnSpc>
                <a:spcPct val="200000"/>
              </a:lnSpc>
            </a:pPr>
            <a:r>
              <a:rPr lang="zh-CN" altLang="en-US" sz="900" b="1" dirty="0">
                <a:solidFill>
                  <a:srgbClr val="FFC000"/>
                </a:solidFill>
                <a:latin typeface="微软雅黑" panose="020B0503020204020204" pitchFamily="34" charset="-122"/>
                <a:ea typeface="微软雅黑" panose="020B0503020204020204" pitchFamily="34" charset="-122"/>
              </a:rPr>
              <a:t>简言之，</a:t>
            </a:r>
            <a:r>
              <a:rPr lang="en-US" altLang="zh-CN" sz="900" b="1" dirty="0">
                <a:solidFill>
                  <a:srgbClr val="FFC000"/>
                </a:solidFill>
                <a:latin typeface="微软雅黑" panose="020B0503020204020204" pitchFamily="34" charset="-122"/>
                <a:ea typeface="微软雅黑" panose="020B0503020204020204" pitchFamily="34" charset="-122"/>
              </a:rPr>
              <a:t>xNode_Base </a:t>
            </a:r>
            <a:r>
              <a:rPr lang="zh-CN" altLang="en-US" sz="900" b="1" dirty="0">
                <a:solidFill>
                  <a:srgbClr val="FFC000"/>
                </a:solidFill>
                <a:latin typeface="微软雅黑" panose="020B0503020204020204" pitchFamily="34" charset="-122"/>
                <a:ea typeface="微软雅黑" panose="020B0503020204020204" pitchFamily="34" charset="-122"/>
              </a:rPr>
              <a:t>定义了 “可视化节点该有什么通用视图能力”，子类则根据业务场景 “定制专属 </a:t>
            </a:r>
            <a:r>
              <a:rPr lang="en-US" altLang="zh-CN" sz="900" b="1" dirty="0">
                <a:solidFill>
                  <a:srgbClr val="FFC000"/>
                </a:solidFill>
                <a:latin typeface="微软雅黑" panose="020B0503020204020204" pitchFamily="34" charset="-122"/>
                <a:ea typeface="微软雅黑" panose="020B0503020204020204" pitchFamily="34" charset="-122"/>
              </a:rPr>
              <a:t>UI </a:t>
            </a:r>
            <a:r>
              <a:rPr lang="zh-CN" altLang="en-US" sz="900" b="1" dirty="0">
                <a:solidFill>
                  <a:srgbClr val="FFC000"/>
                </a:solidFill>
                <a:latin typeface="微软雅黑" panose="020B0503020204020204" pitchFamily="34" charset="-122"/>
                <a:ea typeface="微软雅黑" panose="020B0503020204020204" pitchFamily="34" charset="-122"/>
              </a:rPr>
              <a:t>和交互”，配套类则从 “端口、编组、装饰” 等维度补充能力，最终共同构建了一套 “通用化基类 </a:t>
            </a:r>
            <a:r>
              <a:rPr lang="en-US" altLang="zh-CN" sz="900" b="1" dirty="0">
                <a:solidFill>
                  <a:srgbClr val="FFC000"/>
                </a:solidFill>
                <a:latin typeface="微软雅黑" panose="020B0503020204020204" pitchFamily="34" charset="-122"/>
                <a:ea typeface="微软雅黑" panose="020B0503020204020204" pitchFamily="34" charset="-122"/>
              </a:rPr>
              <a:t>+ </a:t>
            </a:r>
            <a:r>
              <a:rPr lang="zh-CN" altLang="en-US" sz="900" b="1" dirty="0">
                <a:solidFill>
                  <a:srgbClr val="FFC000"/>
                </a:solidFill>
                <a:latin typeface="微软雅黑" panose="020B0503020204020204" pitchFamily="34" charset="-122"/>
                <a:ea typeface="微软雅黑" panose="020B0503020204020204" pitchFamily="34" charset="-122"/>
              </a:rPr>
              <a:t>差异化子类 </a:t>
            </a:r>
            <a:r>
              <a:rPr lang="en-US" altLang="zh-CN" sz="900" b="1" dirty="0">
                <a:solidFill>
                  <a:srgbClr val="FFC000"/>
                </a:solidFill>
                <a:latin typeface="微软雅黑" panose="020B0503020204020204" pitchFamily="34" charset="-122"/>
                <a:ea typeface="微软雅黑" panose="020B0503020204020204" pitchFamily="34" charset="-122"/>
              </a:rPr>
              <a:t>+ </a:t>
            </a:r>
            <a:r>
              <a:rPr lang="zh-CN" altLang="en-US" sz="900" b="1" dirty="0">
                <a:solidFill>
                  <a:srgbClr val="FFC000"/>
                </a:solidFill>
                <a:latin typeface="微软雅黑" panose="020B0503020204020204" pitchFamily="34" charset="-122"/>
                <a:ea typeface="微软雅黑" panose="020B0503020204020204" pitchFamily="34" charset="-122"/>
              </a:rPr>
              <a:t>配套组件” 的节点视图体系，实现了从 “纯数据” 到 “可视化交互” 的完整落地</a:t>
            </a:r>
          </a:p>
        </p:txBody>
      </p:sp>
    </p:spTree>
    <p:extLst>
      <p:ext uri="{BB962C8B-B14F-4D97-AF65-F5344CB8AC3E}">
        <p14:creationId xmlns:p14="http://schemas.microsoft.com/office/powerpoint/2010/main" val="32250069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E2F26EC9-705E-A6EC-6196-29F0D13359E4}"/>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D1AAE5A-5DDB-B49C-5130-7B1BC415E8D8}"/>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OptionsPanel </a:t>
            </a:r>
            <a:r>
              <a:rPr lang="zh-CN" altLang="en-US" dirty="0"/>
              <a:t>选项面板</a:t>
            </a:r>
            <a:endParaRPr lang="en-US" altLang="zh-CN" dirty="0"/>
          </a:p>
        </p:txBody>
      </p:sp>
      <p:sp>
        <p:nvSpPr>
          <p:cNvPr id="6" name="文本框 5">
            <a:extLst>
              <a:ext uri="{FF2B5EF4-FFF2-40B4-BE49-F238E27FC236}">
                <a16:creationId xmlns:a16="http://schemas.microsoft.com/office/drawing/2014/main" id="{E16360FE-DFFB-1F6A-C08C-DBBE2CADB244}"/>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23F8EE39-67BE-0CB1-4CE3-83BF96173C4E}"/>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27" name="文本框 26">
            <a:extLst>
              <a:ext uri="{FF2B5EF4-FFF2-40B4-BE49-F238E27FC236}">
                <a16:creationId xmlns:a16="http://schemas.microsoft.com/office/drawing/2014/main" id="{D9DC48F0-425C-B3BF-D4F5-19B0D768E15D}"/>
              </a:ext>
            </a:extLst>
          </p:cNvPr>
          <p:cNvSpPr txBox="1"/>
          <p:nvPr/>
        </p:nvSpPr>
        <p:spPr>
          <a:xfrm>
            <a:off x="383776" y="1164307"/>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节点视图的背景主题选项</a:t>
            </a:r>
          </a:p>
        </p:txBody>
      </p:sp>
      <p:graphicFrame>
        <p:nvGraphicFramePr>
          <p:cNvPr id="7" name="对象 6">
            <a:extLst>
              <a:ext uri="{FF2B5EF4-FFF2-40B4-BE49-F238E27FC236}">
                <a16:creationId xmlns:a16="http://schemas.microsoft.com/office/drawing/2014/main" id="{8F0AA7A7-19E0-0FC2-631E-47EBB2D6FC7D}"/>
              </a:ext>
            </a:extLst>
          </p:cNvPr>
          <p:cNvGraphicFramePr>
            <a:graphicFrameLocks noChangeAspect="1"/>
          </p:cNvGraphicFramePr>
          <p:nvPr>
            <p:extLst>
              <p:ext uri="{D42A27DB-BD31-4B8C-83A1-F6EECF244321}">
                <p14:modId xmlns:p14="http://schemas.microsoft.com/office/powerpoint/2010/main" val="59970611"/>
              </p:ext>
            </p:extLst>
          </p:nvPr>
        </p:nvGraphicFramePr>
        <p:xfrm>
          <a:off x="483581" y="1708375"/>
          <a:ext cx="3021620" cy="1368787"/>
        </p:xfrm>
        <a:graphic>
          <a:graphicData uri="http://schemas.openxmlformats.org/presentationml/2006/ole">
            <mc:AlternateContent xmlns:mc="http://schemas.openxmlformats.org/markup-compatibility/2006">
              <mc:Choice xmlns:v="urn:schemas-microsoft-com:vml" Requires="v">
                <p:oleObj name="Image" r:id="rId2" imgW="4289460" imgH="1943508" progId="Photoshop.Image.26">
                  <p:embed/>
                </p:oleObj>
              </mc:Choice>
              <mc:Fallback>
                <p:oleObj name="Image" r:id="rId2" imgW="4289460" imgH="1943508" progId="Photoshop.Image.26">
                  <p:embed/>
                  <p:pic>
                    <p:nvPicPr>
                      <p:cNvPr id="0" name=""/>
                      <p:cNvPicPr/>
                      <p:nvPr/>
                    </p:nvPicPr>
                    <p:blipFill>
                      <a:blip r:embed="rId3"/>
                      <a:stretch>
                        <a:fillRect/>
                      </a:stretch>
                    </p:blipFill>
                    <p:spPr>
                      <a:xfrm>
                        <a:off x="483581" y="1708375"/>
                        <a:ext cx="3021620" cy="1368787"/>
                      </a:xfrm>
                      <a:prstGeom prst="rect">
                        <a:avLst/>
                      </a:prstGeom>
                    </p:spPr>
                  </p:pic>
                </p:oleObj>
              </mc:Fallback>
            </mc:AlternateContent>
          </a:graphicData>
        </a:graphic>
      </p:graphicFrame>
      <p:graphicFrame>
        <p:nvGraphicFramePr>
          <p:cNvPr id="9" name="对象 8">
            <a:extLst>
              <a:ext uri="{FF2B5EF4-FFF2-40B4-BE49-F238E27FC236}">
                <a16:creationId xmlns:a16="http://schemas.microsoft.com/office/drawing/2014/main" id="{6116907E-D46C-FDB2-6E8F-0E27B665A943}"/>
              </a:ext>
            </a:extLst>
          </p:cNvPr>
          <p:cNvGraphicFramePr>
            <a:graphicFrameLocks noChangeAspect="1"/>
          </p:cNvGraphicFramePr>
          <p:nvPr>
            <p:extLst>
              <p:ext uri="{D42A27DB-BD31-4B8C-83A1-F6EECF244321}">
                <p14:modId xmlns:p14="http://schemas.microsoft.com/office/powerpoint/2010/main" val="2808122587"/>
              </p:ext>
            </p:extLst>
          </p:nvPr>
        </p:nvGraphicFramePr>
        <p:xfrm>
          <a:off x="483582" y="3867150"/>
          <a:ext cx="1596932" cy="1329690"/>
        </p:xfrm>
        <a:graphic>
          <a:graphicData uri="http://schemas.openxmlformats.org/presentationml/2006/ole">
            <mc:AlternateContent xmlns:mc="http://schemas.openxmlformats.org/markup-compatibility/2006">
              <mc:Choice xmlns:v="urn:schemas-microsoft-com:vml" Requires="v">
                <p:oleObj name="Image" r:id="rId4" imgW="2333839" imgH="1943508" progId="Photoshop.Image.26">
                  <p:embed/>
                </p:oleObj>
              </mc:Choice>
              <mc:Fallback>
                <p:oleObj name="Image" r:id="rId4" imgW="2333839" imgH="1943508" progId="Photoshop.Image.26">
                  <p:embed/>
                  <p:pic>
                    <p:nvPicPr>
                      <p:cNvPr id="0" name=""/>
                      <p:cNvPicPr/>
                      <p:nvPr/>
                    </p:nvPicPr>
                    <p:blipFill>
                      <a:blip r:embed="rId5"/>
                      <a:stretch>
                        <a:fillRect/>
                      </a:stretch>
                    </p:blipFill>
                    <p:spPr>
                      <a:xfrm>
                        <a:off x="483582" y="3867150"/>
                        <a:ext cx="1596932" cy="132969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10AC4951-67F2-DA04-7DA9-8B85EA0569D6}"/>
              </a:ext>
            </a:extLst>
          </p:cNvPr>
          <p:cNvSpPr txBox="1"/>
          <p:nvPr/>
        </p:nvSpPr>
        <p:spPr>
          <a:xfrm>
            <a:off x="383776" y="3222740"/>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节点视图的网格参数</a:t>
            </a:r>
          </a:p>
        </p:txBody>
      </p:sp>
      <p:graphicFrame>
        <p:nvGraphicFramePr>
          <p:cNvPr id="11" name="对象 10">
            <a:extLst>
              <a:ext uri="{FF2B5EF4-FFF2-40B4-BE49-F238E27FC236}">
                <a16:creationId xmlns:a16="http://schemas.microsoft.com/office/drawing/2014/main" id="{BCEE5960-257D-F51A-615B-C8CA637758C0}"/>
              </a:ext>
            </a:extLst>
          </p:cNvPr>
          <p:cNvGraphicFramePr>
            <a:graphicFrameLocks noChangeAspect="1"/>
          </p:cNvGraphicFramePr>
          <p:nvPr>
            <p:extLst>
              <p:ext uri="{D42A27DB-BD31-4B8C-83A1-F6EECF244321}">
                <p14:modId xmlns:p14="http://schemas.microsoft.com/office/powerpoint/2010/main" val="4042804129"/>
              </p:ext>
            </p:extLst>
          </p:nvPr>
        </p:nvGraphicFramePr>
        <p:xfrm>
          <a:off x="483581" y="5878830"/>
          <a:ext cx="1481302" cy="1299723"/>
        </p:xfrm>
        <a:graphic>
          <a:graphicData uri="http://schemas.openxmlformats.org/presentationml/2006/ole">
            <mc:AlternateContent xmlns:mc="http://schemas.openxmlformats.org/markup-compatibility/2006">
              <mc:Choice xmlns:v="urn:schemas-microsoft-com:vml" Requires="v">
                <p:oleObj name="Image" r:id="rId6" imgW="2214982" imgH="1943508" progId="Photoshop.Image.26">
                  <p:embed/>
                </p:oleObj>
              </mc:Choice>
              <mc:Fallback>
                <p:oleObj name="Image" r:id="rId6" imgW="2214982" imgH="1943508" progId="Photoshop.Image.26">
                  <p:embed/>
                  <p:pic>
                    <p:nvPicPr>
                      <p:cNvPr id="0" name=""/>
                      <p:cNvPicPr/>
                      <p:nvPr/>
                    </p:nvPicPr>
                    <p:blipFill>
                      <a:blip r:embed="rId7"/>
                      <a:stretch>
                        <a:fillRect/>
                      </a:stretch>
                    </p:blipFill>
                    <p:spPr>
                      <a:xfrm>
                        <a:off x="483581" y="5878830"/>
                        <a:ext cx="1481302" cy="1299723"/>
                      </a:xfrm>
                      <a:prstGeom prst="rect">
                        <a:avLst/>
                      </a:prstGeom>
                    </p:spPr>
                  </p:pic>
                </p:oleObj>
              </mc:Fallback>
            </mc:AlternateContent>
          </a:graphicData>
        </a:graphic>
      </p:graphicFrame>
      <p:sp>
        <p:nvSpPr>
          <p:cNvPr id="12" name="文本框 11">
            <a:extLst>
              <a:ext uri="{FF2B5EF4-FFF2-40B4-BE49-F238E27FC236}">
                <a16:creationId xmlns:a16="http://schemas.microsoft.com/office/drawing/2014/main" id="{A17CC94D-BDEE-D267-87B9-3E89883D230A}"/>
              </a:ext>
            </a:extLst>
          </p:cNvPr>
          <p:cNvSpPr txBox="1"/>
          <p:nvPr/>
        </p:nvSpPr>
        <p:spPr>
          <a:xfrm>
            <a:off x="383776" y="5334762"/>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节点视图选择框参数</a:t>
            </a:r>
          </a:p>
        </p:txBody>
      </p:sp>
      <p:graphicFrame>
        <p:nvGraphicFramePr>
          <p:cNvPr id="13" name="对象 12">
            <a:extLst>
              <a:ext uri="{FF2B5EF4-FFF2-40B4-BE49-F238E27FC236}">
                <a16:creationId xmlns:a16="http://schemas.microsoft.com/office/drawing/2014/main" id="{A35DA304-FD85-14E8-35BC-584EE8B7020B}"/>
              </a:ext>
            </a:extLst>
          </p:cNvPr>
          <p:cNvGraphicFramePr>
            <a:graphicFrameLocks noChangeAspect="1"/>
          </p:cNvGraphicFramePr>
          <p:nvPr>
            <p:extLst>
              <p:ext uri="{D42A27DB-BD31-4B8C-83A1-F6EECF244321}">
                <p14:modId xmlns:p14="http://schemas.microsoft.com/office/powerpoint/2010/main" val="2840415053"/>
              </p:ext>
            </p:extLst>
          </p:nvPr>
        </p:nvGraphicFramePr>
        <p:xfrm>
          <a:off x="483581" y="7848550"/>
          <a:ext cx="1747202" cy="1331616"/>
        </p:xfrm>
        <a:graphic>
          <a:graphicData uri="http://schemas.openxmlformats.org/presentationml/2006/ole">
            <mc:AlternateContent xmlns:mc="http://schemas.openxmlformats.org/markup-compatibility/2006">
              <mc:Choice xmlns:v="urn:schemas-microsoft-com:vml" Requires="v">
                <p:oleObj name="Image" r:id="rId8" imgW="2549905" imgH="1943508" progId="Photoshop.Image.26">
                  <p:embed/>
                </p:oleObj>
              </mc:Choice>
              <mc:Fallback>
                <p:oleObj name="Image" r:id="rId8" imgW="2549905" imgH="1943508" progId="Photoshop.Image.26">
                  <p:embed/>
                  <p:pic>
                    <p:nvPicPr>
                      <p:cNvPr id="0" name=""/>
                      <p:cNvPicPr/>
                      <p:nvPr/>
                    </p:nvPicPr>
                    <p:blipFill>
                      <a:blip r:embed="rId9"/>
                      <a:stretch>
                        <a:fillRect/>
                      </a:stretch>
                    </p:blipFill>
                    <p:spPr>
                      <a:xfrm>
                        <a:off x="483581" y="7848550"/>
                        <a:ext cx="1747202" cy="1331616"/>
                      </a:xfrm>
                      <a:prstGeom prst="rect">
                        <a:avLst/>
                      </a:prstGeom>
                    </p:spPr>
                  </p:pic>
                </p:oleObj>
              </mc:Fallback>
            </mc:AlternateContent>
          </a:graphicData>
        </a:graphic>
      </p:graphicFrame>
      <p:sp>
        <p:nvSpPr>
          <p:cNvPr id="15" name="文本框 14">
            <a:extLst>
              <a:ext uri="{FF2B5EF4-FFF2-40B4-BE49-F238E27FC236}">
                <a16:creationId xmlns:a16="http://schemas.microsoft.com/office/drawing/2014/main" id="{CD4CA21D-5281-B911-62CC-C161EEC1AD70}"/>
              </a:ext>
            </a:extLst>
          </p:cNvPr>
          <p:cNvSpPr txBox="1"/>
          <p:nvPr/>
        </p:nvSpPr>
        <p:spPr>
          <a:xfrm>
            <a:off x="383776" y="7312138"/>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黑板变量类型高亮筛选</a:t>
            </a:r>
          </a:p>
        </p:txBody>
      </p:sp>
    </p:spTree>
    <p:extLst>
      <p:ext uri="{BB962C8B-B14F-4D97-AF65-F5344CB8AC3E}">
        <p14:creationId xmlns:p14="http://schemas.microsoft.com/office/powerpoint/2010/main" val="37983826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9D02FC04-9F86-23BE-B1C8-894B723417C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65761FF-00B4-6360-FD4F-CA4E5E935532}"/>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BlackBoardView </a:t>
            </a:r>
            <a:r>
              <a:rPr lang="zh-CN" altLang="en-US" dirty="0"/>
              <a:t>黑板变量</a:t>
            </a:r>
          </a:p>
        </p:txBody>
      </p:sp>
      <p:sp>
        <p:nvSpPr>
          <p:cNvPr id="6" name="文本框 5">
            <a:extLst>
              <a:ext uri="{FF2B5EF4-FFF2-40B4-BE49-F238E27FC236}">
                <a16:creationId xmlns:a16="http://schemas.microsoft.com/office/drawing/2014/main" id="{E3D4983B-271D-3574-9954-1056F6BDC40C}"/>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DD2DD5D4-BF41-0505-A511-16292CEA1E4B}"/>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grpSp>
        <p:nvGrpSpPr>
          <p:cNvPr id="28" name="组合 27">
            <a:extLst>
              <a:ext uri="{FF2B5EF4-FFF2-40B4-BE49-F238E27FC236}">
                <a16:creationId xmlns:a16="http://schemas.microsoft.com/office/drawing/2014/main" id="{56E4F3EC-CC8D-1CE5-3F76-AE86706D0FC1}"/>
              </a:ext>
            </a:extLst>
          </p:cNvPr>
          <p:cNvGrpSpPr/>
          <p:nvPr/>
        </p:nvGrpSpPr>
        <p:grpSpPr>
          <a:xfrm>
            <a:off x="1219191" y="1195379"/>
            <a:ext cx="4813318" cy="3941751"/>
            <a:chOff x="1219191" y="1592605"/>
            <a:chExt cx="4813318" cy="3941751"/>
          </a:xfrm>
        </p:grpSpPr>
        <p:graphicFrame>
          <p:nvGraphicFramePr>
            <p:cNvPr id="2" name="对象 1">
              <a:extLst>
                <a:ext uri="{FF2B5EF4-FFF2-40B4-BE49-F238E27FC236}">
                  <a16:creationId xmlns:a16="http://schemas.microsoft.com/office/drawing/2014/main" id="{12B8B612-9AC2-9E9F-475A-4682E6F939D4}"/>
                </a:ext>
              </a:extLst>
            </p:cNvPr>
            <p:cNvGraphicFramePr>
              <a:graphicFrameLocks noChangeAspect="1"/>
            </p:cNvGraphicFramePr>
            <p:nvPr>
              <p:extLst>
                <p:ext uri="{D42A27DB-BD31-4B8C-83A1-F6EECF244321}">
                  <p14:modId xmlns:p14="http://schemas.microsoft.com/office/powerpoint/2010/main" val="3040013592"/>
                </p:ext>
              </p:extLst>
            </p:nvPr>
          </p:nvGraphicFramePr>
          <p:xfrm>
            <a:off x="2416167" y="2332368"/>
            <a:ext cx="2025666" cy="3201988"/>
          </p:xfrm>
          <a:graphic>
            <a:graphicData uri="http://schemas.openxmlformats.org/presentationml/2006/ole">
              <mc:AlternateContent xmlns:mc="http://schemas.openxmlformats.org/markup-compatibility/2006">
                <mc:Choice xmlns:v="urn:schemas-microsoft-com:vml" Requires="v">
                  <p:oleObj name="Image" r:id="rId2" imgW="3176455" imgH="5021444" progId="Photoshop.Image.26">
                    <p:embed/>
                  </p:oleObj>
                </mc:Choice>
                <mc:Fallback>
                  <p:oleObj name="Image" r:id="rId2" imgW="3176455" imgH="5021444" progId="Photoshop.Image.26">
                    <p:embed/>
                    <p:pic>
                      <p:nvPicPr>
                        <p:cNvPr id="0" name=""/>
                        <p:cNvPicPr/>
                        <p:nvPr/>
                      </p:nvPicPr>
                      <p:blipFill>
                        <a:blip r:embed="rId3"/>
                        <a:stretch>
                          <a:fillRect/>
                        </a:stretch>
                      </p:blipFill>
                      <p:spPr>
                        <a:xfrm>
                          <a:off x="2416167" y="2332368"/>
                          <a:ext cx="2025666" cy="3201988"/>
                        </a:xfrm>
                        <a:prstGeom prst="rect">
                          <a:avLst/>
                        </a:prstGeom>
                      </p:spPr>
                    </p:pic>
                  </p:oleObj>
                </mc:Fallback>
              </mc:AlternateContent>
            </a:graphicData>
          </a:graphic>
        </p:graphicFrame>
        <p:sp>
          <p:nvSpPr>
            <p:cNvPr id="4" name="文本框 3">
              <a:extLst>
                <a:ext uri="{FF2B5EF4-FFF2-40B4-BE49-F238E27FC236}">
                  <a16:creationId xmlns:a16="http://schemas.microsoft.com/office/drawing/2014/main" id="{BFAAB256-B6DB-D4A5-B2F0-C9A565398C7F}"/>
                </a:ext>
              </a:extLst>
            </p:cNvPr>
            <p:cNvSpPr txBox="1"/>
            <p:nvPr/>
          </p:nvSpPr>
          <p:spPr>
            <a:xfrm>
              <a:off x="4629159" y="1821838"/>
              <a:ext cx="1403350" cy="230832"/>
            </a:xfrm>
            <a:prstGeom prst="rect">
              <a:avLst/>
            </a:prstGeom>
            <a:noFill/>
          </p:spPr>
          <p:txBody>
            <a:bodyPr wrap="square">
              <a:spAutoFit/>
            </a:bodyPr>
            <a:lstStyle/>
            <a:p>
              <a:r>
                <a:rPr lang="zh-CN" altLang="en-US" sz="900" dirty="0">
                  <a:solidFill>
                    <a:schemeClr val="bg1">
                      <a:lumMod val="85000"/>
                    </a:schemeClr>
                  </a:solidFill>
                  <a:latin typeface="微软雅黑" panose="020B0503020204020204" pitchFamily="34" charset="-122"/>
                  <a:ea typeface="微软雅黑" panose="020B0503020204020204" pitchFamily="34" charset="-122"/>
                </a:rPr>
                <a:t>添加黑板变量</a:t>
              </a:r>
              <a:endParaRPr lang="zh-CN" altLang="en-US" sz="900" dirty="0"/>
            </a:p>
          </p:txBody>
        </p:sp>
        <p:cxnSp>
          <p:nvCxnSpPr>
            <p:cNvPr id="14" name="连接符: 肘形 13">
              <a:extLst>
                <a:ext uri="{FF2B5EF4-FFF2-40B4-BE49-F238E27FC236}">
                  <a16:creationId xmlns:a16="http://schemas.microsoft.com/office/drawing/2014/main" id="{902D6E03-AF69-2C89-494F-3DAED8F866CB}"/>
                </a:ext>
              </a:extLst>
            </p:cNvPr>
            <p:cNvCxnSpPr>
              <a:cxnSpLocks/>
            </p:cNvCxnSpPr>
            <p:nvPr/>
          </p:nvCxnSpPr>
          <p:spPr>
            <a:xfrm rot="5400000" flipH="1" flipV="1">
              <a:off x="4131494" y="2060269"/>
              <a:ext cx="620679" cy="374650"/>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2C258C33-A423-C95D-0985-77CDD0EECB4C}"/>
                </a:ext>
              </a:extLst>
            </p:cNvPr>
            <p:cNvCxnSpPr>
              <a:cxnSpLocks/>
            </p:cNvCxnSpPr>
            <p:nvPr/>
          </p:nvCxnSpPr>
          <p:spPr>
            <a:xfrm rot="16200000" flipH="1">
              <a:off x="1832909" y="1999903"/>
              <a:ext cx="750623" cy="561974"/>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823A8D9-DF36-6B33-4182-A1C9471522BA}"/>
                </a:ext>
              </a:extLst>
            </p:cNvPr>
            <p:cNvSpPr txBox="1"/>
            <p:nvPr/>
          </p:nvSpPr>
          <p:spPr>
            <a:xfrm>
              <a:off x="1438299" y="1592605"/>
              <a:ext cx="977868" cy="230832"/>
            </a:xfrm>
            <a:prstGeom prst="rect">
              <a:avLst/>
            </a:prstGeom>
            <a:noFill/>
          </p:spPr>
          <p:txBody>
            <a:bodyPr wrap="square">
              <a:spAutoFit/>
            </a:bodyPr>
            <a:lstStyle/>
            <a:p>
              <a:pPr algn="ctr"/>
              <a:r>
                <a:rPr lang="zh-CN" altLang="en-US" sz="900" dirty="0">
                  <a:solidFill>
                    <a:schemeClr val="bg1">
                      <a:lumMod val="85000"/>
                    </a:schemeClr>
                  </a:solidFill>
                  <a:latin typeface="微软雅黑" panose="020B0503020204020204" pitchFamily="34" charset="-122"/>
                  <a:ea typeface="微软雅黑" panose="020B0503020204020204" pitchFamily="34" charset="-122"/>
                </a:rPr>
                <a:t>当前工程名称</a:t>
              </a:r>
              <a:endParaRPr lang="zh-CN" altLang="en-US" sz="900" dirty="0"/>
            </a:p>
          </p:txBody>
        </p:sp>
        <p:sp>
          <p:nvSpPr>
            <p:cNvPr id="20" name="文本框 19">
              <a:extLst>
                <a:ext uri="{FF2B5EF4-FFF2-40B4-BE49-F238E27FC236}">
                  <a16:creationId xmlns:a16="http://schemas.microsoft.com/office/drawing/2014/main" id="{320C3F30-D986-6522-DFD8-D7DC177BFE90}"/>
                </a:ext>
              </a:extLst>
            </p:cNvPr>
            <p:cNvSpPr txBox="1"/>
            <p:nvPr/>
          </p:nvSpPr>
          <p:spPr>
            <a:xfrm>
              <a:off x="1219191" y="3940647"/>
              <a:ext cx="844559" cy="230832"/>
            </a:xfrm>
            <a:prstGeom prst="rect">
              <a:avLst/>
            </a:prstGeom>
            <a:noFill/>
          </p:spPr>
          <p:txBody>
            <a:bodyPr wrap="square">
              <a:spAutoFit/>
            </a:bodyPr>
            <a:lstStyle/>
            <a:p>
              <a:pPr algn="ct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变量列表项</a:t>
              </a:r>
              <a:endParaRPr lang="zh-CN" altLang="en-US" sz="900" dirty="0"/>
            </a:p>
          </p:txBody>
        </p:sp>
        <p:sp>
          <p:nvSpPr>
            <p:cNvPr id="21" name="左大括号 20">
              <a:extLst>
                <a:ext uri="{FF2B5EF4-FFF2-40B4-BE49-F238E27FC236}">
                  <a16:creationId xmlns:a16="http://schemas.microsoft.com/office/drawing/2014/main" id="{4172BF10-69DD-9813-08A9-A701BC4C7418}"/>
                </a:ext>
              </a:extLst>
            </p:cNvPr>
            <p:cNvSpPr/>
            <p:nvPr/>
          </p:nvSpPr>
          <p:spPr>
            <a:xfrm>
              <a:off x="2120900" y="3098800"/>
              <a:ext cx="163495" cy="1873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6C0DCB9A-33AC-FFA5-1516-D83BC6D76B00}"/>
                </a:ext>
              </a:extLst>
            </p:cNvPr>
            <p:cNvSpPr txBox="1"/>
            <p:nvPr/>
          </p:nvSpPr>
          <p:spPr>
            <a:xfrm>
              <a:off x="4731534" y="3940647"/>
              <a:ext cx="844559" cy="230832"/>
            </a:xfrm>
            <a:prstGeom prst="rect">
              <a:avLst/>
            </a:prstGeom>
            <a:noFill/>
          </p:spPr>
          <p:txBody>
            <a:bodyPr wrap="square">
              <a:spAutoFit/>
            </a:bodyPr>
            <a:lstStyle/>
            <a:p>
              <a:pPr algn="ct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变量说明</a:t>
              </a:r>
              <a:endParaRPr lang="zh-CN" altLang="en-US" sz="900" dirty="0"/>
            </a:p>
          </p:txBody>
        </p:sp>
        <p:sp>
          <p:nvSpPr>
            <p:cNvPr id="23" name="左大括号 22">
              <a:extLst>
                <a:ext uri="{FF2B5EF4-FFF2-40B4-BE49-F238E27FC236}">
                  <a16:creationId xmlns:a16="http://schemas.microsoft.com/office/drawing/2014/main" id="{80DA8C4E-A8AE-9550-0CD9-79C19D3A86B3}"/>
                </a:ext>
              </a:extLst>
            </p:cNvPr>
            <p:cNvSpPr/>
            <p:nvPr/>
          </p:nvSpPr>
          <p:spPr>
            <a:xfrm rot="10800000">
              <a:off x="4568039" y="3098800"/>
              <a:ext cx="163495" cy="187325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9" name="文本框 28">
            <a:extLst>
              <a:ext uri="{FF2B5EF4-FFF2-40B4-BE49-F238E27FC236}">
                <a16:creationId xmlns:a16="http://schemas.microsoft.com/office/drawing/2014/main" id="{9B99B7A9-0E96-7B1F-6C10-ED0D227A73FD}"/>
              </a:ext>
            </a:extLst>
          </p:cNvPr>
          <p:cNvSpPr txBox="1"/>
          <p:nvPr/>
        </p:nvSpPr>
        <p:spPr>
          <a:xfrm>
            <a:off x="383776" y="5450129"/>
            <a:ext cx="6071900" cy="195580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xg_BlackBoardView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类详细分析与说明</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    xg_BlackBoardView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是节点可视化编辑工具中黑板视图（变量面板） 的核心实现类，本质是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Editor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下的可视化面板组件（继承自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VisualElement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），专门用于集中管理、展示和编辑全局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局部变量（基于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封装），是变量节点（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）与底层数据（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xAction_Variable/class_Variable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）的可视化操作入口，也是整个工具中 “变量管理” 的核心交互载体。通过可视化面板整合了变量的创建、编辑、展示、联动等全流程能力，既是变量数据的 “可视化入口”，也是变量与节点之间的 “联动桥梁”。其设计核心是 “集中管理、高效交互、数据一致”，最终降低变量管理的复杂度，提升整个节点编辑流程的效率，是工具中不可或缺的核心面板之一</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802322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19AEB0D2-29ED-436F-CB7A-6DD753C6ACB2}"/>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B6DBB20-0781-FB83-52F8-B7423551A628}"/>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BlackBoardView </a:t>
            </a:r>
            <a:r>
              <a:rPr lang="zh-CN" altLang="en-US" dirty="0"/>
              <a:t>黑板变量</a:t>
            </a:r>
          </a:p>
        </p:txBody>
      </p:sp>
      <p:sp>
        <p:nvSpPr>
          <p:cNvPr id="6" name="文本框 5">
            <a:extLst>
              <a:ext uri="{FF2B5EF4-FFF2-40B4-BE49-F238E27FC236}">
                <a16:creationId xmlns:a16="http://schemas.microsoft.com/office/drawing/2014/main" id="{F47D041D-158E-F898-429E-1DE8DD0F4141}"/>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2DE7AC21-6BF3-CE6F-7EDA-29376BB47735}"/>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29" name="文本框 28">
            <a:extLst>
              <a:ext uri="{FF2B5EF4-FFF2-40B4-BE49-F238E27FC236}">
                <a16:creationId xmlns:a16="http://schemas.microsoft.com/office/drawing/2014/main" id="{133E2127-DDEE-0379-795C-08BD158F0586}"/>
              </a:ext>
            </a:extLst>
          </p:cNvPr>
          <p:cNvSpPr txBox="1"/>
          <p:nvPr/>
        </p:nvSpPr>
        <p:spPr>
          <a:xfrm>
            <a:off x="383776" y="1551113"/>
            <a:ext cx="6071900" cy="159837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核心定位</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变量总览面板</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：展示所有全局黑板变量、节点关联变量，支持快速检索和筛选；</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变量操作入口：</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提供变量的创建、编辑、删除、重命名、类型修改等核心操作；</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数据联动桥梁：</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实现 “黑板变量” 与 “节点变量” 的双向绑定，变量值变更时自动同步到所有关联节点；</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样式定制载体：</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基于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class_BlackBoardViewTheme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实现面板样式的个性化配置与持久化。</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30" name="文本框 29">
            <a:extLst>
              <a:ext uri="{FF2B5EF4-FFF2-40B4-BE49-F238E27FC236}">
                <a16:creationId xmlns:a16="http://schemas.microsoft.com/office/drawing/2014/main" id="{FAA157A5-9CED-CC7F-BEF0-DF827704638F}"/>
              </a:ext>
            </a:extLst>
          </p:cNvPr>
          <p:cNvSpPr txBox="1"/>
          <p:nvPr/>
        </p:nvSpPr>
        <p:spPr>
          <a:xfrm>
            <a:off x="383776" y="1062339"/>
            <a:ext cx="5549661" cy="398490"/>
          </a:xfrm>
          <a:prstGeom prst="rect">
            <a:avLst/>
          </a:prstGeom>
          <a:noFill/>
        </p:spPr>
        <p:txBody>
          <a:bodyPr wrap="square" numCol="2"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核心定位与设计目标</a:t>
            </a:r>
          </a:p>
        </p:txBody>
      </p:sp>
      <p:sp>
        <p:nvSpPr>
          <p:cNvPr id="3" name="文本框 2">
            <a:extLst>
              <a:ext uri="{FF2B5EF4-FFF2-40B4-BE49-F238E27FC236}">
                <a16:creationId xmlns:a16="http://schemas.microsoft.com/office/drawing/2014/main" id="{BA3CBD3E-239C-1190-FB24-44859FF22BF4}"/>
              </a:ext>
            </a:extLst>
          </p:cNvPr>
          <p:cNvSpPr txBox="1"/>
          <p:nvPr/>
        </p:nvSpPr>
        <p:spPr>
          <a:xfrm>
            <a:off x="383776" y="3253190"/>
            <a:ext cx="6071900" cy="159837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设计目标</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降低变量管理成本：</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集中管理所有变量，避免分散在各个节点中难以维护；</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提升交互效率：</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支持拖拽变量到画布生成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节点，减少手动创建节点的操作；</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保证数据一致性：</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变量属性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值变更时，自动同步到所有关联的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子类节点（如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xAction_Debug/xAction_Branch</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95200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BF3203C1-8199-5E06-1C92-C88F0334CA9E}"/>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FBBB6EE4-452F-53C3-FA55-CD6BD5616FB6}"/>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BlackBoardView </a:t>
            </a:r>
            <a:r>
              <a:rPr lang="zh-CN" altLang="en-US" dirty="0"/>
              <a:t>黑板变量</a:t>
            </a:r>
          </a:p>
        </p:txBody>
      </p:sp>
      <p:sp>
        <p:nvSpPr>
          <p:cNvPr id="6" name="文本框 5">
            <a:extLst>
              <a:ext uri="{FF2B5EF4-FFF2-40B4-BE49-F238E27FC236}">
                <a16:creationId xmlns:a16="http://schemas.microsoft.com/office/drawing/2014/main" id="{D55ED087-4E6C-F123-576F-355F53D1A377}"/>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B7F1CFC9-A38B-BC70-CACE-236A09A85531}"/>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4E2F31B0-DA03-31AA-6886-B61EDD3FEE2C}"/>
              </a:ext>
            </a:extLst>
          </p:cNvPr>
          <p:cNvSpPr txBox="1"/>
          <p:nvPr/>
        </p:nvSpPr>
        <p:spPr>
          <a:xfrm>
            <a:off x="383776" y="1030618"/>
            <a:ext cx="5801123" cy="81915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核心结构（属性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组件）</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xg_BlackBoardView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 的核心结构围绕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UI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组件”“数据关联”“样式配置” 三大维度设计，关键属性如下：</a:t>
            </a:r>
          </a:p>
        </p:txBody>
      </p:sp>
      <p:graphicFrame>
        <p:nvGraphicFramePr>
          <p:cNvPr id="2" name="表格 1">
            <a:extLst>
              <a:ext uri="{FF2B5EF4-FFF2-40B4-BE49-F238E27FC236}">
                <a16:creationId xmlns:a16="http://schemas.microsoft.com/office/drawing/2014/main" id="{12ADE733-7047-905F-0B09-287751F2369D}"/>
              </a:ext>
            </a:extLst>
          </p:cNvPr>
          <p:cNvGraphicFramePr>
            <a:graphicFrameLocks noGrp="1"/>
          </p:cNvGraphicFramePr>
          <p:nvPr>
            <p:extLst>
              <p:ext uri="{D42A27DB-BD31-4B8C-83A1-F6EECF244321}">
                <p14:modId xmlns:p14="http://schemas.microsoft.com/office/powerpoint/2010/main" val="1620281600"/>
              </p:ext>
            </p:extLst>
          </p:nvPr>
        </p:nvGraphicFramePr>
        <p:xfrm>
          <a:off x="549000" y="1796288"/>
          <a:ext cx="5760000" cy="5027232"/>
        </p:xfrm>
        <a:graphic>
          <a:graphicData uri="http://schemas.openxmlformats.org/drawingml/2006/table">
            <a:tbl>
              <a:tblPr firstRow="1">
                <a:tableStyleId>{D03447BB-5D67-496B-8E87-E561075AD55C}</a:tableStyleId>
              </a:tblPr>
              <a:tblGrid>
                <a:gridCol w="1920000">
                  <a:extLst>
                    <a:ext uri="{9D8B030D-6E8A-4147-A177-3AD203B41FA5}">
                      <a16:colId xmlns:a16="http://schemas.microsoft.com/office/drawing/2014/main" val="1288336360"/>
                    </a:ext>
                  </a:extLst>
                </a:gridCol>
                <a:gridCol w="1920000">
                  <a:extLst>
                    <a:ext uri="{9D8B030D-6E8A-4147-A177-3AD203B41FA5}">
                      <a16:colId xmlns:a16="http://schemas.microsoft.com/office/drawing/2014/main" val="2441064244"/>
                    </a:ext>
                  </a:extLst>
                </a:gridCol>
                <a:gridCol w="1920000">
                  <a:extLst>
                    <a:ext uri="{9D8B030D-6E8A-4147-A177-3AD203B41FA5}">
                      <a16:colId xmlns:a16="http://schemas.microsoft.com/office/drawing/2014/main" val="1962923000"/>
                    </a:ext>
                  </a:extLst>
                </a:gridCol>
              </a:tblGrid>
              <a:tr h="0">
                <a:tc>
                  <a:txBody>
                    <a:bodyPr/>
                    <a:lstStyle/>
                    <a:p>
                      <a:pPr algn="ctr">
                        <a:buNone/>
                      </a:pPr>
                      <a:r>
                        <a:rPr lang="zh-CN" altLang="en-US" sz="1000" b="1" dirty="0">
                          <a:effectLst/>
                        </a:rPr>
                        <a:t>类别</a:t>
                      </a:r>
                    </a:p>
                  </a:txBody>
                  <a:tcPr marL="58464" marR="58464" marT="29232" marB="29232" anchor="ctr">
                    <a:solidFill>
                      <a:schemeClr val="bg2">
                        <a:lumMod val="10000"/>
                      </a:schemeClr>
                    </a:solidFill>
                  </a:tcPr>
                </a:tc>
                <a:tc>
                  <a:txBody>
                    <a:bodyPr/>
                    <a:lstStyle/>
                    <a:p>
                      <a:pPr algn="ctr">
                        <a:buNone/>
                      </a:pPr>
                      <a:r>
                        <a:rPr lang="zh-CN" altLang="en-US" sz="1000" b="1">
                          <a:effectLst/>
                        </a:rPr>
                        <a:t>核心属性 </a:t>
                      </a:r>
                      <a:r>
                        <a:rPr lang="en-US" altLang="zh-CN" sz="1000" b="1" dirty="0">
                          <a:effectLst/>
                        </a:rPr>
                        <a:t>/ </a:t>
                      </a:r>
                      <a:r>
                        <a:rPr lang="zh-CN" altLang="en-US" sz="1000" b="1">
                          <a:effectLst/>
                        </a:rPr>
                        <a:t>组件</a:t>
                      </a:r>
                    </a:p>
                  </a:txBody>
                  <a:tcPr marL="58464" marR="58464" marT="29232" marB="29232" anchor="ctr">
                    <a:solidFill>
                      <a:schemeClr val="bg2">
                        <a:lumMod val="10000"/>
                      </a:schemeClr>
                    </a:solidFill>
                  </a:tcPr>
                </a:tc>
                <a:tc>
                  <a:txBody>
                    <a:bodyPr/>
                    <a:lstStyle/>
                    <a:p>
                      <a:pPr algn="ctr">
                        <a:buNone/>
                      </a:pPr>
                      <a:r>
                        <a:rPr lang="zh-CN" altLang="en-US" sz="1000" b="1" dirty="0">
                          <a:effectLst/>
                        </a:rPr>
                        <a:t>作用说明</a:t>
                      </a:r>
                    </a:p>
                  </a:txBody>
                  <a:tcPr marL="58464" marR="58464" marT="29232" marB="29232" anchor="ctr">
                    <a:solidFill>
                      <a:schemeClr val="bg2">
                        <a:lumMod val="10000"/>
                      </a:schemeClr>
                    </a:solidFill>
                  </a:tcPr>
                </a:tc>
                <a:extLst>
                  <a:ext uri="{0D108BD9-81ED-4DB2-BD59-A6C34878D82A}">
                    <a16:rowId xmlns:a16="http://schemas.microsoft.com/office/drawing/2014/main" val="4144101562"/>
                  </a:ext>
                </a:extLst>
              </a:tr>
              <a:tr h="229787">
                <a:tc rowSpan="5">
                  <a:txBody>
                    <a:bodyPr/>
                    <a:lstStyle/>
                    <a:p>
                      <a:pPr algn="ctr">
                        <a:buNone/>
                      </a:pPr>
                      <a:r>
                        <a:rPr lang="en-US" sz="900" b="0" dirty="0">
                          <a:effectLst/>
                        </a:rPr>
                        <a:t>UI </a:t>
                      </a:r>
                      <a:r>
                        <a:rPr lang="zh-CN" altLang="en-US" sz="900" b="0" dirty="0">
                          <a:effectLst/>
                        </a:rPr>
                        <a:t>核心组件</a:t>
                      </a:r>
                    </a:p>
                  </a:txBody>
                  <a:tcPr marL="58464" marR="58464" marT="29232" marB="29232" anchor="ctr">
                    <a:solidFill>
                      <a:schemeClr val="bg2">
                        <a:lumMod val="10000"/>
                      </a:schemeClr>
                    </a:solidFill>
                  </a:tcPr>
                </a:tc>
                <a:tc>
                  <a:txBody>
                    <a:bodyPr/>
                    <a:lstStyle/>
                    <a:p>
                      <a:pPr algn="ctr">
                        <a:buNone/>
                      </a:pPr>
                      <a:r>
                        <a:rPr lang="en-US" sz="900" b="0" dirty="0">
                          <a:effectLst/>
                        </a:rPr>
                        <a:t>rootContainer</a:t>
                      </a:r>
                    </a:p>
                  </a:txBody>
                  <a:tcPr marL="58464" marR="58464" marT="29232" marB="29232" anchor="ctr">
                    <a:solidFill>
                      <a:schemeClr val="bg2">
                        <a:lumMod val="10000"/>
                      </a:schemeClr>
                    </a:solidFill>
                  </a:tcPr>
                </a:tc>
                <a:tc>
                  <a:txBody>
                    <a:bodyPr/>
                    <a:lstStyle/>
                    <a:p>
                      <a:pPr algn="ctr">
                        <a:buNone/>
                      </a:pPr>
                      <a:r>
                        <a:rPr lang="zh-CN" altLang="en-US" sz="900" b="0">
                          <a:effectLst/>
                        </a:rPr>
                        <a:t>面板根容器，承载所有子组件（标题栏、搜索框、变量列表、操作按钮）</a:t>
                      </a:r>
                    </a:p>
                  </a:txBody>
                  <a:tcPr marL="58464" marR="58464" marT="29232" marB="29232" anchor="ctr">
                    <a:solidFill>
                      <a:schemeClr val="bg2">
                        <a:lumMod val="10000"/>
                      </a:schemeClr>
                    </a:solidFill>
                  </a:tcPr>
                </a:tc>
                <a:extLst>
                  <a:ext uri="{0D108BD9-81ED-4DB2-BD59-A6C34878D82A}">
                    <a16:rowId xmlns:a16="http://schemas.microsoft.com/office/drawing/2014/main" val="2343377607"/>
                  </a:ext>
                </a:extLst>
              </a:tr>
              <a:tr h="125958">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searchField</a:t>
                      </a:r>
                    </a:p>
                  </a:txBody>
                  <a:tcPr marL="58464" marR="58464" marT="29232" marB="29232" anchor="ctr">
                    <a:solidFill>
                      <a:schemeClr val="bg2">
                        <a:lumMod val="10000"/>
                      </a:schemeClr>
                    </a:solidFill>
                  </a:tcPr>
                </a:tc>
                <a:tc>
                  <a:txBody>
                    <a:bodyPr/>
                    <a:lstStyle/>
                    <a:p>
                      <a:pPr algn="ctr">
                        <a:buNone/>
                      </a:pPr>
                      <a:r>
                        <a:rPr lang="zh-CN" altLang="en-US" sz="900" b="0">
                          <a:effectLst/>
                        </a:rPr>
                        <a:t>变量搜索输入框，支持按名称 </a:t>
                      </a:r>
                      <a:r>
                        <a:rPr lang="en-US" altLang="zh-CN" sz="900" b="0" dirty="0">
                          <a:effectLst/>
                        </a:rPr>
                        <a:t>/ </a:t>
                      </a:r>
                      <a:r>
                        <a:rPr lang="zh-CN" altLang="en-US" sz="900" b="0">
                          <a:effectLst/>
                        </a:rPr>
                        <a:t>类型筛选变量</a:t>
                      </a:r>
                    </a:p>
                  </a:txBody>
                  <a:tcPr marL="58464" marR="58464" marT="29232" marB="29232" anchor="ctr">
                    <a:solidFill>
                      <a:schemeClr val="bg2">
                        <a:lumMod val="10000"/>
                      </a:schemeClr>
                    </a:solidFill>
                  </a:tcPr>
                </a:tc>
                <a:extLst>
                  <a:ext uri="{0D108BD9-81ED-4DB2-BD59-A6C34878D82A}">
                    <a16:rowId xmlns:a16="http://schemas.microsoft.com/office/drawing/2014/main" val="480892448"/>
                  </a:ext>
                </a:extLst>
              </a:tr>
              <a:tr h="229787">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variableListContainer</a:t>
                      </a:r>
                    </a:p>
                  </a:txBody>
                  <a:tcPr marL="58464" marR="58464" marT="29232" marB="29232" anchor="ctr">
                    <a:solidFill>
                      <a:schemeClr val="bg2">
                        <a:lumMod val="10000"/>
                      </a:schemeClr>
                    </a:solidFill>
                  </a:tcPr>
                </a:tc>
                <a:tc>
                  <a:txBody>
                    <a:bodyPr/>
                    <a:lstStyle/>
                    <a:p>
                      <a:pPr algn="ctr">
                        <a:buNone/>
                      </a:pPr>
                      <a:r>
                        <a:rPr lang="zh-CN" altLang="en-US" sz="900" b="0" dirty="0">
                          <a:effectLst/>
                        </a:rPr>
                        <a:t>变量列表容器，每个子项为 </a:t>
                      </a:r>
                      <a:r>
                        <a:rPr lang="en-US" altLang="zh-CN" sz="900" b="0" dirty="0">
                          <a:effectLst/>
                        </a:rPr>
                        <a:t>VariableItemElement</a:t>
                      </a:r>
                      <a:r>
                        <a:rPr lang="zh-CN" altLang="en-US" sz="900" b="0" dirty="0">
                          <a:effectLst/>
                        </a:rPr>
                        <a:t>（单个变量的可视化项）</a:t>
                      </a:r>
                    </a:p>
                  </a:txBody>
                  <a:tcPr marL="58464" marR="58464" marT="29232" marB="29232" anchor="ctr">
                    <a:solidFill>
                      <a:schemeClr val="bg2">
                        <a:lumMod val="10000"/>
                      </a:schemeClr>
                    </a:solidFill>
                  </a:tcPr>
                </a:tc>
                <a:extLst>
                  <a:ext uri="{0D108BD9-81ED-4DB2-BD59-A6C34878D82A}">
                    <a16:rowId xmlns:a16="http://schemas.microsoft.com/office/drawing/2014/main" val="207768700"/>
                  </a:ext>
                </a:extLst>
              </a:tr>
              <a:tr h="177872">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createVariableButton</a:t>
                      </a:r>
                    </a:p>
                  </a:txBody>
                  <a:tcPr marL="58464" marR="58464" marT="29232" marB="29232" anchor="ctr">
                    <a:solidFill>
                      <a:schemeClr val="bg2">
                        <a:lumMod val="10000"/>
                      </a:schemeClr>
                    </a:solidFill>
                  </a:tcPr>
                </a:tc>
                <a:tc>
                  <a:txBody>
                    <a:bodyPr/>
                    <a:lstStyle/>
                    <a:p>
                      <a:pPr algn="ctr">
                        <a:buNone/>
                      </a:pPr>
                      <a:r>
                        <a:rPr lang="zh-CN" altLang="en-US" sz="900" b="0">
                          <a:effectLst/>
                        </a:rPr>
                        <a:t>创建新变量的按钮，点击弹出 “变量类型选择菜单”</a:t>
                      </a:r>
                    </a:p>
                  </a:txBody>
                  <a:tcPr marL="58464" marR="58464" marT="29232" marB="29232" anchor="ctr">
                    <a:solidFill>
                      <a:schemeClr val="bg2">
                        <a:lumMod val="10000"/>
                      </a:schemeClr>
                    </a:solidFill>
                  </a:tcPr>
                </a:tc>
                <a:extLst>
                  <a:ext uri="{0D108BD9-81ED-4DB2-BD59-A6C34878D82A}">
                    <a16:rowId xmlns:a16="http://schemas.microsoft.com/office/drawing/2014/main" val="364236477"/>
                  </a:ext>
                </a:extLst>
              </a:tr>
              <a:tr h="177872">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refreshButton</a:t>
                      </a:r>
                    </a:p>
                  </a:txBody>
                  <a:tcPr marL="58464" marR="58464" marT="29232" marB="29232" anchor="ctr">
                    <a:solidFill>
                      <a:schemeClr val="bg2">
                        <a:lumMod val="10000"/>
                      </a:schemeClr>
                    </a:solidFill>
                  </a:tcPr>
                </a:tc>
                <a:tc>
                  <a:txBody>
                    <a:bodyPr/>
                    <a:lstStyle/>
                    <a:p>
                      <a:pPr algn="ctr">
                        <a:buNone/>
                      </a:pPr>
                      <a:r>
                        <a:rPr lang="zh-CN" altLang="en-US" sz="900" b="0">
                          <a:effectLst/>
                        </a:rPr>
                        <a:t>刷新变量列表按钮，同步 </a:t>
                      </a:r>
                      <a:r>
                        <a:rPr lang="en-US" sz="900" b="0" dirty="0">
                          <a:effectLst/>
                        </a:rPr>
                        <a:t>xAction_Asset </a:t>
                      </a:r>
                      <a:r>
                        <a:rPr lang="zh-CN" altLang="en-US" sz="900" b="0">
                          <a:effectLst/>
                        </a:rPr>
                        <a:t>中的最新变量数据</a:t>
                      </a:r>
                    </a:p>
                  </a:txBody>
                  <a:tcPr marL="58464" marR="58464" marT="29232" marB="29232" anchor="ctr">
                    <a:solidFill>
                      <a:schemeClr val="bg2">
                        <a:lumMod val="10000"/>
                      </a:schemeClr>
                    </a:solidFill>
                  </a:tcPr>
                </a:tc>
                <a:extLst>
                  <a:ext uri="{0D108BD9-81ED-4DB2-BD59-A6C34878D82A}">
                    <a16:rowId xmlns:a16="http://schemas.microsoft.com/office/drawing/2014/main" val="2987230377"/>
                  </a:ext>
                </a:extLst>
              </a:tr>
              <a:tr h="229787">
                <a:tc rowSpan="3">
                  <a:txBody>
                    <a:bodyPr/>
                    <a:lstStyle/>
                    <a:p>
                      <a:pPr algn="ctr">
                        <a:buNone/>
                      </a:pPr>
                      <a:r>
                        <a:rPr lang="zh-CN" altLang="en-US" sz="900" b="0" dirty="0">
                          <a:effectLst/>
                        </a:rPr>
                        <a:t>数据关联</a:t>
                      </a:r>
                    </a:p>
                  </a:txBody>
                  <a:tcPr marL="58464" marR="58464" marT="29232" marB="29232" anchor="ctr">
                    <a:solidFill>
                      <a:schemeClr val="bg2">
                        <a:lumMod val="10000"/>
                      </a:schemeClr>
                    </a:solidFill>
                  </a:tcPr>
                </a:tc>
                <a:tc>
                  <a:txBody>
                    <a:bodyPr/>
                    <a:lstStyle/>
                    <a:p>
                      <a:pPr algn="ctr">
                        <a:buNone/>
                      </a:pPr>
                      <a:r>
                        <a:rPr lang="en-US" sz="900" b="0" dirty="0">
                          <a:effectLst/>
                        </a:rPr>
                        <a:t>actionAsset</a:t>
                      </a:r>
                    </a:p>
                  </a:txBody>
                  <a:tcPr marL="58464" marR="58464" marT="29232" marB="29232" anchor="ctr">
                    <a:solidFill>
                      <a:schemeClr val="bg2">
                        <a:lumMod val="10000"/>
                      </a:schemeClr>
                    </a:solidFill>
                  </a:tcPr>
                </a:tc>
                <a:tc>
                  <a:txBody>
                    <a:bodyPr/>
                    <a:lstStyle/>
                    <a:p>
                      <a:pPr algn="ctr">
                        <a:buNone/>
                      </a:pPr>
                      <a:r>
                        <a:rPr lang="zh-CN" altLang="en-US" sz="900" b="0">
                          <a:effectLst/>
                        </a:rPr>
                        <a:t>绑定的 </a:t>
                      </a:r>
                      <a:r>
                        <a:rPr lang="en-US" sz="900" b="0" dirty="0">
                          <a:effectLst/>
                        </a:rPr>
                        <a:t>xAction_Asset </a:t>
                      </a:r>
                      <a:r>
                        <a:rPr lang="zh-CN" altLang="en-US" sz="900" b="0">
                          <a:effectLst/>
                        </a:rPr>
                        <a:t>实例，读取 </a:t>
                      </a:r>
                      <a:r>
                        <a:rPr lang="en-US" altLang="zh-CN" sz="900" b="0" dirty="0">
                          <a:effectLst/>
                        </a:rPr>
                        <a:t>/ </a:t>
                      </a:r>
                      <a:r>
                        <a:rPr lang="zh-CN" altLang="en-US" sz="900" b="0">
                          <a:effectLst/>
                        </a:rPr>
                        <a:t>写入变量数据（</a:t>
                      </a:r>
                      <a:r>
                        <a:rPr lang="en-US" sz="900" b="0" dirty="0">
                          <a:effectLst/>
                        </a:rPr>
                        <a:t>variables </a:t>
                      </a:r>
                      <a:r>
                        <a:rPr lang="zh-CN" altLang="en-US" sz="900" b="0">
                          <a:effectLst/>
                        </a:rPr>
                        <a:t>列表）</a:t>
                      </a:r>
                    </a:p>
                  </a:txBody>
                  <a:tcPr marL="58464" marR="58464" marT="29232" marB="29232" anchor="ctr">
                    <a:solidFill>
                      <a:schemeClr val="bg2">
                        <a:lumMod val="10000"/>
                      </a:schemeClr>
                    </a:solidFill>
                  </a:tcPr>
                </a:tc>
                <a:extLst>
                  <a:ext uri="{0D108BD9-81ED-4DB2-BD59-A6C34878D82A}">
                    <a16:rowId xmlns:a16="http://schemas.microsoft.com/office/drawing/2014/main" val="1363778183"/>
                  </a:ext>
                </a:extLst>
              </a:tr>
              <a:tr h="229787">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graphView</a:t>
                      </a:r>
                    </a:p>
                  </a:txBody>
                  <a:tcPr marL="58464" marR="58464" marT="29232" marB="29232" anchor="ctr">
                    <a:solidFill>
                      <a:schemeClr val="bg2">
                        <a:lumMod val="10000"/>
                      </a:schemeClr>
                    </a:solidFill>
                  </a:tcPr>
                </a:tc>
                <a:tc>
                  <a:txBody>
                    <a:bodyPr/>
                    <a:lstStyle/>
                    <a:p>
                      <a:pPr algn="ctr">
                        <a:buNone/>
                      </a:pPr>
                      <a:r>
                        <a:rPr lang="zh-CN" altLang="en-US" sz="900" b="0">
                          <a:effectLst/>
                        </a:rPr>
                        <a:t>关联的画布视图 </a:t>
                      </a:r>
                      <a:r>
                        <a:rPr lang="en-US" sz="900" b="0" dirty="0">
                          <a:effectLst/>
                        </a:rPr>
                        <a:t>xg_GraphView，</a:t>
                      </a:r>
                      <a:r>
                        <a:rPr lang="zh-CN" altLang="en-US" sz="900" b="0">
                          <a:effectLst/>
                        </a:rPr>
                        <a:t>支持拖拽变量到画布生成 </a:t>
                      </a:r>
                      <a:r>
                        <a:rPr lang="en-US" sz="900" b="0" dirty="0">
                          <a:effectLst/>
                        </a:rPr>
                        <a:t>xNode_Variable</a:t>
                      </a:r>
                    </a:p>
                  </a:txBody>
                  <a:tcPr marL="58464" marR="58464" marT="29232" marB="29232" anchor="ctr">
                    <a:solidFill>
                      <a:schemeClr val="bg2">
                        <a:lumMod val="10000"/>
                      </a:schemeClr>
                    </a:solidFill>
                  </a:tcPr>
                </a:tc>
                <a:extLst>
                  <a:ext uri="{0D108BD9-81ED-4DB2-BD59-A6C34878D82A}">
                    <a16:rowId xmlns:a16="http://schemas.microsoft.com/office/drawing/2014/main" val="963330611"/>
                  </a:ext>
                </a:extLst>
              </a:tr>
              <a:tr h="229787">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variableItemMap</a:t>
                      </a:r>
                    </a:p>
                  </a:txBody>
                  <a:tcPr marL="58464" marR="58464" marT="29232" marB="29232" anchor="ctr">
                    <a:solidFill>
                      <a:schemeClr val="bg2">
                        <a:lumMod val="10000"/>
                      </a:schemeClr>
                    </a:solidFill>
                  </a:tcPr>
                </a:tc>
                <a:tc>
                  <a:txBody>
                    <a:bodyPr/>
                    <a:lstStyle/>
                    <a:p>
                      <a:pPr algn="ctr">
                        <a:buNone/>
                      </a:pPr>
                      <a:r>
                        <a:rPr lang="zh-CN" altLang="en-US" sz="900" b="0" dirty="0">
                          <a:effectLst/>
                        </a:rPr>
                        <a:t>变量 </a:t>
                      </a:r>
                      <a:r>
                        <a:rPr lang="en-US" sz="900" b="0" dirty="0">
                          <a:effectLst/>
                        </a:rPr>
                        <a:t>GUID </a:t>
                      </a:r>
                      <a:r>
                        <a:rPr lang="zh-CN" altLang="en-US" sz="900" b="0" dirty="0">
                          <a:effectLst/>
                        </a:rPr>
                        <a:t>与 </a:t>
                      </a:r>
                      <a:r>
                        <a:rPr lang="en-US" sz="900" b="0" dirty="0">
                          <a:effectLst/>
                        </a:rPr>
                        <a:t>VariableItemElement </a:t>
                      </a:r>
                      <a:r>
                        <a:rPr lang="zh-CN" altLang="en-US" sz="900" b="0" dirty="0">
                          <a:effectLst/>
                        </a:rPr>
                        <a:t>的映射字典，快速定位变量可视化项</a:t>
                      </a:r>
                    </a:p>
                  </a:txBody>
                  <a:tcPr marL="58464" marR="58464" marT="29232" marB="29232" anchor="ctr">
                    <a:solidFill>
                      <a:schemeClr val="bg2">
                        <a:lumMod val="10000"/>
                      </a:schemeClr>
                    </a:solidFill>
                  </a:tcPr>
                </a:tc>
                <a:extLst>
                  <a:ext uri="{0D108BD9-81ED-4DB2-BD59-A6C34878D82A}">
                    <a16:rowId xmlns:a16="http://schemas.microsoft.com/office/drawing/2014/main" val="2843997283"/>
                  </a:ext>
                </a:extLst>
              </a:tr>
              <a:tr h="229787">
                <a:tc rowSpan="2">
                  <a:txBody>
                    <a:bodyPr/>
                    <a:lstStyle/>
                    <a:p>
                      <a:pPr algn="ctr">
                        <a:buNone/>
                      </a:pPr>
                      <a:r>
                        <a:rPr lang="zh-CN" altLang="en-US" sz="900" b="0" dirty="0">
                          <a:effectLst/>
                        </a:rPr>
                        <a:t>样式配置</a:t>
                      </a:r>
                    </a:p>
                  </a:txBody>
                  <a:tcPr marL="58464" marR="58464" marT="29232" marB="29232" anchor="ctr">
                    <a:solidFill>
                      <a:schemeClr val="bg2">
                        <a:lumMod val="10000"/>
                      </a:schemeClr>
                    </a:solidFill>
                  </a:tcPr>
                </a:tc>
                <a:tc>
                  <a:txBody>
                    <a:bodyPr/>
                    <a:lstStyle/>
                    <a:p>
                      <a:pPr algn="ctr">
                        <a:buNone/>
                      </a:pPr>
                      <a:r>
                        <a:rPr lang="en-US" sz="900" b="0" dirty="0">
                          <a:effectLst/>
                        </a:rPr>
                        <a:t>theme</a:t>
                      </a:r>
                    </a:p>
                  </a:txBody>
                  <a:tcPr marL="58464" marR="58464" marT="29232" marB="29232" anchor="ctr">
                    <a:solidFill>
                      <a:schemeClr val="bg2">
                        <a:lumMod val="10000"/>
                      </a:schemeClr>
                    </a:solidFill>
                  </a:tcPr>
                </a:tc>
                <a:tc>
                  <a:txBody>
                    <a:bodyPr/>
                    <a:lstStyle/>
                    <a:p>
                      <a:pPr algn="ctr">
                        <a:buNone/>
                      </a:pPr>
                      <a:r>
                        <a:rPr lang="zh-CN" altLang="en-US" sz="900" b="0" dirty="0">
                          <a:effectLst/>
                        </a:rPr>
                        <a:t>面板专属样式配置（</a:t>
                      </a:r>
                      <a:r>
                        <a:rPr lang="en-US" sz="900" b="0" dirty="0">
                          <a:effectLst/>
                        </a:rPr>
                        <a:t>class_BlackBoardViewTheme </a:t>
                      </a:r>
                      <a:r>
                        <a:rPr lang="zh-CN" altLang="en-US" sz="900" b="0" dirty="0">
                          <a:effectLst/>
                        </a:rPr>
                        <a:t>实例），控制背景、字体、配色</a:t>
                      </a:r>
                    </a:p>
                  </a:txBody>
                  <a:tcPr marL="58464" marR="58464" marT="29232" marB="29232" anchor="ctr">
                    <a:solidFill>
                      <a:schemeClr val="bg2">
                        <a:lumMod val="10000"/>
                      </a:schemeClr>
                    </a:solidFill>
                  </a:tcPr>
                </a:tc>
                <a:extLst>
                  <a:ext uri="{0D108BD9-81ED-4DB2-BD59-A6C34878D82A}">
                    <a16:rowId xmlns:a16="http://schemas.microsoft.com/office/drawing/2014/main" val="1309701763"/>
                  </a:ext>
                </a:extLst>
              </a:tr>
              <a:tr h="177872">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isFold</a:t>
                      </a:r>
                    </a:p>
                  </a:txBody>
                  <a:tcPr marL="58464" marR="58464" marT="29232" marB="29232" anchor="ctr">
                    <a:solidFill>
                      <a:schemeClr val="bg2">
                        <a:lumMod val="10000"/>
                      </a:schemeClr>
                    </a:solidFill>
                  </a:tcPr>
                </a:tc>
                <a:tc>
                  <a:txBody>
                    <a:bodyPr/>
                    <a:lstStyle/>
                    <a:p>
                      <a:pPr algn="ctr">
                        <a:buNone/>
                      </a:pPr>
                      <a:r>
                        <a:rPr lang="zh-CN" altLang="en-US" sz="900" b="0" dirty="0">
                          <a:effectLst/>
                        </a:rPr>
                        <a:t>面板折叠状态，配合 </a:t>
                      </a:r>
                      <a:r>
                        <a:rPr lang="en-US" sz="900" b="0" dirty="0">
                          <a:effectLst/>
                        </a:rPr>
                        <a:t>class_ElementTransformData </a:t>
                      </a:r>
                      <a:r>
                        <a:rPr lang="zh-CN" altLang="en-US" sz="900" b="0" dirty="0">
                          <a:effectLst/>
                        </a:rPr>
                        <a:t>实现布局记忆</a:t>
                      </a:r>
                    </a:p>
                  </a:txBody>
                  <a:tcPr marL="58464" marR="58464" marT="29232" marB="29232" anchor="ctr">
                    <a:solidFill>
                      <a:schemeClr val="bg2">
                        <a:lumMod val="10000"/>
                      </a:schemeClr>
                    </a:solidFill>
                  </a:tcPr>
                </a:tc>
                <a:extLst>
                  <a:ext uri="{0D108BD9-81ED-4DB2-BD59-A6C34878D82A}">
                    <a16:rowId xmlns:a16="http://schemas.microsoft.com/office/drawing/2014/main" val="3303375811"/>
                  </a:ext>
                </a:extLst>
              </a:tr>
              <a:tr h="229787">
                <a:tc rowSpan="2">
                  <a:txBody>
                    <a:bodyPr/>
                    <a:lstStyle/>
                    <a:p>
                      <a:pPr algn="ctr">
                        <a:buNone/>
                      </a:pPr>
                      <a:r>
                        <a:rPr lang="zh-CN" altLang="en-US" sz="900" b="0" dirty="0">
                          <a:effectLst/>
                        </a:rPr>
                        <a:t>状态控制</a:t>
                      </a:r>
                    </a:p>
                  </a:txBody>
                  <a:tcPr marL="58464" marR="58464" marT="29232" marB="29232" anchor="ctr">
                    <a:solidFill>
                      <a:schemeClr val="bg2">
                        <a:lumMod val="10000"/>
                      </a:schemeClr>
                    </a:solidFill>
                  </a:tcPr>
                </a:tc>
                <a:tc>
                  <a:txBody>
                    <a:bodyPr/>
                    <a:lstStyle/>
                    <a:p>
                      <a:pPr algn="ctr">
                        <a:buNone/>
                      </a:pPr>
                      <a:r>
                        <a:rPr lang="en-US" sz="900" b="0" dirty="0">
                          <a:effectLst/>
                        </a:rPr>
                        <a:t>selectedVariableGUID</a:t>
                      </a:r>
                    </a:p>
                  </a:txBody>
                  <a:tcPr marL="58464" marR="58464" marT="29232" marB="29232" anchor="ctr">
                    <a:solidFill>
                      <a:schemeClr val="bg2">
                        <a:lumMod val="10000"/>
                      </a:schemeClr>
                    </a:solidFill>
                  </a:tcPr>
                </a:tc>
                <a:tc>
                  <a:txBody>
                    <a:bodyPr/>
                    <a:lstStyle/>
                    <a:p>
                      <a:pPr algn="ctr">
                        <a:buNone/>
                      </a:pPr>
                      <a:r>
                        <a:rPr lang="zh-CN" altLang="en-US" sz="900" b="0">
                          <a:effectLst/>
                        </a:rPr>
                        <a:t>当前选中的变量 </a:t>
                      </a:r>
                      <a:r>
                        <a:rPr lang="en-US" sz="900" b="0" dirty="0">
                          <a:effectLst/>
                        </a:rPr>
                        <a:t>GUID，</a:t>
                      </a:r>
                      <a:r>
                        <a:rPr lang="zh-CN" altLang="en-US" sz="900" b="0">
                          <a:effectLst/>
                        </a:rPr>
                        <a:t>用于同步到属性面板（</a:t>
                      </a:r>
                      <a:r>
                        <a:rPr lang="en-US" sz="900" b="0" dirty="0">
                          <a:effectLst/>
                        </a:rPr>
                        <a:t>xg_InspectorView）</a:t>
                      </a:r>
                      <a:r>
                        <a:rPr lang="zh-CN" altLang="en-US" sz="900" b="0">
                          <a:effectLst/>
                        </a:rPr>
                        <a:t>展示详情</a:t>
                      </a:r>
                    </a:p>
                  </a:txBody>
                  <a:tcPr marL="58464" marR="58464" marT="29232" marB="29232" anchor="ctr">
                    <a:solidFill>
                      <a:schemeClr val="bg2">
                        <a:lumMod val="10000"/>
                      </a:schemeClr>
                    </a:solidFill>
                  </a:tcPr>
                </a:tc>
                <a:extLst>
                  <a:ext uri="{0D108BD9-81ED-4DB2-BD59-A6C34878D82A}">
                    <a16:rowId xmlns:a16="http://schemas.microsoft.com/office/drawing/2014/main" val="3716700896"/>
                  </a:ext>
                </a:extLst>
              </a:tr>
              <a:tr h="177872">
                <a:tc vMerge="1">
                  <a:txBody>
                    <a:bodyPr/>
                    <a:lstStyle/>
                    <a:p>
                      <a:pPr>
                        <a:buNone/>
                      </a:pPr>
                      <a:endParaRPr lang="zh-CN" altLang="en-US" sz="900" b="0" dirty="0">
                        <a:effectLst/>
                      </a:endParaRPr>
                    </a:p>
                  </a:txBody>
                  <a:tcPr marL="58464" marR="58464" marT="29232" marB="29232" anchor="ctr">
                    <a:solidFill>
                      <a:schemeClr val="bg2">
                        <a:lumMod val="10000"/>
                      </a:schemeClr>
                    </a:solidFill>
                  </a:tcPr>
                </a:tc>
                <a:tc>
                  <a:txBody>
                    <a:bodyPr/>
                    <a:lstStyle/>
                    <a:p>
                      <a:pPr algn="ctr">
                        <a:buNone/>
                      </a:pPr>
                      <a:r>
                        <a:rPr lang="en-US" sz="900" b="0" dirty="0">
                          <a:effectLst/>
                        </a:rPr>
                        <a:t>filterType</a:t>
                      </a:r>
                    </a:p>
                  </a:txBody>
                  <a:tcPr marL="58464" marR="58464" marT="29232" marB="29232" anchor="ctr">
                    <a:solidFill>
                      <a:schemeClr val="bg2">
                        <a:lumMod val="10000"/>
                      </a:schemeClr>
                    </a:solidFill>
                  </a:tcPr>
                </a:tc>
                <a:tc>
                  <a:txBody>
                    <a:bodyPr/>
                    <a:lstStyle/>
                    <a:p>
                      <a:pPr algn="ctr">
                        <a:buNone/>
                      </a:pPr>
                      <a:r>
                        <a:rPr lang="zh-CN" altLang="en-US" sz="900" b="0" dirty="0">
                          <a:effectLst/>
                        </a:rPr>
                        <a:t>变量筛选类型（枚举：全部 </a:t>
                      </a:r>
                      <a:r>
                        <a:rPr lang="en-US" altLang="zh-CN" sz="900" b="0" dirty="0">
                          <a:effectLst/>
                        </a:rPr>
                        <a:t>/ </a:t>
                      </a:r>
                      <a:r>
                        <a:rPr lang="zh-CN" altLang="en-US" sz="900" b="0" dirty="0">
                          <a:effectLst/>
                        </a:rPr>
                        <a:t>字符串 </a:t>
                      </a:r>
                      <a:r>
                        <a:rPr lang="en-US" altLang="zh-CN" sz="900" b="0" dirty="0">
                          <a:effectLst/>
                        </a:rPr>
                        <a:t>/ </a:t>
                      </a:r>
                      <a:r>
                        <a:rPr lang="zh-CN" altLang="en-US" sz="900" b="0" dirty="0">
                          <a:effectLst/>
                        </a:rPr>
                        <a:t>数字 </a:t>
                      </a:r>
                      <a:r>
                        <a:rPr lang="en-US" altLang="zh-CN" sz="900" b="0" dirty="0">
                          <a:effectLst/>
                        </a:rPr>
                        <a:t>/ </a:t>
                      </a:r>
                      <a:r>
                        <a:rPr lang="zh-CN" altLang="en-US" sz="900" b="0" dirty="0">
                          <a:effectLst/>
                        </a:rPr>
                        <a:t>布尔 </a:t>
                      </a:r>
                      <a:r>
                        <a:rPr lang="en-US" altLang="zh-CN" sz="900" b="0" dirty="0">
                          <a:effectLst/>
                        </a:rPr>
                        <a:t>/ </a:t>
                      </a:r>
                      <a:r>
                        <a:rPr lang="zh-CN" altLang="en-US" sz="900" b="0" dirty="0">
                          <a:effectLst/>
                        </a:rPr>
                        <a:t>向量等）</a:t>
                      </a:r>
                    </a:p>
                  </a:txBody>
                  <a:tcPr marL="58464" marR="58464" marT="29232" marB="29232" anchor="ctr">
                    <a:solidFill>
                      <a:schemeClr val="bg2">
                        <a:lumMod val="10000"/>
                      </a:schemeClr>
                    </a:solidFill>
                  </a:tcPr>
                </a:tc>
                <a:extLst>
                  <a:ext uri="{0D108BD9-81ED-4DB2-BD59-A6C34878D82A}">
                    <a16:rowId xmlns:a16="http://schemas.microsoft.com/office/drawing/2014/main" val="1566292"/>
                  </a:ext>
                </a:extLst>
              </a:tr>
            </a:tbl>
          </a:graphicData>
        </a:graphic>
      </p:graphicFrame>
      <p:sp>
        <p:nvSpPr>
          <p:cNvPr id="10" name="文本框 9">
            <a:extLst>
              <a:ext uri="{FF2B5EF4-FFF2-40B4-BE49-F238E27FC236}">
                <a16:creationId xmlns:a16="http://schemas.microsoft.com/office/drawing/2014/main" id="{0EC658B1-B706-6B8E-C45E-5F5F440F80EF}"/>
              </a:ext>
            </a:extLst>
          </p:cNvPr>
          <p:cNvSpPr txBox="1"/>
          <p:nvPr/>
        </p:nvSpPr>
        <p:spPr>
          <a:xfrm>
            <a:off x="383775" y="7006892"/>
            <a:ext cx="5801123" cy="1584658"/>
          </a:xfrm>
          <a:prstGeom prst="rect">
            <a:avLst/>
          </a:prstGeom>
          <a:noFill/>
        </p:spPr>
        <p:txBody>
          <a:bodyPr wrap="square" numCol="1" spcCol="360000" rtlCol="0">
            <a:noAutofit/>
          </a:bodyPr>
          <a:lstStyle>
            <a:defPPr>
              <a:defRPr lang="en-US"/>
            </a:defPPr>
            <a:lvl1pPr>
              <a:lnSpc>
                <a:spcPct val="200000"/>
              </a:lnSpc>
              <a:defRPr sz="1000" b="1">
                <a:solidFill>
                  <a:schemeClr val="bg1">
                    <a:lumMod val="85000"/>
                  </a:schemeClr>
                </a:solidFill>
                <a:latin typeface="微软雅黑" panose="020B0503020204020204" pitchFamily="34" charset="-122"/>
                <a:ea typeface="微软雅黑" panose="020B0503020204020204" pitchFamily="34" charset="-122"/>
              </a:defRPr>
            </a:lvl1pPr>
          </a:lstStyle>
          <a:p>
            <a:r>
              <a:rPr lang="zh-CN" altLang="en-US" dirty="0"/>
              <a:t>🎯 关键子组件：</a:t>
            </a:r>
            <a:r>
              <a:rPr lang="en-US" altLang="zh-CN" dirty="0"/>
              <a:t>VariableItemElement</a:t>
            </a:r>
          </a:p>
          <a:p>
            <a:r>
              <a:rPr lang="zh-CN" altLang="en-US" sz="900" b="0" dirty="0"/>
              <a:t>每个变量在列表中对应一个 </a:t>
            </a:r>
            <a:r>
              <a:rPr lang="en-US" altLang="zh-CN" sz="900" b="0" dirty="0"/>
              <a:t>VariableItemElement</a:t>
            </a:r>
            <a:r>
              <a:rPr lang="zh-CN" altLang="en-US" sz="900" b="0" dirty="0"/>
              <a:t>（</a:t>
            </a:r>
            <a:r>
              <a:rPr lang="en-US" altLang="zh-CN" sz="900" b="0" dirty="0"/>
              <a:t>xg_BlackBoardView </a:t>
            </a:r>
            <a:r>
              <a:rPr lang="zh-CN" altLang="en-US" sz="900" b="0" dirty="0"/>
              <a:t>内部嵌套类），核心功能：</a:t>
            </a:r>
            <a:endParaRPr lang="en-US" altLang="zh-CN" sz="900" b="0" dirty="0"/>
          </a:p>
          <a:p>
            <a:pPr marL="171450" indent="-171450">
              <a:buFont typeface="Arial" panose="020B0604020202020204" pitchFamily="34" charset="0"/>
              <a:buChar char="•"/>
            </a:pPr>
            <a:r>
              <a:rPr lang="zh-CN" altLang="en-US" sz="900" dirty="0"/>
              <a:t>展示变量核心信息</a:t>
            </a:r>
            <a:r>
              <a:rPr lang="zh-CN" altLang="en-US" sz="900" b="0" dirty="0"/>
              <a:t>：名称、类型（图标）、当前值、是否全局；</a:t>
            </a:r>
          </a:p>
          <a:p>
            <a:pPr marL="171450" indent="-171450">
              <a:buFont typeface="Arial" panose="020B0604020202020204" pitchFamily="34" charset="0"/>
              <a:buChar char="•"/>
            </a:pPr>
            <a:r>
              <a:rPr lang="zh-CN" altLang="en-US" sz="900" dirty="0"/>
              <a:t>支持交互操作：</a:t>
            </a:r>
            <a:r>
              <a:rPr lang="zh-CN" altLang="en-US" sz="900" b="0" dirty="0"/>
              <a:t>双击重命名、右键菜单（删除 </a:t>
            </a:r>
            <a:r>
              <a:rPr lang="en-US" altLang="zh-CN" sz="900" b="0" dirty="0"/>
              <a:t>/ </a:t>
            </a:r>
            <a:r>
              <a:rPr lang="zh-CN" altLang="en-US" sz="900" b="0" dirty="0"/>
              <a:t>复制 </a:t>
            </a:r>
            <a:r>
              <a:rPr lang="en-US" altLang="zh-CN" sz="900" b="0" dirty="0"/>
              <a:t>GUID / </a:t>
            </a:r>
            <a:r>
              <a:rPr lang="zh-CN" altLang="en-US" sz="900" b="0" dirty="0"/>
              <a:t>修改类型）、拖拽到画布生成节点；</a:t>
            </a:r>
          </a:p>
          <a:p>
            <a:pPr marL="171450" indent="-171450">
              <a:buFont typeface="Arial" panose="020B0604020202020204" pitchFamily="34" charset="0"/>
              <a:buChar char="•"/>
            </a:pPr>
            <a:r>
              <a:rPr lang="zh-CN" altLang="en-US" sz="900" dirty="0"/>
              <a:t>状态反馈：</a:t>
            </a:r>
            <a:r>
              <a:rPr lang="zh-CN" altLang="en-US" sz="900" b="0" dirty="0"/>
              <a:t>选中时高亮（匹配 </a:t>
            </a:r>
            <a:r>
              <a:rPr lang="en-US" altLang="zh-CN" sz="900" b="0" dirty="0"/>
              <a:t>class_BlackBoardViewTheme.variableItemHoverColor</a:t>
            </a:r>
            <a:r>
              <a:rPr lang="zh-CN" altLang="en-US" sz="900" b="0" dirty="0"/>
              <a:t>）、值变更时闪烁提示。</a:t>
            </a:r>
          </a:p>
        </p:txBody>
      </p:sp>
    </p:spTree>
    <p:extLst>
      <p:ext uri="{BB962C8B-B14F-4D97-AF65-F5344CB8AC3E}">
        <p14:creationId xmlns:p14="http://schemas.microsoft.com/office/powerpoint/2010/main" val="8169435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BDF1ED9F-FEBB-0AAB-7FF1-BE549161A587}"/>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279CE597-5077-96F6-8B0F-EF6C6F4B1CE5}"/>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BlackBoardView </a:t>
            </a:r>
            <a:r>
              <a:rPr lang="zh-CN" altLang="en-US" dirty="0"/>
              <a:t>黑板变量</a:t>
            </a:r>
          </a:p>
        </p:txBody>
      </p:sp>
      <p:sp>
        <p:nvSpPr>
          <p:cNvPr id="6" name="文本框 5">
            <a:extLst>
              <a:ext uri="{FF2B5EF4-FFF2-40B4-BE49-F238E27FC236}">
                <a16:creationId xmlns:a16="http://schemas.microsoft.com/office/drawing/2014/main" id="{53E16D6D-6CC5-EF76-58B0-2C2963041EBA}"/>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05956DCB-D8C6-97B6-6EB7-0A8C435472BA}"/>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5EAF605B-49A0-5123-0C18-1D07A1FD44FD}"/>
              </a:ext>
            </a:extLst>
          </p:cNvPr>
          <p:cNvSpPr txBox="1"/>
          <p:nvPr/>
        </p:nvSpPr>
        <p:spPr>
          <a:xfrm>
            <a:off x="383776" y="1030618"/>
            <a:ext cx="5801123" cy="81915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核心功能与关键方法</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xg_BlackBoardView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的核心功能围绕 “变量生命周期管理”“交互联动”“样式同步” 展开，关键方法及逻辑如下：</a:t>
            </a:r>
          </a:p>
        </p:txBody>
      </p:sp>
      <p:sp>
        <p:nvSpPr>
          <p:cNvPr id="3" name="文本框 2">
            <a:extLst>
              <a:ext uri="{FF2B5EF4-FFF2-40B4-BE49-F238E27FC236}">
                <a16:creationId xmlns:a16="http://schemas.microsoft.com/office/drawing/2014/main" id="{361574C2-6948-5938-926C-200289153C7F}"/>
              </a:ext>
            </a:extLst>
          </p:cNvPr>
          <p:cNvSpPr txBox="1"/>
          <p:nvPr/>
        </p:nvSpPr>
        <p:spPr>
          <a:xfrm>
            <a:off x="383776" y="2012950"/>
            <a:ext cx="6071900" cy="236220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初始化与样式加载</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核心方法：</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Initialize(xAction_Asset asset, xg_GraphView graphView)</a:t>
            </a:r>
            <a:endParaRPr lang="en-US" altLang="zh-CN" sz="4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的协作：</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绑定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和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，读取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中的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列表（</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实例）；</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加载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class_BlackBoardViewTheme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样式配置（从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asset.themeConfig.blackBoardTheme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读取），初始化面板背景、字体、边距等；</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注册组件事件：搜索框输入事件、创建按钮点击事件、变量列表项选中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拖拽事件；</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RefreshVariableList()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渲染初始变量列表。</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4" name="文本框 3">
            <a:extLst>
              <a:ext uri="{FF2B5EF4-FFF2-40B4-BE49-F238E27FC236}">
                <a16:creationId xmlns:a16="http://schemas.microsoft.com/office/drawing/2014/main" id="{26EA4325-A734-E932-2C22-31580AED8585}"/>
              </a:ext>
            </a:extLst>
          </p:cNvPr>
          <p:cNvSpPr txBox="1"/>
          <p:nvPr/>
        </p:nvSpPr>
        <p:spPr>
          <a:xfrm>
            <a:off x="383776" y="4483100"/>
            <a:ext cx="6071900" cy="316865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变量列表管理</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1</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）刷新列表：</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RefreshVariableList()</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的协作：</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清空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variableListContainer</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，遍历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actionAsset.variables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列表；</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对每个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，提取底层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数据，创建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VariableItemElement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并添加到列表；</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应用筛选条件（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searchField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输入内容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filterType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），隐藏不匹配的变量项；</a:t>
            </a:r>
          </a:p>
          <a:p>
            <a:pPr marL="171450" indent="-171450">
              <a:lnSpc>
                <a:spcPct val="200000"/>
              </a:lnSpc>
              <a:buFont typeface="Wingdings" panose="05000000000000000000" pitchFamily="2" charset="2"/>
              <a:buChar char="ü"/>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更新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variableItemMap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映射关系，保证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与可视化项一一对应。</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Wingdings" panose="05000000000000000000" pitchFamily="2" charset="2"/>
              <a:buChar char="ü"/>
            </a:pP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2</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）筛选变量：</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OnSearchFieldChanged(string searchText)/OnFilterTypeChanged(VariableType type)</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实时过滤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variableListContainer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中的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VariableItemElement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按名称：</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匹配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searchText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模糊查询变量名；</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按类型：</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筛选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class_Variable.type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与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filterType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一致的变量；</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254051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CE24F688-C608-3F67-C921-77E3C7454BF0}"/>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72DE2CF4-10BF-5E4A-0055-58F85FB5F225}"/>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BlackBoardView </a:t>
            </a:r>
            <a:r>
              <a:rPr lang="zh-CN" altLang="en-US" dirty="0"/>
              <a:t>黑板变量</a:t>
            </a:r>
          </a:p>
        </p:txBody>
      </p:sp>
      <p:sp>
        <p:nvSpPr>
          <p:cNvPr id="6" name="文本框 5">
            <a:extLst>
              <a:ext uri="{FF2B5EF4-FFF2-40B4-BE49-F238E27FC236}">
                <a16:creationId xmlns:a16="http://schemas.microsoft.com/office/drawing/2014/main" id="{38301C2B-E45C-B2DA-F32E-9B54D91F8BDF}"/>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58A4D3F3-729F-83DD-D1F8-8A6247CA58D2}"/>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sp>
        <p:nvSpPr>
          <p:cNvPr id="7" name="文本框 6">
            <a:extLst>
              <a:ext uri="{FF2B5EF4-FFF2-40B4-BE49-F238E27FC236}">
                <a16:creationId xmlns:a16="http://schemas.microsoft.com/office/drawing/2014/main" id="{564BEF7C-373C-A22A-B0DA-D2AE6EDB3480}"/>
              </a:ext>
            </a:extLst>
          </p:cNvPr>
          <p:cNvSpPr txBox="1"/>
          <p:nvPr/>
        </p:nvSpPr>
        <p:spPr>
          <a:xfrm>
            <a:off x="383776" y="1030618"/>
            <a:ext cx="5801123" cy="217670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核心交互：拖拽生成节点</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关键逻辑：</a:t>
            </a:r>
            <a:r>
              <a:rPr lang="en-US" altLang="zh-CN" sz="900" b="1" dirty="0" err="1">
                <a:solidFill>
                  <a:schemeClr val="bg1">
                    <a:lumMod val="85000"/>
                  </a:schemeClr>
                </a:solidFill>
                <a:latin typeface="微软雅黑" panose="020B0503020204020204" pitchFamily="34" charset="-122"/>
                <a:ea typeface="微软雅黑" panose="020B0503020204020204" pitchFamily="34" charset="-122"/>
              </a:rPr>
              <a:t>RegisterDragAndDropEvent</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VariableItemElement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注册拖拽事件（</a:t>
            </a:r>
            <a:r>
              <a:rPr lang="en-US" altLang="zh-CN" sz="900" dirty="0" err="1">
                <a:solidFill>
                  <a:schemeClr val="bg1">
                    <a:lumMod val="85000"/>
                  </a:schemeClr>
                </a:solidFill>
                <a:latin typeface="微软雅黑" panose="020B0503020204020204" pitchFamily="34" charset="-122"/>
                <a:ea typeface="微软雅黑" panose="020B0503020204020204" pitchFamily="34" charset="-122"/>
              </a:rPr>
              <a:t>DragStartEvent</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t>
            </a:r>
            <a:r>
              <a:rPr lang="en-US" altLang="zh-CN" sz="900" dirty="0" err="1">
                <a:solidFill>
                  <a:schemeClr val="bg1">
                    <a:lumMod val="85000"/>
                  </a:schemeClr>
                </a:solidFill>
                <a:latin typeface="微软雅黑" panose="020B0503020204020204" pitchFamily="34" charset="-122"/>
                <a:ea typeface="微软雅黑" panose="020B0503020204020204" pitchFamily="34" charset="-122"/>
              </a:rPr>
              <a:t>DragPerformEvent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拖拽开始时：封装变量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 /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类型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值为拖拽数据（</a:t>
            </a:r>
            <a:r>
              <a:rPr lang="en-US" altLang="zh-CN" sz="900" dirty="0" err="1">
                <a:solidFill>
                  <a:schemeClr val="bg1">
                    <a:lumMod val="85000"/>
                  </a:schemeClr>
                </a:solidFill>
                <a:latin typeface="微软雅黑" panose="020B0503020204020204" pitchFamily="34" charset="-122"/>
                <a:ea typeface="微软雅黑" panose="020B0503020204020204" pitchFamily="34" charset="-122"/>
              </a:rPr>
              <a:t>DragAndDrop.SetData</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拖拽完成（画布释放）时：</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xg_GraphView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捕获拖拽数据，创建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xNode_Variable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节点并绑定对应的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自动定位：生成的节点位置为鼠标释放位置，对齐画布网格。</a:t>
            </a:r>
          </a:p>
        </p:txBody>
      </p:sp>
      <p:sp>
        <p:nvSpPr>
          <p:cNvPr id="8" name="文本框 7">
            <a:extLst>
              <a:ext uri="{FF2B5EF4-FFF2-40B4-BE49-F238E27FC236}">
                <a16:creationId xmlns:a16="http://schemas.microsoft.com/office/drawing/2014/main" id="{4471BB4E-4E90-E646-3D64-D5C6E2A5037C}"/>
              </a:ext>
            </a:extLst>
          </p:cNvPr>
          <p:cNvSpPr txBox="1"/>
          <p:nvPr/>
        </p:nvSpPr>
        <p:spPr>
          <a:xfrm>
            <a:off x="383776" y="3411290"/>
            <a:ext cx="5801123" cy="217670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数据同步与事件监听</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b="1" dirty="0">
                <a:solidFill>
                  <a:schemeClr val="bg1">
                    <a:lumMod val="85000"/>
                  </a:schemeClr>
                </a:solidFill>
                <a:latin typeface="微软雅黑" panose="020B0503020204020204" pitchFamily="34" charset="-122"/>
                <a:ea typeface="微软雅黑" panose="020B0503020204020204" pitchFamily="34" charset="-122"/>
              </a:rPr>
              <a:t>xg_BlackBoardView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通过事件监听实现 “数据 </a:t>
            </a:r>
            <a:r>
              <a:rPr lang="en-US" altLang="zh-CN" sz="900" b="1"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b="1" dirty="0">
                <a:solidFill>
                  <a:schemeClr val="bg1">
                    <a:lumMod val="85000"/>
                  </a:schemeClr>
                </a:solidFill>
                <a:latin typeface="微软雅黑" panose="020B0503020204020204" pitchFamily="34" charset="-122"/>
                <a:ea typeface="微软雅黑" panose="020B0503020204020204" pitchFamily="34" charset="-122"/>
              </a:rPr>
              <a:t>视图” 双向同步，核心监听逻辑：</a:t>
            </a:r>
            <a:endParaRPr lang="en-US" altLang="zh-CN" sz="9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监听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变量变更事件：当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actionAsset.variables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列表增删改时，自动调用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RefreshVariableList()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监听 </a:t>
            </a:r>
            <a:r>
              <a:rPr lang="en-US" altLang="zh-CN" sz="900" dirty="0" err="1">
                <a:solidFill>
                  <a:schemeClr val="bg1">
                    <a:lumMod val="85000"/>
                  </a:schemeClr>
                </a:solidFill>
                <a:latin typeface="微软雅黑" panose="020B0503020204020204" pitchFamily="34" charset="-122"/>
                <a:ea typeface="微软雅黑" panose="020B0503020204020204" pitchFamily="34" charset="-122"/>
              </a:rPr>
              <a:t>class_Variable.OnValueChanged</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事件：变量值变更时，更新对应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VariableItemElement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的显示值；</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监听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xg_InspectorView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变量编辑事件：属性面板修改变量属性后，同步刷新黑板视图的变量项；</a:t>
            </a:r>
          </a:p>
          <a:p>
            <a:pPr marL="171450" indent="-171450">
              <a:lnSpc>
                <a:spcPct val="200000"/>
              </a:lnSpc>
              <a:buFont typeface="Arial" panose="020B0604020202020204" pitchFamily="34" charset="0"/>
              <a:buChar char="•"/>
            </a:pPr>
            <a:r>
              <a:rPr lang="zh-CN" altLang="en-US" sz="900" dirty="0">
                <a:solidFill>
                  <a:schemeClr val="bg1">
                    <a:lumMod val="85000"/>
                  </a:schemeClr>
                </a:solidFill>
                <a:latin typeface="微软雅黑" panose="020B0503020204020204" pitchFamily="34" charset="-122"/>
                <a:ea typeface="微软雅黑" panose="020B0503020204020204" pitchFamily="34" charset="-122"/>
              </a:rPr>
              <a:t>监听面板布局变更事件：面板折叠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展开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尺寸调整时，将布局数据（</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class_ElementTransformData</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）同步到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持久化。</a:t>
            </a:r>
          </a:p>
        </p:txBody>
      </p:sp>
      <p:sp>
        <p:nvSpPr>
          <p:cNvPr id="9" name="文本框 8">
            <a:extLst>
              <a:ext uri="{FF2B5EF4-FFF2-40B4-BE49-F238E27FC236}">
                <a16:creationId xmlns:a16="http://schemas.microsoft.com/office/drawing/2014/main" id="{73CD5FEE-9D1D-0473-A2F9-94C7CA25CC44}"/>
              </a:ext>
            </a:extLst>
          </p:cNvPr>
          <p:cNvSpPr txBox="1"/>
          <p:nvPr/>
        </p:nvSpPr>
        <p:spPr>
          <a:xfrm>
            <a:off x="383776" y="6065590"/>
            <a:ext cx="5801123" cy="2176709"/>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核心特性与优势</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集中化管理：</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所有变量统一展示在面板中，支持搜索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筛选，解决变量分散管理的痛点；</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拖拽式交互：</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拖拽变量生成节点，大幅降低节点创建的操作成本；</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数据一致性：</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变量变更自动同步到所有关联节点，避免手动修改多个节点的变量值；</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样式可定制：</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基于主题类实现面板样式个性化，适配不同用户的操作习惯；</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布局记忆：</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面板折叠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尺寸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位置随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持久化，提升编辑体验；</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引用校验：</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删除变量时校验节点引用，避免误删导致的节点逻辑异常。</a:t>
            </a:r>
          </a:p>
        </p:txBody>
      </p:sp>
    </p:spTree>
    <p:extLst>
      <p:ext uri="{BB962C8B-B14F-4D97-AF65-F5344CB8AC3E}">
        <p14:creationId xmlns:p14="http://schemas.microsoft.com/office/powerpoint/2010/main" val="35666554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lumMod val="10000"/>
            <a:alpha val="93000"/>
          </a:schemeClr>
        </a:solidFill>
        <a:effectLst/>
      </p:bgPr>
    </p:bg>
    <p:spTree>
      <p:nvGrpSpPr>
        <p:cNvPr id="1" name="">
          <a:extLst>
            <a:ext uri="{FF2B5EF4-FFF2-40B4-BE49-F238E27FC236}">
              <a16:creationId xmlns:a16="http://schemas.microsoft.com/office/drawing/2014/main" id="{93ACACC7-1BB7-84C5-5A2A-E56C5303EA74}"/>
            </a:ext>
          </a:extLst>
        </p:cNvPr>
        <p:cNvGrpSpPr/>
        <p:nvPr/>
      </p:nvGrpSpPr>
      <p:grpSpPr>
        <a:xfrm>
          <a:off x="0" y="0"/>
          <a:ext cx="0" cy="0"/>
          <a:chOff x="0" y="0"/>
          <a:chExt cx="0" cy="0"/>
        </a:xfrm>
      </p:grpSpPr>
      <p:sp>
        <p:nvSpPr>
          <p:cNvPr id="5" name="文本框 4">
            <a:extLst>
              <a:ext uri="{FF2B5EF4-FFF2-40B4-BE49-F238E27FC236}">
                <a16:creationId xmlns:a16="http://schemas.microsoft.com/office/drawing/2014/main" id="{5DABFF6A-EC19-FC5C-32DB-AC4379DBA873}"/>
              </a:ext>
            </a:extLst>
          </p:cNvPr>
          <p:cNvSpPr txBox="1"/>
          <p:nvPr/>
        </p:nvSpPr>
        <p:spPr>
          <a:xfrm>
            <a:off x="248144" y="725834"/>
            <a:ext cx="2357603" cy="246221"/>
          </a:xfrm>
          <a:prstGeom prst="rect">
            <a:avLst/>
          </a:prstGeom>
          <a:noFill/>
        </p:spPr>
        <p:txBody>
          <a:bodyPr wrap="square" rtlCol="0">
            <a:spAutoFit/>
          </a:bodyPr>
          <a:lstStyle>
            <a:defPPr>
              <a:defRPr lang="en-US"/>
            </a:defPPr>
            <a:lvl1pPr>
              <a:defRPr sz="1000">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dirty="0"/>
              <a:t>InspectorView </a:t>
            </a:r>
            <a:r>
              <a:rPr lang="zh-CN" altLang="en-US" dirty="0"/>
              <a:t>属性面板</a:t>
            </a:r>
          </a:p>
        </p:txBody>
      </p:sp>
      <p:sp>
        <p:nvSpPr>
          <p:cNvPr id="6" name="文本框 5">
            <a:extLst>
              <a:ext uri="{FF2B5EF4-FFF2-40B4-BE49-F238E27FC236}">
                <a16:creationId xmlns:a16="http://schemas.microsoft.com/office/drawing/2014/main" id="{2E148F2B-FE12-4D1E-BE1A-A8CFE15CD52C}"/>
              </a:ext>
            </a:extLst>
          </p:cNvPr>
          <p:cNvSpPr txBox="1"/>
          <p:nvPr/>
        </p:nvSpPr>
        <p:spPr>
          <a:xfrm>
            <a:off x="248144" y="222101"/>
            <a:ext cx="2662696" cy="323165"/>
          </a:xfrm>
          <a:prstGeom prst="rect">
            <a:avLst/>
          </a:prstGeom>
          <a:noFill/>
        </p:spPr>
        <p:txBody>
          <a:bodyPr wrap="square" rtlCol="0">
            <a:spAutoFit/>
          </a:bodyPr>
          <a:lstStyle/>
          <a:p>
            <a:r>
              <a:rPr lang="en-US" altLang="zh-CN" sz="1500" spc="300" dirty="0">
                <a:solidFill>
                  <a:schemeClr val="bg1"/>
                </a:solidFill>
                <a:latin typeface="微软雅黑" panose="020B0503020204020204" pitchFamily="34" charset="-122"/>
                <a:ea typeface="微软雅黑" panose="020B0503020204020204" pitchFamily="34" charset="-122"/>
              </a:rPr>
              <a:t>Xgraph</a:t>
            </a:r>
            <a:endParaRPr lang="zh-CN" altLang="en-US" sz="1500" spc="300" baseline="100000" dirty="0">
              <a:solidFill>
                <a:schemeClr val="bg1"/>
              </a:solidFill>
              <a:latin typeface="微软雅黑" panose="020B0503020204020204" pitchFamily="34" charset="-122"/>
              <a:ea typeface="微软雅黑" panose="020B0503020204020204" pitchFamily="34" charset="-122"/>
            </a:endParaRPr>
          </a:p>
        </p:txBody>
      </p:sp>
      <p:cxnSp>
        <p:nvCxnSpPr>
          <p:cNvPr id="18" name="直接连接符 17">
            <a:extLst>
              <a:ext uri="{FF2B5EF4-FFF2-40B4-BE49-F238E27FC236}">
                <a16:creationId xmlns:a16="http://schemas.microsoft.com/office/drawing/2014/main" id="{3783839D-8CB4-B0D9-C88C-DC28C9BD3681}"/>
              </a:ext>
            </a:extLst>
          </p:cNvPr>
          <p:cNvCxnSpPr>
            <a:cxnSpLocks/>
          </p:cNvCxnSpPr>
          <p:nvPr/>
        </p:nvCxnSpPr>
        <p:spPr>
          <a:xfrm>
            <a:off x="323560" y="648220"/>
            <a:ext cx="6132116" cy="0"/>
          </a:xfrm>
          <a:prstGeom prst="line">
            <a:avLst/>
          </a:prstGeom>
          <a:ln>
            <a:solidFill>
              <a:schemeClr val="accent3">
                <a:alpha val="43000"/>
              </a:schemeClr>
            </a:solidFill>
          </a:ln>
        </p:spPr>
        <p:style>
          <a:lnRef idx="1">
            <a:schemeClr val="accent3"/>
          </a:lnRef>
          <a:fillRef idx="0">
            <a:schemeClr val="accent3"/>
          </a:fillRef>
          <a:effectRef idx="0">
            <a:schemeClr val="accent3"/>
          </a:effectRef>
          <a:fontRef idx="minor">
            <a:schemeClr val="tx1"/>
          </a:fontRef>
        </p:style>
      </p:cxnSp>
      <p:pic>
        <p:nvPicPr>
          <p:cNvPr id="11" name="图片 10">
            <a:extLst>
              <a:ext uri="{FF2B5EF4-FFF2-40B4-BE49-F238E27FC236}">
                <a16:creationId xmlns:a16="http://schemas.microsoft.com/office/drawing/2014/main" id="{6A2002A0-7D55-0EF4-5198-58B092388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24" y="1152623"/>
            <a:ext cx="6053352" cy="4582014"/>
          </a:xfrm>
          <a:prstGeom prst="rect">
            <a:avLst/>
          </a:prstGeom>
        </p:spPr>
      </p:pic>
      <p:sp>
        <p:nvSpPr>
          <p:cNvPr id="29" name="文本框 28">
            <a:extLst>
              <a:ext uri="{FF2B5EF4-FFF2-40B4-BE49-F238E27FC236}">
                <a16:creationId xmlns:a16="http://schemas.microsoft.com/office/drawing/2014/main" id="{85A7230C-21AC-EB10-655A-22386BFF426E}"/>
              </a:ext>
            </a:extLst>
          </p:cNvPr>
          <p:cNvSpPr txBox="1"/>
          <p:nvPr/>
        </p:nvSpPr>
        <p:spPr>
          <a:xfrm>
            <a:off x="383776" y="5401769"/>
            <a:ext cx="6071900" cy="1026871"/>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a:t>
            </a:r>
            <a:r>
              <a:rPr lang="en-US" altLang="zh-CN" sz="1000" b="1" dirty="0">
                <a:solidFill>
                  <a:schemeClr val="bg1">
                    <a:lumMod val="85000"/>
                  </a:schemeClr>
                </a:solidFill>
                <a:latin typeface="微软雅黑" panose="020B0503020204020204" pitchFamily="34" charset="-122"/>
                <a:ea typeface="微软雅黑" panose="020B0503020204020204" pitchFamily="34" charset="-122"/>
              </a:rPr>
              <a:t>xg_InspectorView </a:t>
            </a: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类详细分析与说明</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a:lnSpc>
                <a:spcPct val="200000"/>
              </a:lnSpc>
            </a:pPr>
            <a:r>
              <a:rPr lang="en-US" altLang="zh-CN" sz="900" dirty="0">
                <a:solidFill>
                  <a:schemeClr val="bg1">
                    <a:lumMod val="85000"/>
                  </a:schemeClr>
                </a:solidFill>
                <a:latin typeface="微软雅黑" panose="020B0503020204020204" pitchFamily="34" charset="-122"/>
                <a:ea typeface="微软雅黑" panose="020B0503020204020204" pitchFamily="34" charset="-122"/>
              </a:rPr>
              <a:t>    xg_InspectorView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是节点可视化编辑工具中的属性检视面板（继承自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Unity VisualElement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），核心作用是实时展示并编辑编辑器中选中对象（节点、变量、编组等）的详细属性，是用户精细化配置对象参数的核心交互入口。</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A0474258-07C9-B454-A57A-4B08A8C6C55F}"/>
              </a:ext>
            </a:extLst>
          </p:cNvPr>
          <p:cNvSpPr txBox="1"/>
          <p:nvPr/>
        </p:nvSpPr>
        <p:spPr>
          <a:xfrm>
            <a:off x="383776" y="6428640"/>
            <a:ext cx="6071900" cy="2990850"/>
          </a:xfrm>
          <a:prstGeom prst="rect">
            <a:avLst/>
          </a:prstGeom>
          <a:noFill/>
        </p:spPr>
        <p:txBody>
          <a:bodyPr wrap="square" numCol="1" spcCol="360000" rtlCol="0">
            <a:noAutofit/>
          </a:bodyPr>
          <a:lstStyle/>
          <a:p>
            <a:pPr>
              <a:lnSpc>
                <a:spcPct val="200000"/>
              </a:lnSpc>
            </a:pPr>
            <a:r>
              <a:rPr lang="zh-CN" altLang="en-US" sz="1000" b="1" dirty="0">
                <a:solidFill>
                  <a:schemeClr val="bg1">
                    <a:lumMod val="85000"/>
                  </a:schemeClr>
                </a:solidFill>
                <a:latin typeface="微软雅黑" panose="020B0503020204020204" pitchFamily="34" charset="-122"/>
                <a:ea typeface="微软雅黑" panose="020B0503020204020204" pitchFamily="34" charset="-122"/>
              </a:rPr>
              <a:t>🎯 核心特性</a:t>
            </a:r>
            <a:endParaRPr lang="en-US" altLang="zh-CN" sz="1000" b="1" dirty="0">
              <a:solidFill>
                <a:schemeClr val="bg1">
                  <a:lumMod val="85000"/>
                </a:schemeClr>
              </a:solidFill>
              <a:latin typeface="微软雅黑" panose="020B0503020204020204" pitchFamily="34" charset="-122"/>
              <a:ea typeface="微软雅黑" panose="020B0503020204020204" pitchFamily="34" charset="-122"/>
            </a:endParaRP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多类型对象适配：</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支持展示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xNode_Base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子类（行为节点、变量节点）、</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（变量）、</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xNode_Group</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（编组）等不同类型对象的属性；</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属性实时同步：</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选中对象变更时自动刷新面板内容，编辑属性后立即同步到底层数据（如修改节点位置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名称同步至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xAction_Base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，修改变量值同步至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class_Variable</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结构化展示：</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按 “基础属性（名称、</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、位置）、样式属性（主题色、图标）、业务属性（节点执行模式、变量类型）” 分类展示，支持折叠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展开；</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布局记忆：</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面板的折叠状态、尺寸、位置通过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class_ElementTransformData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存储至 </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xAction_Asset</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，下次打开自动恢复；</a:t>
            </a:r>
          </a:p>
          <a:p>
            <a:pPr marL="171450" indent="-171450">
              <a:lnSpc>
                <a:spcPct val="200000"/>
              </a:lnSpc>
              <a:buFont typeface="Arial" panose="020B0604020202020204" pitchFamily="34" charset="0"/>
              <a:buChar char="•"/>
            </a:pPr>
            <a:r>
              <a:rPr lang="zh-CN" altLang="en-US" sz="900" b="1" dirty="0">
                <a:solidFill>
                  <a:schemeClr val="bg1">
                    <a:lumMod val="85000"/>
                  </a:schemeClr>
                </a:solidFill>
                <a:latin typeface="微软雅黑" panose="020B0503020204020204" pitchFamily="34" charset="-122"/>
                <a:ea typeface="微软雅黑" panose="020B0503020204020204" pitchFamily="34" charset="-122"/>
              </a:rPr>
              <a:t>校验与提示</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：编辑属性时做合法性校验（如变量类型转换、</a:t>
            </a:r>
            <a:r>
              <a:rPr lang="en-US" altLang="zh-CN" sz="900" dirty="0">
                <a:solidFill>
                  <a:schemeClr val="bg1">
                    <a:lumMod val="85000"/>
                  </a:schemeClr>
                </a:solidFill>
                <a:latin typeface="微软雅黑" panose="020B0503020204020204" pitchFamily="34" charset="-122"/>
                <a:ea typeface="微软雅黑" panose="020B0503020204020204" pitchFamily="34" charset="-122"/>
              </a:rPr>
              <a:t>GUID </a:t>
            </a:r>
            <a:r>
              <a:rPr lang="zh-CN" altLang="en-US" sz="900" dirty="0">
                <a:solidFill>
                  <a:schemeClr val="bg1">
                    <a:lumMod val="85000"/>
                  </a:schemeClr>
                </a:solidFill>
                <a:latin typeface="微软雅黑" panose="020B0503020204020204" pitchFamily="34" charset="-122"/>
                <a:ea typeface="微软雅黑" panose="020B0503020204020204" pitchFamily="34" charset="-122"/>
              </a:rPr>
              <a:t>唯一性检查），异常时给出可视化提示。。</a:t>
            </a:r>
            <a:endParaRPr lang="en-US" altLang="zh-CN" sz="900" dirty="0">
              <a:solidFill>
                <a:schemeClr val="bg1">
                  <a:lumMod val="8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33219314"/>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624</TotalTime>
  <Words>7666</Words>
  <Application>Microsoft Office PowerPoint</Application>
  <PresentationFormat>A4 纸张(210x297 毫米)</PresentationFormat>
  <Paragraphs>617</Paragraphs>
  <Slides>28</Slides>
  <Notes>0</Notes>
  <HiddenSlides>1</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28</vt:i4>
      </vt:variant>
    </vt:vector>
  </HeadingPairs>
  <TitlesOfParts>
    <vt:vector size="36" baseType="lpstr">
      <vt:lpstr>微软雅黑</vt:lpstr>
      <vt:lpstr>微软雅黑 Light</vt:lpstr>
      <vt:lpstr>Arial</vt:lpstr>
      <vt:lpstr>Calibri</vt:lpstr>
      <vt:lpstr>Calibri Light</vt:lpstr>
      <vt:lpstr>Wingdings</vt:lpstr>
      <vt:lpstr>Office 主题​​</vt:lpstr>
      <vt:lpstr>Adobe Photoshop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2110481973@qq.com</dc:creator>
  <cp:lastModifiedBy>2110481973@qq.com</cp:lastModifiedBy>
  <cp:revision>220</cp:revision>
  <dcterms:created xsi:type="dcterms:W3CDTF">2025-10-28T14:22:43Z</dcterms:created>
  <dcterms:modified xsi:type="dcterms:W3CDTF">2025-12-14T11:19:25Z</dcterms:modified>
</cp:coreProperties>
</file>